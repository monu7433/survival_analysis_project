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0" d="100"/>
          <a:sy n="90" d="100"/>
        </p:scale>
        <p:origin x="60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7461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My name is Monu Prajapati and this is my MSc Applied Statistics project titled Survival Analysis of Breast Cancer Patients. In this project I have used two well-known statistical techniques — the Kaplan-Meier method and Cox Proportional Hazards regression — to analyze survival data from the METABRIC breast cancer dataset. The METABRIC dataset is one of the most widely used breast cancer datasets in biostatistics, published in Nature in 2012. I will walk you through my objectives, methodology, results, and conclusions in the next 15 slides.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Survival analysis is a branch of statistics that deals with time until an event occurs — in this case, death from breast cancer. Unlike regular regression, survival analysis can handle censored observations: patients who were alive at the end of the study period. We use Kaplan-Meier curves to visualize survival probabilities over time, and Cox regression to quantify which risk factors are statistically associated with survival. The Cox model is preferred because it is semi-parametric — it does not require assumptions about the distribution of survival times. It produces Hazard Ratios that directly tell us how much a variable increases or decreases the risk of death.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project has one primary and three secondary objectives. The primary objective is to describe the overall survival of the METABRIC cohort using Kaplan-Meier analysis. The secondary objectives are: first, to compare survival across subgroups using log-rank tests; second, to identify risk factors using univariable Cox regression and compute Hazard Ratios; and third, to check whether the Proportional Hazards assumption is met using the cox.zph test. I will show you that the PH assumption was violated for several variables, which influenced my analytical decisions.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METABRIC dataset is one of the most famous breast cancer survival datasets in the world. It was published in Nature in 2012 by Curtis and colleagues. The full dataset contains 2,509 patients but after filtering for complete overall survival data I worked with 1,981 patients. Of these, 1,144 died during follow-up and 837 were censored — meaning they were still alive at the end of the study period. The follow-up period is very long — up to 355 months or about 30 years. One important limitation is that the tumor stage variable had 515 missing values — 26% of the sample — which affected my multivariate analysis.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any modelling I performed exploratory data analysis. Looking at the distributions: age is roughly normally distributed with a mean of 61 years. Tumor size is right-skewed — most tumors are small but a few are very large. Lymph nodes are heavily right-skewed — the majority of patients had zero positive nodes. For ER status, 76% of patients are ER positive. Most patients were diagnosed at Stage II which is the most common presentation. Importantly, half of all patients had Grade 3 tumors, indicating high-grade cancer in this cohort. The correlation matrix showed that tumor size and lymph nodes have a moderate positive correlation — larger tumors tend to have more lymph node involvement.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overall Kaplan-Meier survival curve for all 1,981 patients combined. The y-axis shows survival probability and the x-axis shows time in months. The curve starts at 1.0 — meaning 100% survival — and declines over time as patients die. The median survival is 156 months, meaning that 50% of patients survived at least 156 months — approximately 13 years. The 95% confidence interval ranges from 148 to 168 months. The small tick marks on the curve are censored observations — patients who were still alive when the study ended. The curve never reaches zero because many patients were still alive at the end of follow-up.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survival between ER negative and ER positive patients. Estrogen Receptor positive patients — shown in blue — have slightly better survival than ER negative patients shown in red. The log-rank test p-value is 0.04 which is statistically significant at the 5% level. The Hazard Ratio from the univariable Cox model is 0.862, meaning ER positive patients have 14% lower risk of death compared to ER negative patients. This makes biological sense — ER positive tumors can be treated with hormone therapy such as tamoxifen, which helps control disease progression. However, the effect is modest and the survival curves are relatively close together.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most striking results in my analysis. HER2 positive patients — shown in red — have substantially worse survival compared to HER2 negative patients. The log-rank p-value is extremely small at 9 times 10 to the power of minus 6, which is highly statistically significant. The Hazard Ratio is 1.467, meaning HER2 positive patients have 47% higher risk of death compared to HER2 negative patients. HER2 positive tumors are known to be biologically aggressive — they grow faster and spread more readily. This result is consistent with the published literature. Importantly, HER2 remained statistically significant in my multivariate model as well, confirming it as an independent risk factor.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Tumor stage is the strongest predictor of survival in my analysis. The Kaplan-Meier curves separate dramatically with higher stages showing much worse survival. The log-rank chi-square statistic is 128 with 4 degrees of freedom, giving a p-value below 2 times 10 to the power of minus 16 — essentially zero. Looking at the Hazard Ratios from the Cox model: Stage 3 patients have 5.3 times the risk of death compared to Stage 0, and Stage 4 patients have 10.7 times the risk. This is a massive effect. However, I need to note an important limitation — tumor stage has 515 missing values, which is 26% of the dataset. In the multivariate model, tumor stage lost statistical significance, largely due to this missing data problem and its correlation with other stage-related variables.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univariable Cox regression results for variables that increase mortality risk — that is, with Hazard Ratio greater than 1. A Hazard Ratio means: for every unit increase in the predictor, this is the multiplicative change in the instantaneous risk of death. Age, tumor size, and lymph nodes are all continuous variables, so their HR is per unit. For example, age HR is 1.036, meaning each additional year of age increases the risk of death by 3.6%. Tumor stage is the strongest effect — Stage 4 patients have over 10 times the risk of Stage 0 patients. An important caveat: chemotherapy and hormone therapy both show HR greater than 1, suggesting they are associated with worse survival. But this is a selection bias effect — doctors give these treatments to sicker patients in the first place, so the worse outcome reflects patient severity, not treatment harm.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variables were associated with reduced mortality risk in the univariable Cox models — meaning they are protective factors. First, ER positive status has HR of 0.862 — a 14% reduction in risk. Second, PR positive status has HR of 0.792 — a 21% reduction in risk and is highly significant with p less than 0.0001. Third, radiotherapy is associated with 15% lower mortality risk with HR of 0.851. Looking at the Kaplan-Meier curves on this slide: for PR status you can see the PR positive curve is clearly above the PR negative curve, and for radiotherapy the curves separate from early follow-up. Radiotherapy is the only treatment variable that remained statistically significant in the multivariate model after controlling for all other variables.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important methodological slide. After fitting the multivariate Cox model, I checked the Proportional Hazards assumption using the cox.zph function in R, which is based on Schoenfeld residuals. If the p-value from this test is significant, it means the Hazard Ratio for that variable is not constant over time — the assumption is violated. As you can see from the table, most variables including age, ER status, PR status, HER2 status, grade, and stage all violate the PH assumption. The global test is also highly significant. Only tumor size and radiotherapy satisfy the assumption. This is an important limitation of my analysis. Because of these violations, I focus on interpreting univariable Cox models individually rather than relying entirely on the multivariate model results.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my key findings: First, HER2 positivity is the most consistently significant biomarker risk factor — it was significant in both univariable and multivariate Cox models. Second, tumor stage is the strongest individual predictor, with Stage 4 having over 10 times the risk of Stage 0, though missing data is a limitation. Third, lymph nodes are a very strong predictor — more positive nodes mean worse survival. Fourth, tumor size is a significant and reliable predictor — it was the only continuous variable with the PH assumption met. Fifth, ER and PR positive status are protective individually but confound each other in the multivariate model. Sixth, radiotherapy is the only treatment that shows genuine independent protective effect after controlling for all other variables.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implications of survival analysis extend beyond academic research. In clinical practice, survival curves and hazard ratios help oncologists communicate prognosis to patients, choose between treatment options, and identify which patients need the most aggressive intervention. The hazard ratios I have computed — for example, HER2 positive patients having 47% higher risk — provide clinicians with quantitative risk estimates. The concordance of 0.681 in the multivariate model is a respectable level of predictive accuracy for clinical data. One limitation of this study is the missing data in tumor stage, which reduced the effective sample size in the multivariate analysis and inflated standard errors. Future work could use multiple imputation to address this. Another direction is stratified Cox models or time-varying coefficient models to properly handle the PH assumption violations I identified.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 am happy to take any questions. For the benefit of examiners, here is a quick glossary of the key statistical terms used in my presentation. A Hazard Ratio greater than 1 means the variable increases the risk of death — for example, HER2 positive patients had HR of 1.467, meaning 47% higher risk. A Hazard Ratio less than 1 means protective — for example, PR positive patients had HR of 0.792, meaning 21% lower risk. Kaplan-Meier curves show survival probability over time accounting for censored observations. The log-rank test compares survival curves between groups. The concordance statistic measures how well the model discriminates between high and low risk patients — my multivariate model achieved 0.681 which is a reasonable level for clinical data. I am ready for questions.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datasets/gunesevitan/breast-cancer-metabric" TargetMode="External"/><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B5304B"/>
          </a:solidFill>
          <a:ln w="12700">
            <a:solidFill>
              <a:srgbClr val="B5304B"/>
            </a:solidFill>
            <a:prstDash val="solid"/>
          </a:ln>
        </p:spPr>
      </p:sp>
      <p:sp>
        <p:nvSpPr>
          <p:cNvPr id="3" name="Shape 1"/>
          <p:cNvSpPr/>
          <p:nvPr/>
        </p:nvSpPr>
        <p:spPr>
          <a:xfrm>
            <a:off x="0" y="5079492"/>
            <a:ext cx="9144000" cy="64008"/>
          </a:xfrm>
          <a:prstGeom prst="rect">
            <a:avLst/>
          </a:prstGeom>
          <a:solidFill>
            <a:srgbClr val="1B7A8A"/>
          </a:solidFill>
          <a:ln w="12700">
            <a:solidFill>
              <a:srgbClr val="1B7A8A"/>
            </a:solidFill>
            <a:prstDash val="solid"/>
          </a:ln>
        </p:spPr>
      </p:sp>
      <p:sp>
        <p:nvSpPr>
          <p:cNvPr id="4" name="Shape 2"/>
          <p:cNvSpPr/>
          <p:nvPr/>
        </p:nvSpPr>
        <p:spPr>
          <a:xfrm>
            <a:off x="646821" y="217170"/>
            <a:ext cx="8046720" cy="4297680"/>
          </a:xfrm>
          <a:prstGeom prst="rect">
            <a:avLst/>
          </a:prstGeom>
          <a:solidFill>
            <a:srgbClr val="FFFFFF"/>
          </a:solidFill>
          <a:ln w="12700">
            <a:solidFill>
              <a:srgbClr val="FFFFFF"/>
            </a:solidFill>
            <a:prstDash val="solid"/>
          </a:ln>
          <a:effectLst>
            <a:outerShdw blurRad="50800" dist="25400" dir="8100000" algn="bl" rotWithShape="0">
              <a:srgbClr val="000000">
                <a:alpha val="8000"/>
              </a:srgbClr>
            </a:outerShdw>
          </a:effectLst>
        </p:spPr>
      </p:sp>
      <p:sp>
        <p:nvSpPr>
          <p:cNvPr id="5" name="Shape 3"/>
          <p:cNvSpPr/>
          <p:nvPr/>
        </p:nvSpPr>
        <p:spPr>
          <a:xfrm>
            <a:off x="502920" y="217170"/>
            <a:ext cx="91440" cy="4297680"/>
          </a:xfrm>
          <a:prstGeom prst="rect">
            <a:avLst/>
          </a:prstGeom>
          <a:solidFill>
            <a:srgbClr val="B5304B"/>
          </a:solidFill>
          <a:ln w="12700">
            <a:solidFill>
              <a:srgbClr val="B5304B"/>
            </a:solidFill>
            <a:prstDash val="solid"/>
          </a:ln>
        </p:spPr>
      </p:sp>
      <p:sp>
        <p:nvSpPr>
          <p:cNvPr id="13" name="Text 11"/>
          <p:cNvSpPr/>
          <p:nvPr/>
        </p:nvSpPr>
        <p:spPr>
          <a:xfrm>
            <a:off x="459740" y="4072518"/>
            <a:ext cx="7498080" cy="320040"/>
          </a:xfrm>
          <a:prstGeom prst="rect">
            <a:avLst/>
          </a:prstGeom>
          <a:noFill/>
          <a:ln/>
        </p:spPr>
        <p:txBody>
          <a:bodyPr wrap="square" rtlCol="0" anchor="ctr"/>
          <a:lstStyle/>
          <a:p>
            <a:pPr marL="0" indent="0" algn="ctr">
              <a:buNone/>
            </a:pPr>
            <a:r>
              <a:rPr lang="en-US" sz="1100" dirty="0">
                <a:solidFill>
                  <a:srgbClr val="B5304B"/>
                </a:solidFill>
                <a:latin typeface="Calibri" pitchFamily="34" charset="0"/>
                <a:ea typeface="Calibri" pitchFamily="34" charset="-122"/>
                <a:cs typeface="Calibri" pitchFamily="34" charset="-120"/>
              </a:rPr>
              <a:t>🎗  Breast Cancer Survival Research  🎗</a:t>
            </a:r>
            <a:endParaRPr lang="en-US" sz="1100" dirty="0"/>
          </a:p>
        </p:txBody>
      </p:sp>
      <p:sp>
        <p:nvSpPr>
          <p:cNvPr id="14" name="Title 1">
            <a:extLst>
              <a:ext uri="{FF2B5EF4-FFF2-40B4-BE49-F238E27FC236}">
                <a16:creationId xmlns:a16="http://schemas.microsoft.com/office/drawing/2014/main" id="{01B5ED47-A9A4-2AE1-AD8E-81F9F4F4C230}"/>
              </a:ext>
            </a:extLst>
          </p:cNvPr>
          <p:cNvSpPr txBox="1">
            <a:spLocks/>
          </p:cNvSpPr>
          <p:nvPr/>
        </p:nvSpPr>
        <p:spPr>
          <a:xfrm>
            <a:off x="913795" y="1179694"/>
            <a:ext cx="6293356" cy="1219201"/>
          </a:xfrm>
          <a:prstGeom prst="rect">
            <a:avLst/>
          </a:prstGeom>
        </p:spPr>
        <p:txBody>
          <a:bodyPr>
            <a:normAutofit fontScale="67500" lnSpcReduction="200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mtClean="0"/>
              <a:t/>
            </a:r>
            <a:br>
              <a:rPr lang="en-US" smtClean="0"/>
            </a:br>
            <a:r>
              <a:rPr lang="en-US" smtClean="0"/>
              <a:t/>
            </a:r>
            <a:br>
              <a:rPr lang="en-US" smtClean="0"/>
            </a:br>
            <a:endParaRPr lang="en-US" dirty="0"/>
          </a:p>
        </p:txBody>
      </p:sp>
      <p:pic>
        <p:nvPicPr>
          <p:cNvPr id="15" name="Picture 14">
            <a:extLst>
              <a:ext uri="{FF2B5EF4-FFF2-40B4-BE49-F238E27FC236}">
                <a16:creationId xmlns:a16="http://schemas.microsoft.com/office/drawing/2014/main" id="{921F09F9-DC3D-01B9-3CF1-C34DE3F143B9}"/>
              </a:ext>
            </a:extLst>
          </p:cNvPr>
          <p:cNvPicPr>
            <a:picLocks noChangeAspect="1"/>
          </p:cNvPicPr>
          <p:nvPr/>
        </p:nvPicPr>
        <p:blipFill>
          <a:blip r:embed="rId3"/>
          <a:stretch>
            <a:fillRect/>
          </a:stretch>
        </p:blipFill>
        <p:spPr>
          <a:xfrm>
            <a:off x="3506972" y="238629"/>
            <a:ext cx="1230423" cy="1219135"/>
          </a:xfrm>
          <a:prstGeom prst="rect">
            <a:avLst/>
          </a:prstGeom>
        </p:spPr>
      </p:pic>
      <p:sp>
        <p:nvSpPr>
          <p:cNvPr id="16" name="TextBox 15">
            <a:extLst>
              <a:ext uri="{FF2B5EF4-FFF2-40B4-BE49-F238E27FC236}">
                <a16:creationId xmlns:a16="http://schemas.microsoft.com/office/drawing/2014/main" id="{30C08EB0-2136-8276-C4DD-8B915CAA5E13}"/>
              </a:ext>
            </a:extLst>
          </p:cNvPr>
          <p:cNvSpPr txBox="1"/>
          <p:nvPr/>
        </p:nvSpPr>
        <p:spPr>
          <a:xfrm>
            <a:off x="2178050" y="2190305"/>
            <a:ext cx="4061460" cy="379656"/>
          </a:xfrm>
          <a:prstGeom prst="rect">
            <a:avLst/>
          </a:prstGeom>
          <a:noFill/>
        </p:spPr>
        <p:txBody>
          <a:bodyPr wrap="square">
            <a:spAutoFit/>
          </a:bodyPr>
          <a:lstStyle/>
          <a:p>
            <a:pPr algn="ctr"/>
            <a:r>
              <a:rPr lang="en-IN" sz="1867" dirty="0">
                <a:solidFill>
                  <a:srgbClr val="002060"/>
                </a:solidFill>
                <a:highlight>
                  <a:srgbClr val="FFFF00"/>
                </a:highlight>
                <a:latin typeface="Times New Roman" panose="02020603050405020304" pitchFamily="18" charset="0"/>
                <a:cs typeface="Times New Roman" panose="02020603050405020304" pitchFamily="18" charset="0"/>
              </a:rPr>
              <a:t>PROJECT TOPIC</a:t>
            </a:r>
          </a:p>
        </p:txBody>
      </p:sp>
      <p:sp>
        <p:nvSpPr>
          <p:cNvPr id="17" name="TextBox 16">
            <a:extLst>
              <a:ext uri="{FF2B5EF4-FFF2-40B4-BE49-F238E27FC236}">
                <a16:creationId xmlns:a16="http://schemas.microsoft.com/office/drawing/2014/main" id="{4D65CB1C-B0F3-B226-DA2F-3E273F4DC8BF}"/>
              </a:ext>
            </a:extLst>
          </p:cNvPr>
          <p:cNvSpPr txBox="1"/>
          <p:nvPr/>
        </p:nvSpPr>
        <p:spPr>
          <a:xfrm>
            <a:off x="2125589" y="1427624"/>
            <a:ext cx="4061460" cy="297454"/>
          </a:xfrm>
          <a:prstGeom prst="rect">
            <a:avLst/>
          </a:prstGeom>
          <a:noFill/>
        </p:spPr>
        <p:txBody>
          <a:bodyPr wrap="square">
            <a:spAutoFit/>
          </a:bodyPr>
          <a:lstStyle/>
          <a:p>
            <a:pPr algn="ctr"/>
            <a:r>
              <a:rPr lang="en-US" sz="1333" b="1" dirty="0">
                <a:uFill>
                  <a:solidFill>
                    <a:srgbClr val="92D050"/>
                  </a:solidFill>
                </a:uFill>
                <a:latin typeface="Times New Roman" panose="02020603050405020304" pitchFamily="18" charset="0"/>
              </a:rPr>
              <a:t>S</a:t>
            </a:r>
            <a:r>
              <a:rPr lang="en-IN" sz="1333" b="1" dirty="0">
                <a:uFill>
                  <a:solidFill>
                    <a:srgbClr val="92D050"/>
                  </a:solidFill>
                </a:uFill>
                <a:latin typeface="Times New Roman" panose="02020603050405020304" pitchFamily="18" charset="0"/>
              </a:rPr>
              <a:t>ARDAR PATEL UNIVERSITY </a:t>
            </a:r>
            <a:endParaRPr lang="en-IN" sz="1333" dirty="0"/>
          </a:p>
        </p:txBody>
      </p:sp>
      <p:sp>
        <p:nvSpPr>
          <p:cNvPr id="18" name="TextBox 17">
            <a:extLst>
              <a:ext uri="{FF2B5EF4-FFF2-40B4-BE49-F238E27FC236}">
                <a16:creationId xmlns:a16="http://schemas.microsoft.com/office/drawing/2014/main" id="{086BD99C-2E10-01D4-3F86-68617D26D00A}"/>
              </a:ext>
            </a:extLst>
          </p:cNvPr>
          <p:cNvSpPr txBox="1"/>
          <p:nvPr/>
        </p:nvSpPr>
        <p:spPr>
          <a:xfrm>
            <a:off x="2305963" y="1768500"/>
            <a:ext cx="4061460" cy="369332"/>
          </a:xfrm>
          <a:prstGeom prst="rect">
            <a:avLst/>
          </a:prstGeom>
          <a:noFill/>
        </p:spPr>
        <p:txBody>
          <a:bodyPr wrap="square">
            <a:spAutoFit/>
          </a:bodyPr>
          <a:lstStyle/>
          <a:p>
            <a:pPr algn="ctr"/>
            <a:r>
              <a:rPr lang="en-US" b="1" u="sng" dirty="0">
                <a:uFill>
                  <a:solidFill>
                    <a:srgbClr val="92D050"/>
                  </a:solidFill>
                </a:uFill>
                <a:latin typeface="Times New Roman" panose="02020603050405020304" pitchFamily="18" charset="0"/>
              </a:rPr>
              <a:t>DEPARTMENT OF STATISTICS</a:t>
            </a:r>
            <a:endParaRPr lang="en-IN" u="sng" dirty="0"/>
          </a:p>
        </p:txBody>
      </p:sp>
      <p:sp>
        <p:nvSpPr>
          <p:cNvPr id="19" name="TextBox 18">
            <a:extLst>
              <a:ext uri="{FF2B5EF4-FFF2-40B4-BE49-F238E27FC236}">
                <a16:creationId xmlns:a16="http://schemas.microsoft.com/office/drawing/2014/main" id="{913A2EA8-5F8D-44AB-9A62-AFF9A27E0F7B}"/>
              </a:ext>
            </a:extLst>
          </p:cNvPr>
          <p:cNvSpPr txBox="1"/>
          <p:nvPr/>
        </p:nvSpPr>
        <p:spPr>
          <a:xfrm>
            <a:off x="5851183" y="3385584"/>
            <a:ext cx="2894819" cy="953915"/>
          </a:xfrm>
          <a:prstGeom prst="rect">
            <a:avLst/>
          </a:prstGeom>
          <a:noFill/>
        </p:spPr>
        <p:txBody>
          <a:bodyPr wrap="square">
            <a:spAutoFit/>
          </a:bodyPr>
          <a:lstStyle/>
          <a:p>
            <a:r>
              <a:rPr lang="en-US" sz="1600" b="1" dirty="0">
                <a:latin typeface="Times New Roman" panose="02020603050405020304" pitchFamily="18" charset="0"/>
                <a:cs typeface="Times New Roman" panose="02020603050405020304" pitchFamily="18" charset="0"/>
              </a:rPr>
              <a:t>           P</a:t>
            </a:r>
            <a:r>
              <a:rPr lang="en-IN" sz="1600" b="1" dirty="0">
                <a:latin typeface="Times New Roman" panose="02020603050405020304" pitchFamily="18" charset="0"/>
                <a:cs typeface="Times New Roman" panose="02020603050405020304" pitchFamily="18" charset="0"/>
              </a:rPr>
              <a:t>RESENTED BY</a:t>
            </a:r>
          </a:p>
          <a:p>
            <a:pPr algn="ctr"/>
            <a:r>
              <a:rPr lang="en-IN" sz="1333" dirty="0">
                <a:latin typeface="Times New Roman" panose="02020603050405020304" pitchFamily="18" charset="0"/>
                <a:cs typeface="Times New Roman" panose="02020603050405020304" pitchFamily="18" charset="0"/>
              </a:rPr>
              <a:t>Prajapati Monu</a:t>
            </a:r>
          </a:p>
          <a:p>
            <a:pPr lvl="1"/>
            <a:r>
              <a:rPr lang="en-IN" sz="1333" dirty="0">
                <a:latin typeface="Times New Roman" panose="02020603050405020304" pitchFamily="18" charset="0"/>
                <a:cs typeface="Times New Roman" panose="02020603050405020304" pitchFamily="18" charset="0"/>
              </a:rPr>
              <a:t>                   06 </a:t>
            </a:r>
          </a:p>
          <a:p>
            <a:pPr algn="ctr"/>
            <a:r>
              <a:rPr lang="en-IN" sz="1333" dirty="0">
                <a:latin typeface="Times New Roman" panose="02020603050405020304" pitchFamily="18" charset="0"/>
                <a:cs typeface="Times New Roman" panose="02020603050405020304" pitchFamily="18" charset="0"/>
              </a:rPr>
              <a:t>  Applied Statistics( Sem 4)</a:t>
            </a:r>
            <a:endParaRPr lang="en-IN" sz="1600" dirty="0">
              <a:latin typeface="Times New Roman" panose="02020603050405020304" pitchFamily="18" charset="0"/>
              <a:cs typeface="Times New Roman" panose="02020603050405020304" pitchFamily="18" charset="0"/>
            </a:endParaRPr>
          </a:p>
        </p:txBody>
      </p:sp>
      <p:sp>
        <p:nvSpPr>
          <p:cNvPr id="20" name="Rectangle 3">
            <a:extLst>
              <a:ext uri="{FF2B5EF4-FFF2-40B4-BE49-F238E27FC236}">
                <a16:creationId xmlns:a16="http://schemas.microsoft.com/office/drawing/2014/main" id="{558F713D-9B56-F470-FD11-B7AC5E3CB935}"/>
              </a:ext>
            </a:extLst>
          </p:cNvPr>
          <p:cNvSpPr>
            <a:spLocks noChangeArrowheads="1"/>
          </p:cNvSpPr>
          <p:nvPr/>
        </p:nvSpPr>
        <p:spPr bwMode="auto">
          <a:xfrm>
            <a:off x="2305963" y="2674908"/>
            <a:ext cx="426828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ctr" eaLnBrk="0" fontAlgn="base" hangingPunct="0">
              <a:spcBef>
                <a:spcPct val="0"/>
              </a:spcBef>
              <a:spcAft>
                <a:spcPct val="0"/>
              </a:spcAft>
            </a:pPr>
            <a:r>
              <a:rPr lang="en-US" dirty="0"/>
              <a:t>Survival Analysis of Breast Cancer Patients: A Study Using the METABRIC Dataset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E4A"/>
          </a:solidFill>
          <a:ln w="12700">
            <a:solidFill>
              <a:srgbClr val="1A2E4A"/>
            </a:solidFill>
            <a:prstDash val="solid"/>
          </a:ln>
        </p:spPr>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Introduction</a:t>
            </a:r>
            <a:endParaRPr lang="en-US" sz="1600" dirty="0"/>
          </a:p>
        </p:txBody>
      </p:sp>
      <p:sp>
        <p:nvSpPr>
          <p:cNvPr id="4" name="Shape 2"/>
          <p:cNvSpPr/>
          <p:nvPr/>
        </p:nvSpPr>
        <p:spPr>
          <a:xfrm>
            <a:off x="0" y="502920"/>
            <a:ext cx="9144000" cy="36576"/>
          </a:xfrm>
          <a:prstGeom prst="rect">
            <a:avLst/>
          </a:prstGeom>
          <a:solidFill>
            <a:srgbClr val="1B7A8A"/>
          </a:solidFill>
          <a:ln w="12700">
            <a:solidFill>
              <a:srgbClr val="1B7A8A"/>
            </a:solidFill>
            <a:prstDash val="solid"/>
          </a:ln>
        </p:spPr>
      </p:sp>
      <p:sp>
        <p:nvSpPr>
          <p:cNvPr id="5" name="Shape 3"/>
          <p:cNvSpPr/>
          <p:nvPr/>
        </p:nvSpPr>
        <p:spPr>
          <a:xfrm>
            <a:off x="0" y="5093208"/>
            <a:ext cx="9144000" cy="50292"/>
          </a:xfrm>
          <a:prstGeom prst="rect">
            <a:avLst/>
          </a:prstGeom>
          <a:solidFill>
            <a:srgbClr val="1B7A8A"/>
          </a:solidFill>
          <a:ln w="12700">
            <a:solidFill>
              <a:srgbClr val="1B7A8A"/>
            </a:solidFill>
            <a:prstDash val="solid"/>
          </a:ln>
        </p:spPr>
      </p:sp>
      <p:sp>
        <p:nvSpPr>
          <p:cNvPr id="6" name="Text 4"/>
          <p:cNvSpPr/>
          <p:nvPr/>
        </p:nvSpPr>
        <p:spPr>
          <a:xfrm>
            <a:off x="320040" y="576072"/>
            <a:ext cx="8229600" cy="320040"/>
          </a:xfrm>
          <a:prstGeom prst="rect">
            <a:avLst/>
          </a:prstGeom>
          <a:noFill/>
          <a:ln/>
        </p:spPr>
        <p:txBody>
          <a:bodyPr wrap="square" rtlCol="0" anchor="ctr"/>
          <a:lstStyle/>
          <a:p>
            <a:pPr marL="0" indent="0">
              <a:buNone/>
            </a:pPr>
            <a:r>
              <a:rPr lang="en-US" sz="1200" i="1" dirty="0">
                <a:solidFill>
                  <a:srgbClr val="5A6A7A"/>
                </a:solidFill>
                <a:latin typeface="Calibri" pitchFamily="34" charset="0"/>
                <a:ea typeface="Calibri" pitchFamily="34" charset="-122"/>
                <a:cs typeface="Calibri" pitchFamily="34" charset="-120"/>
              </a:rPr>
              <a:t>Background and Motivation</a:t>
            </a:r>
            <a:endParaRPr lang="en-US" sz="1200" dirty="0"/>
          </a:p>
        </p:txBody>
      </p:sp>
      <p:sp>
        <p:nvSpPr>
          <p:cNvPr id="7" name="Shape 5"/>
          <p:cNvSpPr/>
          <p:nvPr/>
        </p:nvSpPr>
        <p:spPr>
          <a:xfrm>
            <a:off x="274320" y="658368"/>
            <a:ext cx="4114800" cy="4251960"/>
          </a:xfrm>
          <a:prstGeom prst="rect">
            <a:avLst/>
          </a:prstGeom>
          <a:solidFill>
            <a:srgbClr val="FFFFFF"/>
          </a:solidFill>
          <a:ln w="12700">
            <a:solidFill>
              <a:srgbClr val="C5D5DE"/>
            </a:solidFill>
            <a:prstDash val="solid"/>
          </a:ln>
          <a:effectLst>
            <a:outerShdw blurRad="50800" dist="25400" dir="8100000" algn="bl" rotWithShape="0">
              <a:srgbClr val="000000">
                <a:alpha val="8000"/>
              </a:srgbClr>
            </a:outerShdw>
          </a:effectLst>
        </p:spPr>
      </p:sp>
      <p:sp>
        <p:nvSpPr>
          <p:cNvPr id="8" name="Shape 6"/>
          <p:cNvSpPr/>
          <p:nvPr/>
        </p:nvSpPr>
        <p:spPr>
          <a:xfrm>
            <a:off x="274320" y="658368"/>
            <a:ext cx="54864" cy="4251960"/>
          </a:xfrm>
          <a:prstGeom prst="rect">
            <a:avLst/>
          </a:prstGeom>
          <a:solidFill>
            <a:srgbClr val="1A2E4A"/>
          </a:solidFill>
          <a:ln w="12700">
            <a:solidFill>
              <a:srgbClr val="1A2E4A"/>
            </a:solidFill>
            <a:prstDash val="solid"/>
          </a:ln>
        </p:spPr>
      </p:sp>
      <p:sp>
        <p:nvSpPr>
          <p:cNvPr id="9" name="Text 7"/>
          <p:cNvSpPr/>
          <p:nvPr/>
        </p:nvSpPr>
        <p:spPr>
          <a:xfrm>
            <a:off x="411480" y="713232"/>
            <a:ext cx="3840480" cy="384048"/>
          </a:xfrm>
          <a:prstGeom prst="rect">
            <a:avLst/>
          </a:prstGeom>
          <a:noFill/>
          <a:ln/>
        </p:spPr>
        <p:txBody>
          <a:bodyPr wrap="square"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Why Survival Analysis?</a:t>
            </a:r>
            <a:endParaRPr lang="en-US" sz="1300" dirty="0"/>
          </a:p>
        </p:txBody>
      </p:sp>
      <p:sp>
        <p:nvSpPr>
          <p:cNvPr id="10" name="Text 8"/>
          <p:cNvSpPr/>
          <p:nvPr/>
        </p:nvSpPr>
        <p:spPr>
          <a:xfrm>
            <a:off x="384048" y="1170432"/>
            <a:ext cx="3840480" cy="347472"/>
          </a:xfrm>
          <a:prstGeom prst="rect">
            <a:avLst/>
          </a:prstGeom>
          <a:noFill/>
          <a:ln/>
        </p:spPr>
        <p:txBody>
          <a:bodyPr wrap="square" rtlCol="0" anchor="ctr"/>
          <a:lstStyle/>
          <a:p>
            <a:pPr marL="0" indent="0">
              <a:buNone/>
            </a:pPr>
            <a:r>
              <a:rPr lang="en-US" sz="1150" dirty="0">
                <a:solidFill>
                  <a:srgbClr val="1A2E4A"/>
                </a:solidFill>
                <a:latin typeface="Calibri" pitchFamily="34" charset="0"/>
                <a:ea typeface="Calibri" pitchFamily="34" charset="-122"/>
                <a:cs typeface="Calibri" pitchFamily="34" charset="-120"/>
              </a:rPr>
              <a:t>▸  Breast cancer is the most common cancer in women worldwide</a:t>
            </a:r>
            <a:endParaRPr lang="en-US" sz="1150" dirty="0"/>
          </a:p>
        </p:txBody>
      </p:sp>
      <p:sp>
        <p:nvSpPr>
          <p:cNvPr id="11" name="Text 9"/>
          <p:cNvSpPr/>
          <p:nvPr/>
        </p:nvSpPr>
        <p:spPr>
          <a:xfrm>
            <a:off x="384048" y="1764792"/>
            <a:ext cx="3840480" cy="347472"/>
          </a:xfrm>
          <a:prstGeom prst="rect">
            <a:avLst/>
          </a:prstGeom>
          <a:noFill/>
          <a:ln/>
        </p:spPr>
        <p:txBody>
          <a:bodyPr wrap="square" rtlCol="0" anchor="ctr"/>
          <a:lstStyle/>
          <a:p>
            <a:pPr marL="0" indent="0">
              <a:buNone/>
            </a:pPr>
            <a:r>
              <a:rPr lang="en-US" sz="1150" dirty="0">
                <a:solidFill>
                  <a:srgbClr val="1A2E4A"/>
                </a:solidFill>
                <a:latin typeface="Calibri" pitchFamily="34" charset="0"/>
                <a:ea typeface="Calibri" pitchFamily="34" charset="-122"/>
                <a:cs typeface="Calibri" pitchFamily="34" charset="-120"/>
              </a:rPr>
              <a:t>▸  Standard regression cannot handle censored data (patients still alive at study end)</a:t>
            </a:r>
            <a:endParaRPr lang="en-US" sz="1150" dirty="0"/>
          </a:p>
        </p:txBody>
      </p:sp>
      <p:sp>
        <p:nvSpPr>
          <p:cNvPr id="12" name="Text 10"/>
          <p:cNvSpPr/>
          <p:nvPr/>
        </p:nvSpPr>
        <p:spPr>
          <a:xfrm>
            <a:off x="384048" y="2359152"/>
            <a:ext cx="3840480" cy="347472"/>
          </a:xfrm>
          <a:prstGeom prst="rect">
            <a:avLst/>
          </a:prstGeom>
          <a:noFill/>
          <a:ln/>
        </p:spPr>
        <p:txBody>
          <a:bodyPr wrap="square" rtlCol="0" anchor="ctr"/>
          <a:lstStyle/>
          <a:p>
            <a:pPr marL="0" indent="0">
              <a:buNone/>
            </a:pPr>
            <a:r>
              <a:rPr lang="en-US" sz="1150" dirty="0">
                <a:solidFill>
                  <a:srgbClr val="1A2E4A"/>
                </a:solidFill>
                <a:latin typeface="Calibri" pitchFamily="34" charset="0"/>
                <a:ea typeface="Calibri" pitchFamily="34" charset="-122"/>
                <a:cs typeface="Calibri" pitchFamily="34" charset="-120"/>
              </a:rPr>
              <a:t>▸  Survival analysis specifically models time-to-event data</a:t>
            </a:r>
            <a:endParaRPr lang="en-US" sz="1150" dirty="0"/>
          </a:p>
        </p:txBody>
      </p:sp>
      <p:sp>
        <p:nvSpPr>
          <p:cNvPr id="13" name="Text 11"/>
          <p:cNvSpPr/>
          <p:nvPr/>
        </p:nvSpPr>
        <p:spPr>
          <a:xfrm>
            <a:off x="384048" y="2953512"/>
            <a:ext cx="3840480" cy="347472"/>
          </a:xfrm>
          <a:prstGeom prst="rect">
            <a:avLst/>
          </a:prstGeom>
          <a:noFill/>
          <a:ln/>
        </p:spPr>
        <p:txBody>
          <a:bodyPr wrap="square" rtlCol="0" anchor="ctr"/>
          <a:lstStyle/>
          <a:p>
            <a:pPr marL="0" indent="0">
              <a:buNone/>
            </a:pPr>
            <a:r>
              <a:rPr lang="en-US" sz="1150" dirty="0">
                <a:solidFill>
                  <a:srgbClr val="1A2E4A"/>
                </a:solidFill>
                <a:latin typeface="Calibri" pitchFamily="34" charset="0"/>
                <a:ea typeface="Calibri" pitchFamily="34" charset="-122"/>
                <a:cs typeface="Calibri" pitchFamily="34" charset="-120"/>
              </a:rPr>
              <a:t>▸  Allows comparison of survival between patient groups</a:t>
            </a:r>
            <a:endParaRPr lang="en-US" sz="1150" dirty="0"/>
          </a:p>
        </p:txBody>
      </p:sp>
      <p:sp>
        <p:nvSpPr>
          <p:cNvPr id="14" name="Text 12"/>
          <p:cNvSpPr/>
          <p:nvPr/>
        </p:nvSpPr>
        <p:spPr>
          <a:xfrm>
            <a:off x="384048" y="3547872"/>
            <a:ext cx="3840480" cy="347472"/>
          </a:xfrm>
          <a:prstGeom prst="rect">
            <a:avLst/>
          </a:prstGeom>
          <a:noFill/>
          <a:ln/>
        </p:spPr>
        <p:txBody>
          <a:bodyPr wrap="square" rtlCol="0" anchor="ctr"/>
          <a:lstStyle/>
          <a:p>
            <a:pPr marL="0" indent="0">
              <a:buNone/>
            </a:pPr>
            <a:r>
              <a:rPr lang="en-US" sz="1150" dirty="0">
                <a:solidFill>
                  <a:srgbClr val="1A2E4A"/>
                </a:solidFill>
                <a:latin typeface="Calibri" pitchFamily="34" charset="0"/>
                <a:ea typeface="Calibri" pitchFamily="34" charset="-122"/>
                <a:cs typeface="Calibri" pitchFamily="34" charset="-120"/>
              </a:rPr>
              <a:t>▸  Identifies factors that predict how long a patient will survive</a:t>
            </a:r>
            <a:endParaRPr lang="en-US" sz="1150" dirty="0"/>
          </a:p>
        </p:txBody>
      </p:sp>
      <p:sp>
        <p:nvSpPr>
          <p:cNvPr id="15" name="Shape 13"/>
          <p:cNvSpPr/>
          <p:nvPr/>
        </p:nvSpPr>
        <p:spPr>
          <a:xfrm>
            <a:off x="4663440" y="658368"/>
            <a:ext cx="4206240" cy="4251960"/>
          </a:xfrm>
          <a:prstGeom prst="rect">
            <a:avLst/>
          </a:prstGeom>
          <a:solidFill>
            <a:srgbClr val="FFFFFF"/>
          </a:solidFill>
          <a:ln w="12700">
            <a:solidFill>
              <a:srgbClr val="C5D5DE"/>
            </a:solidFill>
            <a:prstDash val="solid"/>
          </a:ln>
          <a:effectLst>
            <a:outerShdw blurRad="50800" dist="25400" dir="8100000" algn="bl" rotWithShape="0">
              <a:srgbClr val="000000">
                <a:alpha val="8000"/>
              </a:srgbClr>
            </a:outerShdw>
          </a:effectLst>
        </p:spPr>
      </p:sp>
      <p:sp>
        <p:nvSpPr>
          <p:cNvPr id="16" name="Shape 14"/>
          <p:cNvSpPr/>
          <p:nvPr/>
        </p:nvSpPr>
        <p:spPr>
          <a:xfrm>
            <a:off x="4663440" y="658368"/>
            <a:ext cx="54864" cy="4251960"/>
          </a:xfrm>
          <a:prstGeom prst="rect">
            <a:avLst/>
          </a:prstGeom>
          <a:solidFill>
            <a:srgbClr val="1B7A8A"/>
          </a:solidFill>
          <a:ln w="12700">
            <a:solidFill>
              <a:srgbClr val="1B7A8A"/>
            </a:solidFill>
            <a:prstDash val="solid"/>
          </a:ln>
        </p:spPr>
      </p:sp>
      <p:sp>
        <p:nvSpPr>
          <p:cNvPr id="17" name="Text 15"/>
          <p:cNvSpPr/>
          <p:nvPr/>
        </p:nvSpPr>
        <p:spPr>
          <a:xfrm>
            <a:off x="4800600" y="713232"/>
            <a:ext cx="3840480" cy="384048"/>
          </a:xfrm>
          <a:prstGeom prst="rect">
            <a:avLst/>
          </a:prstGeom>
          <a:noFill/>
          <a:ln/>
        </p:spPr>
        <p:txBody>
          <a:bodyPr wrap="square"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Why Cox Regression?</a:t>
            </a:r>
            <a:endParaRPr lang="en-US" sz="1300" dirty="0"/>
          </a:p>
        </p:txBody>
      </p:sp>
      <p:sp>
        <p:nvSpPr>
          <p:cNvPr id="18" name="Text 16"/>
          <p:cNvSpPr/>
          <p:nvPr/>
        </p:nvSpPr>
        <p:spPr>
          <a:xfrm>
            <a:off x="4773168" y="1170432"/>
            <a:ext cx="3931920" cy="347472"/>
          </a:xfrm>
          <a:prstGeom prst="rect">
            <a:avLst/>
          </a:prstGeom>
          <a:noFill/>
          <a:ln/>
        </p:spPr>
        <p:txBody>
          <a:bodyPr wrap="square" rtlCol="0" anchor="ctr"/>
          <a:lstStyle/>
          <a:p>
            <a:pPr marL="0" indent="0">
              <a:buNone/>
            </a:pPr>
            <a:r>
              <a:rPr lang="en-US" sz="1150" dirty="0">
                <a:solidFill>
                  <a:srgbClr val="1A2E4A"/>
                </a:solidFill>
                <a:latin typeface="Calibri" pitchFamily="34" charset="0"/>
                <a:ea typeface="Calibri" pitchFamily="34" charset="-122"/>
                <a:cs typeface="Calibri" pitchFamily="34" charset="-120"/>
              </a:rPr>
              <a:t>▸  Cox model is the gold standard for survival analysis in medical research</a:t>
            </a:r>
            <a:endParaRPr lang="en-US" sz="1150" dirty="0"/>
          </a:p>
        </p:txBody>
      </p:sp>
      <p:sp>
        <p:nvSpPr>
          <p:cNvPr id="19" name="Text 17"/>
          <p:cNvSpPr/>
          <p:nvPr/>
        </p:nvSpPr>
        <p:spPr>
          <a:xfrm>
            <a:off x="4773168" y="1764792"/>
            <a:ext cx="3931920" cy="347472"/>
          </a:xfrm>
          <a:prstGeom prst="rect">
            <a:avLst/>
          </a:prstGeom>
          <a:noFill/>
          <a:ln/>
        </p:spPr>
        <p:txBody>
          <a:bodyPr wrap="square" rtlCol="0" anchor="ctr"/>
          <a:lstStyle/>
          <a:p>
            <a:pPr marL="0" indent="0">
              <a:buNone/>
            </a:pPr>
            <a:r>
              <a:rPr lang="en-US" sz="1150" dirty="0">
                <a:solidFill>
                  <a:srgbClr val="1A2E4A"/>
                </a:solidFill>
                <a:latin typeface="Calibri" pitchFamily="34" charset="0"/>
                <a:ea typeface="Calibri" pitchFamily="34" charset="-122"/>
                <a:cs typeface="Calibri" pitchFamily="34" charset="-120"/>
              </a:rPr>
              <a:t>▸  Does not require assuming a specific distribution of survival times (semi-parametric)</a:t>
            </a:r>
            <a:endParaRPr lang="en-US" sz="1150" dirty="0"/>
          </a:p>
        </p:txBody>
      </p:sp>
      <p:sp>
        <p:nvSpPr>
          <p:cNvPr id="20" name="Text 18"/>
          <p:cNvSpPr/>
          <p:nvPr/>
        </p:nvSpPr>
        <p:spPr>
          <a:xfrm>
            <a:off x="4773168" y="2359152"/>
            <a:ext cx="3931920" cy="347472"/>
          </a:xfrm>
          <a:prstGeom prst="rect">
            <a:avLst/>
          </a:prstGeom>
          <a:noFill/>
          <a:ln/>
        </p:spPr>
        <p:txBody>
          <a:bodyPr wrap="square" rtlCol="0" anchor="ctr"/>
          <a:lstStyle/>
          <a:p>
            <a:pPr marL="0" indent="0">
              <a:buNone/>
            </a:pPr>
            <a:r>
              <a:rPr lang="en-US" sz="1150" dirty="0">
                <a:solidFill>
                  <a:srgbClr val="1A2E4A"/>
                </a:solidFill>
                <a:latin typeface="Calibri" pitchFamily="34" charset="0"/>
                <a:ea typeface="Calibri" pitchFamily="34" charset="-122"/>
                <a:cs typeface="Calibri" pitchFamily="34" charset="-120"/>
              </a:rPr>
              <a:t>▸  Estimates Hazard Ratios (HR) for each predictor variable</a:t>
            </a:r>
            <a:endParaRPr lang="en-US" sz="1150" dirty="0"/>
          </a:p>
        </p:txBody>
      </p:sp>
      <p:sp>
        <p:nvSpPr>
          <p:cNvPr id="21" name="Text 19"/>
          <p:cNvSpPr/>
          <p:nvPr/>
        </p:nvSpPr>
        <p:spPr>
          <a:xfrm>
            <a:off x="4773168" y="2953512"/>
            <a:ext cx="3931920" cy="347472"/>
          </a:xfrm>
          <a:prstGeom prst="rect">
            <a:avLst/>
          </a:prstGeom>
          <a:noFill/>
          <a:ln/>
        </p:spPr>
        <p:txBody>
          <a:bodyPr wrap="square" rtlCol="0" anchor="ctr"/>
          <a:lstStyle/>
          <a:p>
            <a:pPr marL="0" indent="0">
              <a:buNone/>
            </a:pPr>
            <a:r>
              <a:rPr lang="en-US" sz="1150" dirty="0">
                <a:solidFill>
                  <a:srgbClr val="1A2E4A"/>
                </a:solidFill>
                <a:latin typeface="Calibri" pitchFamily="34" charset="0"/>
                <a:ea typeface="Calibri" pitchFamily="34" charset="-122"/>
                <a:cs typeface="Calibri" pitchFamily="34" charset="-120"/>
              </a:rPr>
              <a:t>▸  Can handle multiple predictors simultaneously</a:t>
            </a:r>
            <a:endParaRPr lang="en-US" sz="1150" dirty="0"/>
          </a:p>
        </p:txBody>
      </p:sp>
      <p:sp>
        <p:nvSpPr>
          <p:cNvPr id="22" name="Text 20"/>
          <p:cNvSpPr/>
          <p:nvPr/>
        </p:nvSpPr>
        <p:spPr>
          <a:xfrm>
            <a:off x="4773168" y="3547872"/>
            <a:ext cx="3931920" cy="347472"/>
          </a:xfrm>
          <a:prstGeom prst="rect">
            <a:avLst/>
          </a:prstGeom>
          <a:noFill/>
          <a:ln/>
        </p:spPr>
        <p:txBody>
          <a:bodyPr wrap="square" rtlCol="0" anchor="ctr"/>
          <a:lstStyle/>
          <a:p>
            <a:pPr marL="0" indent="0">
              <a:buNone/>
            </a:pPr>
            <a:r>
              <a:rPr lang="en-US" sz="1150" dirty="0">
                <a:solidFill>
                  <a:srgbClr val="1A2E4A"/>
                </a:solidFill>
                <a:latin typeface="Calibri" pitchFamily="34" charset="0"/>
                <a:ea typeface="Calibri" pitchFamily="34" charset="-122"/>
                <a:cs typeface="Calibri" pitchFamily="34" charset="-120"/>
              </a:rPr>
              <a:t>▸  Used in virtually all major clinical cancer studies</a:t>
            </a:r>
            <a:endParaRPr lang="en-US" sz="115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E4A"/>
          </a:solidFill>
          <a:ln w="12700">
            <a:solidFill>
              <a:srgbClr val="1A2E4A"/>
            </a:solidFill>
            <a:prstDash val="solid"/>
          </a:ln>
        </p:spPr>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Research Objectives</a:t>
            </a:r>
            <a:endParaRPr lang="en-US" sz="1600" dirty="0"/>
          </a:p>
        </p:txBody>
      </p:sp>
      <p:sp>
        <p:nvSpPr>
          <p:cNvPr id="4" name="Shape 2"/>
          <p:cNvSpPr/>
          <p:nvPr/>
        </p:nvSpPr>
        <p:spPr>
          <a:xfrm>
            <a:off x="0" y="502920"/>
            <a:ext cx="9144000" cy="36576"/>
          </a:xfrm>
          <a:prstGeom prst="rect">
            <a:avLst/>
          </a:prstGeom>
          <a:solidFill>
            <a:srgbClr val="1B7A8A"/>
          </a:solidFill>
          <a:ln w="12700">
            <a:solidFill>
              <a:srgbClr val="1B7A8A"/>
            </a:solidFill>
            <a:prstDash val="solid"/>
          </a:ln>
        </p:spPr>
      </p:sp>
      <p:sp>
        <p:nvSpPr>
          <p:cNvPr id="5" name="Shape 3"/>
          <p:cNvSpPr/>
          <p:nvPr/>
        </p:nvSpPr>
        <p:spPr>
          <a:xfrm>
            <a:off x="0" y="5093208"/>
            <a:ext cx="9144000" cy="50292"/>
          </a:xfrm>
          <a:prstGeom prst="rect">
            <a:avLst/>
          </a:prstGeom>
          <a:solidFill>
            <a:srgbClr val="1B7A8A"/>
          </a:solidFill>
          <a:ln w="12700">
            <a:solidFill>
              <a:srgbClr val="1B7A8A"/>
            </a:solidFill>
            <a:prstDash val="solid"/>
          </a:ln>
        </p:spPr>
      </p:sp>
      <p:sp>
        <p:nvSpPr>
          <p:cNvPr id="6" name="Text 4"/>
          <p:cNvSpPr/>
          <p:nvPr/>
        </p:nvSpPr>
        <p:spPr>
          <a:xfrm>
            <a:off x="228600" y="576072"/>
            <a:ext cx="8229600" cy="320040"/>
          </a:xfrm>
          <a:prstGeom prst="rect">
            <a:avLst/>
          </a:prstGeom>
          <a:noFill/>
          <a:ln/>
        </p:spPr>
        <p:txBody>
          <a:bodyPr wrap="square" rtlCol="0" anchor="ctr"/>
          <a:lstStyle/>
          <a:p>
            <a:pPr marL="0" indent="0">
              <a:buNone/>
            </a:pPr>
            <a:r>
              <a:rPr lang="en-US" sz="1200" i="1" dirty="0">
                <a:solidFill>
                  <a:srgbClr val="5A6A7A"/>
                </a:solidFill>
                <a:latin typeface="Calibri" pitchFamily="34" charset="0"/>
                <a:ea typeface="Calibri" pitchFamily="34" charset="-122"/>
                <a:cs typeface="Calibri" pitchFamily="34" charset="-120"/>
              </a:rPr>
              <a:t>Primary and Secondary Objectives</a:t>
            </a:r>
            <a:endParaRPr lang="en-US" sz="1200" dirty="0"/>
          </a:p>
        </p:txBody>
      </p:sp>
      <p:sp>
        <p:nvSpPr>
          <p:cNvPr id="7" name="Shape 5"/>
          <p:cNvSpPr/>
          <p:nvPr/>
        </p:nvSpPr>
        <p:spPr>
          <a:xfrm>
            <a:off x="891540" y="896112"/>
            <a:ext cx="7978140" cy="1426464"/>
          </a:xfrm>
          <a:prstGeom prst="rect">
            <a:avLst/>
          </a:prstGeom>
          <a:solidFill>
            <a:srgbClr val="1A2E4A"/>
          </a:solidFill>
          <a:ln w="12700">
            <a:solidFill>
              <a:srgbClr val="1A2E4A"/>
            </a:solidFill>
            <a:prstDash val="solid"/>
          </a:ln>
          <a:effectLst>
            <a:outerShdw blurRad="50800" dist="25400" dir="8100000" algn="bl" rotWithShape="0">
              <a:srgbClr val="000000">
                <a:alpha val="8000"/>
              </a:srgbClr>
            </a:outerShdw>
          </a:effectLst>
        </p:spPr>
      </p:sp>
      <p:sp>
        <p:nvSpPr>
          <p:cNvPr id="8" name="Shape 6"/>
          <p:cNvSpPr/>
          <p:nvPr/>
        </p:nvSpPr>
        <p:spPr>
          <a:xfrm>
            <a:off x="251460" y="914400"/>
            <a:ext cx="502920" cy="1463040"/>
          </a:xfrm>
          <a:prstGeom prst="rect">
            <a:avLst/>
          </a:prstGeom>
          <a:solidFill>
            <a:srgbClr val="B5304B"/>
          </a:solidFill>
          <a:ln w="12700">
            <a:solidFill>
              <a:srgbClr val="B5304B"/>
            </a:solidFill>
            <a:prstDash val="solid"/>
          </a:ln>
        </p:spPr>
      </p:sp>
      <p:sp>
        <p:nvSpPr>
          <p:cNvPr id="9" name="Text 7"/>
          <p:cNvSpPr/>
          <p:nvPr/>
        </p:nvSpPr>
        <p:spPr>
          <a:xfrm>
            <a:off x="228600" y="783336"/>
            <a:ext cx="548640" cy="4572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PRIMARY</a:t>
            </a:r>
            <a:endParaRPr lang="en-US" sz="800" dirty="0"/>
          </a:p>
        </p:txBody>
      </p:sp>
      <p:sp>
        <p:nvSpPr>
          <p:cNvPr id="10" name="Text 8"/>
          <p:cNvSpPr/>
          <p:nvPr/>
        </p:nvSpPr>
        <p:spPr>
          <a:xfrm>
            <a:off x="262890" y="1098804"/>
            <a:ext cx="502920" cy="457200"/>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OBJECTIVE</a:t>
            </a:r>
            <a:endParaRPr lang="en-US" sz="800" dirty="0"/>
          </a:p>
        </p:txBody>
      </p:sp>
      <p:sp>
        <p:nvSpPr>
          <p:cNvPr id="11" name="Text 9"/>
          <p:cNvSpPr/>
          <p:nvPr/>
        </p:nvSpPr>
        <p:spPr>
          <a:xfrm>
            <a:off x="914400" y="829056"/>
            <a:ext cx="7772400" cy="41148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Primary Objective</a:t>
            </a:r>
            <a:endParaRPr lang="en-US" sz="1400" dirty="0"/>
          </a:p>
        </p:txBody>
      </p:sp>
      <p:sp>
        <p:nvSpPr>
          <p:cNvPr id="12" name="Text 10"/>
          <p:cNvSpPr/>
          <p:nvPr/>
        </p:nvSpPr>
        <p:spPr>
          <a:xfrm>
            <a:off x="914400" y="1188720"/>
            <a:ext cx="7772400" cy="914400"/>
          </a:xfrm>
          <a:prstGeom prst="rect">
            <a:avLst/>
          </a:prstGeom>
          <a:noFill/>
          <a:ln/>
        </p:spPr>
        <p:txBody>
          <a:bodyPr wrap="square" rtlCol="0" anchor="t"/>
          <a:lstStyle/>
          <a:p>
            <a:pPr marL="0" indent="0">
              <a:buNone/>
            </a:pPr>
            <a:r>
              <a:rPr lang="en-US" sz="1200" dirty="0">
                <a:solidFill>
                  <a:srgbClr val="BBDDEE"/>
                </a:solidFill>
                <a:latin typeface="Calibri" pitchFamily="34" charset="0"/>
                <a:ea typeface="Calibri" pitchFamily="34" charset="-122"/>
                <a:cs typeface="Calibri" pitchFamily="34" charset="-120"/>
              </a:rPr>
              <a:t>To analyze and describe the overall survival experience of breast cancer patients in the METABRIC cohort using Kaplan–Meier survival estimation, and to estimate median survival time along with 95% confidence intervals.</a:t>
            </a:r>
            <a:endParaRPr lang="en-US" sz="1200" dirty="0"/>
          </a:p>
        </p:txBody>
      </p:sp>
      <p:sp>
        <p:nvSpPr>
          <p:cNvPr id="13" name="Text 11"/>
          <p:cNvSpPr/>
          <p:nvPr/>
        </p:nvSpPr>
        <p:spPr>
          <a:xfrm>
            <a:off x="274320" y="2377440"/>
            <a:ext cx="8229600" cy="384048"/>
          </a:xfrm>
          <a:prstGeom prst="rect">
            <a:avLst/>
          </a:prstGeom>
          <a:noFill/>
          <a:ln/>
        </p:spPr>
        <p:txBody>
          <a:bodyPr wrap="square" rtlCol="0" anchor="ctr"/>
          <a:lstStyle/>
          <a:p>
            <a:pPr marL="0" indent="0">
              <a:buNone/>
            </a:pPr>
            <a:r>
              <a:rPr lang="en-US" sz="1400" b="1" dirty="0">
                <a:solidFill>
                  <a:srgbClr val="1A2E4A"/>
                </a:solidFill>
                <a:latin typeface="Calibri" pitchFamily="34" charset="0"/>
                <a:ea typeface="Calibri" pitchFamily="34" charset="-122"/>
                <a:cs typeface="Calibri" pitchFamily="34" charset="-120"/>
              </a:rPr>
              <a:t>Secondary Objectives</a:t>
            </a:r>
            <a:endParaRPr lang="en-US" sz="1400" dirty="0"/>
          </a:p>
        </p:txBody>
      </p:sp>
      <p:sp>
        <p:nvSpPr>
          <p:cNvPr id="14" name="Shape 12"/>
          <p:cNvSpPr/>
          <p:nvPr/>
        </p:nvSpPr>
        <p:spPr>
          <a:xfrm>
            <a:off x="274320" y="2834640"/>
            <a:ext cx="8595360" cy="658368"/>
          </a:xfrm>
          <a:prstGeom prst="rect">
            <a:avLst/>
          </a:prstGeom>
          <a:solidFill>
            <a:srgbClr val="FFFFFF"/>
          </a:solidFill>
          <a:ln w="12700">
            <a:solidFill>
              <a:srgbClr val="C5D5DE"/>
            </a:solidFill>
            <a:prstDash val="solid"/>
          </a:ln>
          <a:effectLst>
            <a:outerShdw blurRad="50800" dist="25400" dir="8100000" algn="bl" rotWithShape="0">
              <a:srgbClr val="000000">
                <a:alpha val="8000"/>
              </a:srgbClr>
            </a:outerShdw>
          </a:effectLst>
        </p:spPr>
      </p:sp>
      <p:sp>
        <p:nvSpPr>
          <p:cNvPr id="15" name="Shape 13"/>
          <p:cNvSpPr/>
          <p:nvPr/>
        </p:nvSpPr>
        <p:spPr>
          <a:xfrm>
            <a:off x="274320" y="2834640"/>
            <a:ext cx="54864" cy="658368"/>
          </a:xfrm>
          <a:prstGeom prst="rect">
            <a:avLst/>
          </a:prstGeom>
          <a:solidFill>
            <a:srgbClr val="1B7A8A"/>
          </a:solidFill>
          <a:ln w="12700">
            <a:solidFill>
              <a:srgbClr val="1B7A8A"/>
            </a:solidFill>
            <a:prstDash val="solid"/>
          </a:ln>
        </p:spPr>
      </p:sp>
      <p:sp>
        <p:nvSpPr>
          <p:cNvPr id="16" name="Shape 14"/>
          <p:cNvSpPr/>
          <p:nvPr/>
        </p:nvSpPr>
        <p:spPr>
          <a:xfrm>
            <a:off x="274320" y="2834640"/>
            <a:ext cx="457200" cy="658368"/>
          </a:xfrm>
          <a:prstGeom prst="rect">
            <a:avLst/>
          </a:prstGeom>
          <a:solidFill>
            <a:srgbClr val="1B7A8A"/>
          </a:solidFill>
          <a:ln w="12700">
            <a:solidFill>
              <a:srgbClr val="1B7A8A"/>
            </a:solidFill>
            <a:prstDash val="solid"/>
          </a:ln>
        </p:spPr>
      </p:sp>
      <p:sp>
        <p:nvSpPr>
          <p:cNvPr id="17" name="Text 15"/>
          <p:cNvSpPr/>
          <p:nvPr/>
        </p:nvSpPr>
        <p:spPr>
          <a:xfrm>
            <a:off x="274320" y="2834640"/>
            <a:ext cx="457200"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8" name="Text 16"/>
          <p:cNvSpPr/>
          <p:nvPr/>
        </p:nvSpPr>
        <p:spPr>
          <a:xfrm>
            <a:off x="822960" y="2834640"/>
            <a:ext cx="7955280" cy="658368"/>
          </a:xfrm>
          <a:prstGeom prst="rect">
            <a:avLst/>
          </a:prstGeom>
          <a:noFill/>
          <a:ln/>
        </p:spPr>
        <p:txBody>
          <a:bodyPr wrap="square" rtlCol="0" anchor="ctr"/>
          <a:lstStyle/>
          <a:p>
            <a:pPr marL="0" indent="0">
              <a:buNone/>
            </a:pPr>
            <a:r>
              <a:rPr lang="en-US" sz="1150" dirty="0">
                <a:solidFill>
                  <a:srgbClr val="1A2E4A"/>
                </a:solidFill>
                <a:latin typeface="Calibri" pitchFamily="34" charset="0"/>
                <a:ea typeface="Calibri" pitchFamily="34" charset="-122"/>
                <a:cs typeface="Calibri" pitchFamily="34" charset="-120"/>
              </a:rPr>
              <a:t>To compare survival across patient subgroups (ER status, PR status, HER2 status, tumor stage, grade, lymph nodes) using Kaplan–Meier curves and log-rank tests.</a:t>
            </a:r>
            <a:endParaRPr lang="en-US" sz="1150" dirty="0"/>
          </a:p>
        </p:txBody>
      </p:sp>
      <p:sp>
        <p:nvSpPr>
          <p:cNvPr id="19" name="Shape 17"/>
          <p:cNvSpPr/>
          <p:nvPr/>
        </p:nvSpPr>
        <p:spPr>
          <a:xfrm>
            <a:off x="274320" y="3547872"/>
            <a:ext cx="8595360" cy="658368"/>
          </a:xfrm>
          <a:prstGeom prst="rect">
            <a:avLst/>
          </a:prstGeom>
          <a:solidFill>
            <a:srgbClr val="FFFFFF"/>
          </a:solidFill>
          <a:ln w="12700">
            <a:solidFill>
              <a:srgbClr val="C5D5DE"/>
            </a:solidFill>
            <a:prstDash val="solid"/>
          </a:ln>
          <a:effectLst>
            <a:outerShdw blurRad="50800" dist="25400" dir="8100000" algn="bl" rotWithShape="0">
              <a:srgbClr val="000000">
                <a:alpha val="8000"/>
              </a:srgbClr>
            </a:outerShdw>
          </a:effectLst>
        </p:spPr>
      </p:sp>
      <p:sp>
        <p:nvSpPr>
          <p:cNvPr id="20" name="Shape 18"/>
          <p:cNvSpPr/>
          <p:nvPr/>
        </p:nvSpPr>
        <p:spPr>
          <a:xfrm>
            <a:off x="274320" y="3547872"/>
            <a:ext cx="54864" cy="658368"/>
          </a:xfrm>
          <a:prstGeom prst="rect">
            <a:avLst/>
          </a:prstGeom>
          <a:solidFill>
            <a:srgbClr val="B5304B"/>
          </a:solidFill>
          <a:ln w="12700">
            <a:solidFill>
              <a:srgbClr val="B5304B"/>
            </a:solidFill>
            <a:prstDash val="solid"/>
          </a:ln>
        </p:spPr>
      </p:sp>
      <p:sp>
        <p:nvSpPr>
          <p:cNvPr id="21" name="Shape 19"/>
          <p:cNvSpPr/>
          <p:nvPr/>
        </p:nvSpPr>
        <p:spPr>
          <a:xfrm>
            <a:off x="274320" y="3547872"/>
            <a:ext cx="457200" cy="658368"/>
          </a:xfrm>
          <a:prstGeom prst="rect">
            <a:avLst/>
          </a:prstGeom>
          <a:solidFill>
            <a:srgbClr val="B5304B"/>
          </a:solidFill>
          <a:ln w="12700">
            <a:solidFill>
              <a:srgbClr val="B5304B"/>
            </a:solidFill>
            <a:prstDash val="solid"/>
          </a:ln>
        </p:spPr>
      </p:sp>
      <p:sp>
        <p:nvSpPr>
          <p:cNvPr id="22" name="Text 20"/>
          <p:cNvSpPr/>
          <p:nvPr/>
        </p:nvSpPr>
        <p:spPr>
          <a:xfrm>
            <a:off x="274320" y="3547872"/>
            <a:ext cx="457200"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3" name="Text 21"/>
          <p:cNvSpPr/>
          <p:nvPr/>
        </p:nvSpPr>
        <p:spPr>
          <a:xfrm>
            <a:off x="822960" y="3547872"/>
            <a:ext cx="7955280" cy="658368"/>
          </a:xfrm>
          <a:prstGeom prst="rect">
            <a:avLst/>
          </a:prstGeom>
          <a:noFill/>
          <a:ln/>
        </p:spPr>
        <p:txBody>
          <a:bodyPr wrap="square" rtlCol="0" anchor="ctr"/>
          <a:lstStyle/>
          <a:p>
            <a:pPr marL="0" indent="0">
              <a:buNone/>
            </a:pPr>
            <a:r>
              <a:rPr lang="en-US" sz="1150" dirty="0">
                <a:solidFill>
                  <a:srgbClr val="1A2E4A"/>
                </a:solidFill>
                <a:latin typeface="Calibri" pitchFamily="34" charset="0"/>
                <a:ea typeface="Calibri" pitchFamily="34" charset="-122"/>
                <a:cs typeface="Calibri" pitchFamily="34" charset="-120"/>
              </a:rPr>
              <a:t>To identify independent prognostic factors for overall survival using Univariable Cox Proportional Hazards regression models — computing Hazard Ratios with 95% CI.</a:t>
            </a:r>
            <a:endParaRPr lang="en-US" sz="1150" dirty="0"/>
          </a:p>
        </p:txBody>
      </p:sp>
      <p:sp>
        <p:nvSpPr>
          <p:cNvPr id="24" name="Shape 22"/>
          <p:cNvSpPr/>
          <p:nvPr/>
        </p:nvSpPr>
        <p:spPr>
          <a:xfrm>
            <a:off x="274320" y="4261104"/>
            <a:ext cx="8595360" cy="658368"/>
          </a:xfrm>
          <a:prstGeom prst="rect">
            <a:avLst/>
          </a:prstGeom>
          <a:solidFill>
            <a:srgbClr val="FFFFFF"/>
          </a:solidFill>
          <a:ln w="12700">
            <a:solidFill>
              <a:srgbClr val="C5D5DE"/>
            </a:solidFill>
            <a:prstDash val="solid"/>
          </a:ln>
          <a:effectLst>
            <a:outerShdw blurRad="50800" dist="25400" dir="8100000" algn="bl" rotWithShape="0">
              <a:srgbClr val="000000">
                <a:alpha val="8000"/>
              </a:srgbClr>
            </a:outerShdw>
          </a:effectLst>
        </p:spPr>
      </p:sp>
      <p:sp>
        <p:nvSpPr>
          <p:cNvPr id="25" name="Shape 23"/>
          <p:cNvSpPr/>
          <p:nvPr/>
        </p:nvSpPr>
        <p:spPr>
          <a:xfrm>
            <a:off x="274320" y="4261104"/>
            <a:ext cx="54864" cy="658368"/>
          </a:xfrm>
          <a:prstGeom prst="rect">
            <a:avLst/>
          </a:prstGeom>
          <a:solidFill>
            <a:srgbClr val="D4870A"/>
          </a:solidFill>
          <a:ln w="12700">
            <a:solidFill>
              <a:srgbClr val="D4870A"/>
            </a:solidFill>
            <a:prstDash val="solid"/>
          </a:ln>
        </p:spPr>
      </p:sp>
      <p:sp>
        <p:nvSpPr>
          <p:cNvPr id="26" name="Shape 24"/>
          <p:cNvSpPr/>
          <p:nvPr/>
        </p:nvSpPr>
        <p:spPr>
          <a:xfrm>
            <a:off x="274320" y="4261104"/>
            <a:ext cx="457200" cy="658368"/>
          </a:xfrm>
          <a:prstGeom prst="rect">
            <a:avLst/>
          </a:prstGeom>
          <a:solidFill>
            <a:srgbClr val="D4870A"/>
          </a:solidFill>
          <a:ln w="12700">
            <a:solidFill>
              <a:srgbClr val="D4870A"/>
            </a:solidFill>
            <a:prstDash val="solid"/>
          </a:ln>
        </p:spPr>
      </p:sp>
      <p:sp>
        <p:nvSpPr>
          <p:cNvPr id="27" name="Text 25"/>
          <p:cNvSpPr/>
          <p:nvPr/>
        </p:nvSpPr>
        <p:spPr>
          <a:xfrm>
            <a:off x="274320" y="4261104"/>
            <a:ext cx="457200" cy="658368"/>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8" name="Text 26"/>
          <p:cNvSpPr/>
          <p:nvPr/>
        </p:nvSpPr>
        <p:spPr>
          <a:xfrm>
            <a:off x="822960" y="4261104"/>
            <a:ext cx="7955280" cy="658368"/>
          </a:xfrm>
          <a:prstGeom prst="rect">
            <a:avLst/>
          </a:prstGeom>
          <a:noFill/>
          <a:ln/>
        </p:spPr>
        <p:txBody>
          <a:bodyPr wrap="square" rtlCol="0" anchor="ctr"/>
          <a:lstStyle/>
          <a:p>
            <a:pPr marL="0" indent="0">
              <a:buNone/>
            </a:pPr>
            <a:r>
              <a:rPr lang="en-US" sz="1150" dirty="0">
                <a:solidFill>
                  <a:srgbClr val="1A2E4A"/>
                </a:solidFill>
                <a:latin typeface="Calibri" pitchFamily="34" charset="0"/>
                <a:ea typeface="Calibri" pitchFamily="34" charset="-122"/>
                <a:cs typeface="Calibri" pitchFamily="34" charset="-120"/>
              </a:rPr>
              <a:t>To test the Proportional Hazards (PH) assumption using Schoenfeld residuals (cox.zph) and interpret the implications for the final model choice.</a:t>
            </a:r>
            <a:endParaRPr lang="en-US" sz="115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E4A"/>
          </a:solidFill>
          <a:ln w="12700">
            <a:solidFill>
              <a:srgbClr val="1A2E4A"/>
            </a:solidFill>
            <a:prstDash val="solid"/>
          </a:ln>
        </p:spPr>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Dataset Description</a:t>
            </a:r>
            <a:endParaRPr lang="en-US" sz="1600" dirty="0"/>
          </a:p>
        </p:txBody>
      </p:sp>
      <p:sp>
        <p:nvSpPr>
          <p:cNvPr id="4" name="Shape 2"/>
          <p:cNvSpPr/>
          <p:nvPr/>
        </p:nvSpPr>
        <p:spPr>
          <a:xfrm>
            <a:off x="0" y="502920"/>
            <a:ext cx="9144000" cy="36576"/>
          </a:xfrm>
          <a:prstGeom prst="rect">
            <a:avLst/>
          </a:prstGeom>
          <a:solidFill>
            <a:srgbClr val="1B7A8A"/>
          </a:solidFill>
          <a:ln w="12700">
            <a:solidFill>
              <a:srgbClr val="1B7A8A"/>
            </a:solidFill>
            <a:prstDash val="solid"/>
          </a:ln>
        </p:spPr>
      </p:sp>
      <p:sp>
        <p:nvSpPr>
          <p:cNvPr id="5" name="Shape 3"/>
          <p:cNvSpPr/>
          <p:nvPr/>
        </p:nvSpPr>
        <p:spPr>
          <a:xfrm>
            <a:off x="0" y="5093208"/>
            <a:ext cx="9144000" cy="50292"/>
          </a:xfrm>
          <a:prstGeom prst="rect">
            <a:avLst/>
          </a:prstGeom>
          <a:solidFill>
            <a:srgbClr val="1B7A8A"/>
          </a:solidFill>
          <a:ln w="12700">
            <a:solidFill>
              <a:srgbClr val="1B7A8A"/>
            </a:solidFill>
            <a:prstDash val="solid"/>
          </a:ln>
        </p:spPr>
      </p:sp>
      <p:sp>
        <p:nvSpPr>
          <p:cNvPr id="7" name="Shape 5"/>
          <p:cNvSpPr/>
          <p:nvPr/>
        </p:nvSpPr>
        <p:spPr>
          <a:xfrm>
            <a:off x="256032" y="658368"/>
            <a:ext cx="2084832" cy="841248"/>
          </a:xfrm>
          <a:prstGeom prst="rect">
            <a:avLst/>
          </a:prstGeom>
          <a:solidFill>
            <a:srgbClr val="1A2E4A"/>
          </a:solidFill>
          <a:ln w="12700">
            <a:solidFill>
              <a:srgbClr val="1A2E4A"/>
            </a:solidFill>
            <a:prstDash val="solid"/>
          </a:ln>
          <a:effectLst>
            <a:outerShdw blurRad="50800" dist="25400" dir="8100000" algn="bl" rotWithShape="0">
              <a:srgbClr val="000000">
                <a:alpha val="8000"/>
              </a:srgbClr>
            </a:outerShdw>
          </a:effectLst>
        </p:spPr>
      </p:sp>
      <p:sp>
        <p:nvSpPr>
          <p:cNvPr id="8" name="Text 6"/>
          <p:cNvSpPr/>
          <p:nvPr/>
        </p:nvSpPr>
        <p:spPr>
          <a:xfrm>
            <a:off x="347472" y="708152"/>
            <a:ext cx="2084832" cy="47548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1,981</a:t>
            </a:r>
            <a:endParaRPr lang="en-US" sz="2600" dirty="0"/>
          </a:p>
        </p:txBody>
      </p:sp>
      <p:sp>
        <p:nvSpPr>
          <p:cNvPr id="9" name="Text 7"/>
          <p:cNvSpPr/>
          <p:nvPr/>
        </p:nvSpPr>
        <p:spPr>
          <a:xfrm>
            <a:off x="356616" y="1145794"/>
            <a:ext cx="2084832" cy="32004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Patients Analysed</a:t>
            </a:r>
            <a:endParaRPr lang="en-US" sz="1000" dirty="0"/>
          </a:p>
        </p:txBody>
      </p:sp>
      <p:sp>
        <p:nvSpPr>
          <p:cNvPr id="10" name="Shape 8"/>
          <p:cNvSpPr/>
          <p:nvPr/>
        </p:nvSpPr>
        <p:spPr>
          <a:xfrm>
            <a:off x="2441448" y="658368"/>
            <a:ext cx="2084832" cy="841248"/>
          </a:xfrm>
          <a:prstGeom prst="rect">
            <a:avLst/>
          </a:prstGeom>
          <a:solidFill>
            <a:srgbClr val="B5304B"/>
          </a:solidFill>
          <a:ln w="12700">
            <a:solidFill>
              <a:srgbClr val="B5304B"/>
            </a:solidFill>
            <a:prstDash val="solid"/>
          </a:ln>
          <a:effectLst>
            <a:outerShdw blurRad="50800" dist="25400" dir="8100000" algn="bl" rotWithShape="0">
              <a:srgbClr val="000000">
                <a:alpha val="8000"/>
              </a:srgbClr>
            </a:outerShdw>
          </a:effectLst>
        </p:spPr>
      </p:sp>
      <p:sp>
        <p:nvSpPr>
          <p:cNvPr id="11" name="Text 9"/>
          <p:cNvSpPr/>
          <p:nvPr/>
        </p:nvSpPr>
        <p:spPr>
          <a:xfrm>
            <a:off x="2441448" y="676656"/>
            <a:ext cx="2084832" cy="47548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1,144</a:t>
            </a:r>
            <a:endParaRPr lang="en-US" sz="2600" dirty="0"/>
          </a:p>
        </p:txBody>
      </p:sp>
      <p:sp>
        <p:nvSpPr>
          <p:cNvPr id="12" name="Text 10"/>
          <p:cNvSpPr/>
          <p:nvPr/>
        </p:nvSpPr>
        <p:spPr>
          <a:xfrm>
            <a:off x="2441448" y="1152144"/>
            <a:ext cx="2084832" cy="32004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Deaths (57.7%)</a:t>
            </a:r>
            <a:endParaRPr lang="en-US" sz="1000" dirty="0"/>
          </a:p>
        </p:txBody>
      </p:sp>
      <p:sp>
        <p:nvSpPr>
          <p:cNvPr id="13" name="Shape 11"/>
          <p:cNvSpPr/>
          <p:nvPr/>
        </p:nvSpPr>
        <p:spPr>
          <a:xfrm>
            <a:off x="4654296" y="658368"/>
            <a:ext cx="2084832" cy="841248"/>
          </a:xfrm>
          <a:prstGeom prst="rect">
            <a:avLst/>
          </a:prstGeom>
          <a:solidFill>
            <a:srgbClr val="1B7A8A"/>
          </a:solidFill>
          <a:ln w="12700">
            <a:solidFill>
              <a:srgbClr val="1B7A8A"/>
            </a:solidFill>
            <a:prstDash val="solid"/>
          </a:ln>
          <a:effectLst>
            <a:outerShdw blurRad="50800" dist="25400" dir="8100000" algn="bl" rotWithShape="0">
              <a:srgbClr val="000000">
                <a:alpha val="8000"/>
              </a:srgbClr>
            </a:outerShdw>
          </a:effectLst>
        </p:spPr>
      </p:sp>
      <p:sp>
        <p:nvSpPr>
          <p:cNvPr id="14" name="Text 12"/>
          <p:cNvSpPr/>
          <p:nvPr/>
        </p:nvSpPr>
        <p:spPr>
          <a:xfrm>
            <a:off x="4654296" y="676656"/>
            <a:ext cx="2084832" cy="47548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837</a:t>
            </a:r>
            <a:endParaRPr lang="en-US" sz="2600" dirty="0"/>
          </a:p>
        </p:txBody>
      </p:sp>
      <p:sp>
        <p:nvSpPr>
          <p:cNvPr id="15" name="Text 13"/>
          <p:cNvSpPr/>
          <p:nvPr/>
        </p:nvSpPr>
        <p:spPr>
          <a:xfrm>
            <a:off x="4654296" y="1152144"/>
            <a:ext cx="2084832" cy="32004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Censored (42.3%)</a:t>
            </a:r>
            <a:endParaRPr lang="en-US" sz="1000" dirty="0"/>
          </a:p>
        </p:txBody>
      </p:sp>
      <p:sp>
        <p:nvSpPr>
          <p:cNvPr id="16" name="Shape 14"/>
          <p:cNvSpPr/>
          <p:nvPr/>
        </p:nvSpPr>
        <p:spPr>
          <a:xfrm>
            <a:off x="6867144" y="658368"/>
            <a:ext cx="2084832" cy="841248"/>
          </a:xfrm>
          <a:prstGeom prst="rect">
            <a:avLst/>
          </a:prstGeom>
          <a:solidFill>
            <a:srgbClr val="D4870A"/>
          </a:solidFill>
          <a:ln w="12700">
            <a:solidFill>
              <a:srgbClr val="D4870A"/>
            </a:solidFill>
            <a:prstDash val="solid"/>
          </a:ln>
          <a:effectLst>
            <a:outerShdw blurRad="50800" dist="25400" dir="8100000" algn="bl" rotWithShape="0">
              <a:srgbClr val="000000">
                <a:alpha val="8000"/>
              </a:srgbClr>
            </a:outerShdw>
          </a:effectLst>
        </p:spPr>
      </p:sp>
      <p:sp>
        <p:nvSpPr>
          <p:cNvPr id="17" name="Text 15"/>
          <p:cNvSpPr/>
          <p:nvPr/>
        </p:nvSpPr>
        <p:spPr>
          <a:xfrm>
            <a:off x="6867144" y="676656"/>
            <a:ext cx="2084832" cy="475488"/>
          </a:xfrm>
          <a:prstGeom prst="rect">
            <a:avLst/>
          </a:prstGeom>
          <a:noFill/>
          <a:ln/>
        </p:spPr>
        <p:txBody>
          <a:bodyPr wrap="square" lIns="0" tIns="0" rIns="0" bIns="0" rtlCol="0" anchor="ctr"/>
          <a:lstStyle/>
          <a:p>
            <a:pPr marL="0" indent="0" algn="ctr">
              <a:buNone/>
            </a:pPr>
            <a:r>
              <a:rPr lang="en-US" sz="2600" b="1" dirty="0">
                <a:solidFill>
                  <a:srgbClr val="FFFFFF"/>
                </a:solidFill>
                <a:latin typeface="Calibri" pitchFamily="34" charset="0"/>
                <a:ea typeface="Calibri" pitchFamily="34" charset="-122"/>
                <a:cs typeface="Calibri" pitchFamily="34" charset="-120"/>
              </a:rPr>
              <a:t>156m</a:t>
            </a:r>
            <a:endParaRPr lang="en-US" sz="2600" dirty="0"/>
          </a:p>
        </p:txBody>
      </p:sp>
      <p:sp>
        <p:nvSpPr>
          <p:cNvPr id="18" name="Text 16"/>
          <p:cNvSpPr/>
          <p:nvPr/>
        </p:nvSpPr>
        <p:spPr>
          <a:xfrm>
            <a:off x="6867144" y="1152144"/>
            <a:ext cx="2084832" cy="320040"/>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Median Survival</a:t>
            </a:r>
            <a:endParaRPr lang="en-US" sz="1000" dirty="0"/>
          </a:p>
        </p:txBody>
      </p:sp>
      <p:sp>
        <p:nvSpPr>
          <p:cNvPr id="19" name="Shape 17"/>
          <p:cNvSpPr/>
          <p:nvPr/>
        </p:nvSpPr>
        <p:spPr>
          <a:xfrm>
            <a:off x="228600" y="1627632"/>
            <a:ext cx="4206240" cy="3291840"/>
          </a:xfrm>
          <a:prstGeom prst="rect">
            <a:avLst/>
          </a:prstGeom>
          <a:solidFill>
            <a:srgbClr val="FFFFFF"/>
          </a:solidFill>
          <a:ln w="12700">
            <a:solidFill>
              <a:srgbClr val="C5D5DE"/>
            </a:solidFill>
            <a:prstDash val="solid"/>
          </a:ln>
          <a:effectLst>
            <a:outerShdw blurRad="50800" dist="25400" dir="8100000" algn="bl" rotWithShape="0">
              <a:srgbClr val="000000">
                <a:alpha val="8000"/>
              </a:srgbClr>
            </a:outerShdw>
          </a:effectLst>
        </p:spPr>
      </p:sp>
      <p:sp>
        <p:nvSpPr>
          <p:cNvPr id="20" name="Shape 18"/>
          <p:cNvSpPr/>
          <p:nvPr/>
        </p:nvSpPr>
        <p:spPr>
          <a:xfrm>
            <a:off x="228600" y="1627632"/>
            <a:ext cx="54864" cy="3291840"/>
          </a:xfrm>
          <a:prstGeom prst="rect">
            <a:avLst/>
          </a:prstGeom>
          <a:solidFill>
            <a:srgbClr val="1B7A8A"/>
          </a:solidFill>
          <a:ln w="12700">
            <a:solidFill>
              <a:srgbClr val="1B7A8A"/>
            </a:solidFill>
            <a:prstDash val="solid"/>
          </a:ln>
        </p:spPr>
      </p:sp>
      <p:sp>
        <p:nvSpPr>
          <p:cNvPr id="21" name="Text 19"/>
          <p:cNvSpPr/>
          <p:nvPr/>
        </p:nvSpPr>
        <p:spPr>
          <a:xfrm>
            <a:off x="365760" y="1700784"/>
            <a:ext cx="3931920" cy="347472"/>
          </a:xfrm>
          <a:prstGeom prst="rect">
            <a:avLst/>
          </a:prstGeom>
          <a:noFill/>
          <a:ln/>
        </p:spPr>
        <p:txBody>
          <a:bodyPr wrap="square"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About </a:t>
            </a:r>
            <a:r>
              <a:rPr lang="en-US" sz="1300" b="1" dirty="0" smtClean="0">
                <a:solidFill>
                  <a:srgbClr val="1A2E4A"/>
                </a:solidFill>
                <a:latin typeface="Calibri" pitchFamily="34" charset="0"/>
                <a:ea typeface="Calibri" pitchFamily="34" charset="-122"/>
                <a:cs typeface="Calibri" pitchFamily="34" charset="-120"/>
              </a:rPr>
              <a:t>METABRIC : Source [</a:t>
            </a:r>
            <a:r>
              <a:rPr lang="en-US" sz="1300" b="1" dirty="0" err="1" smtClean="0">
                <a:solidFill>
                  <a:srgbClr val="1A2E4A"/>
                </a:solidFill>
                <a:latin typeface="Calibri" pitchFamily="34" charset="0"/>
                <a:ea typeface="Calibri" pitchFamily="34" charset="-122"/>
                <a:cs typeface="Calibri" pitchFamily="34" charset="-120"/>
                <a:hlinkClick r:id="rId3"/>
              </a:rPr>
              <a:t>Download_Dataset</a:t>
            </a:r>
            <a:r>
              <a:rPr lang="en-US" sz="1300" b="1" dirty="0" smtClean="0">
                <a:solidFill>
                  <a:srgbClr val="1A2E4A"/>
                </a:solidFill>
                <a:latin typeface="Calibri" pitchFamily="34" charset="0"/>
                <a:ea typeface="Calibri" pitchFamily="34" charset="-122"/>
                <a:cs typeface="Calibri" pitchFamily="34" charset="-120"/>
              </a:rPr>
              <a:t>]</a:t>
            </a:r>
            <a:endParaRPr lang="en-US" sz="1300" dirty="0"/>
          </a:p>
        </p:txBody>
      </p:sp>
      <p:sp>
        <p:nvSpPr>
          <p:cNvPr id="22" name="Text 20"/>
          <p:cNvSpPr/>
          <p:nvPr/>
        </p:nvSpPr>
        <p:spPr>
          <a:xfrm>
            <a:off x="347472" y="2103120"/>
            <a:ext cx="3931920" cy="34747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  Published: Curtis et al., Nature (2012)</a:t>
            </a:r>
            <a:endParaRPr lang="en-US" sz="1050" dirty="0"/>
          </a:p>
        </p:txBody>
      </p:sp>
      <p:sp>
        <p:nvSpPr>
          <p:cNvPr id="23" name="Text 21"/>
          <p:cNvSpPr/>
          <p:nvPr/>
        </p:nvSpPr>
        <p:spPr>
          <a:xfrm>
            <a:off x="347472" y="2505456"/>
            <a:ext cx="3931920" cy="34747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  Original dataset: 2,509 breast cancer patients</a:t>
            </a:r>
            <a:endParaRPr lang="en-US" sz="1050" dirty="0"/>
          </a:p>
        </p:txBody>
      </p:sp>
      <p:sp>
        <p:nvSpPr>
          <p:cNvPr id="24" name="Text 22"/>
          <p:cNvSpPr/>
          <p:nvPr/>
        </p:nvSpPr>
        <p:spPr>
          <a:xfrm>
            <a:off x="347472" y="2907792"/>
            <a:ext cx="3931920" cy="34747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  34 clinical and genomic variables</a:t>
            </a:r>
            <a:endParaRPr lang="en-US" sz="1050" dirty="0"/>
          </a:p>
        </p:txBody>
      </p:sp>
      <p:sp>
        <p:nvSpPr>
          <p:cNvPr id="25" name="Text 23"/>
          <p:cNvSpPr/>
          <p:nvPr/>
        </p:nvSpPr>
        <p:spPr>
          <a:xfrm>
            <a:off x="347472" y="3310128"/>
            <a:ext cx="3931920" cy="34747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  Filtered to 1,981 with complete OS data</a:t>
            </a:r>
            <a:endParaRPr lang="en-US" sz="1050" dirty="0"/>
          </a:p>
        </p:txBody>
      </p:sp>
      <p:sp>
        <p:nvSpPr>
          <p:cNvPr id="26" name="Text 24"/>
          <p:cNvSpPr/>
          <p:nvPr/>
        </p:nvSpPr>
        <p:spPr>
          <a:xfrm>
            <a:off x="347472" y="3712464"/>
            <a:ext cx="3931920" cy="34747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  Follow-up: 0 to 355 months (≈ 30 years)</a:t>
            </a:r>
            <a:endParaRPr lang="en-US" sz="1050" dirty="0"/>
          </a:p>
        </p:txBody>
      </p:sp>
      <p:sp>
        <p:nvSpPr>
          <p:cNvPr id="27" name="Text 25"/>
          <p:cNvSpPr/>
          <p:nvPr/>
        </p:nvSpPr>
        <p:spPr>
          <a:xfrm>
            <a:off x="347472" y="4114800"/>
            <a:ext cx="3931920" cy="34747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  Dataset includes: clinical, treatment, and biomarker variables</a:t>
            </a:r>
            <a:endParaRPr lang="en-US" sz="1050" dirty="0"/>
          </a:p>
        </p:txBody>
      </p:sp>
      <p:sp>
        <p:nvSpPr>
          <p:cNvPr id="28" name="Text 26"/>
          <p:cNvSpPr/>
          <p:nvPr/>
        </p:nvSpPr>
        <p:spPr>
          <a:xfrm>
            <a:off x="347472" y="4517136"/>
            <a:ext cx="3931920" cy="34747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  Reference standard in breast cancer research</a:t>
            </a:r>
            <a:endParaRPr lang="en-US" sz="1050" dirty="0"/>
          </a:p>
        </p:txBody>
      </p:sp>
      <p:sp>
        <p:nvSpPr>
          <p:cNvPr id="29" name="Shape 27"/>
          <p:cNvSpPr/>
          <p:nvPr/>
        </p:nvSpPr>
        <p:spPr>
          <a:xfrm>
            <a:off x="4663440" y="1627632"/>
            <a:ext cx="4251960" cy="3291840"/>
          </a:xfrm>
          <a:prstGeom prst="rect">
            <a:avLst/>
          </a:prstGeom>
          <a:solidFill>
            <a:srgbClr val="FFFFFF"/>
          </a:solidFill>
          <a:ln w="12700">
            <a:solidFill>
              <a:srgbClr val="C5D5DE"/>
            </a:solidFill>
            <a:prstDash val="solid"/>
          </a:ln>
          <a:effectLst>
            <a:outerShdw blurRad="50800" dist="25400" dir="8100000" algn="bl" rotWithShape="0">
              <a:srgbClr val="000000">
                <a:alpha val="8000"/>
              </a:srgbClr>
            </a:outerShdw>
          </a:effectLst>
        </p:spPr>
      </p:sp>
      <p:sp>
        <p:nvSpPr>
          <p:cNvPr id="30" name="Shape 28"/>
          <p:cNvSpPr/>
          <p:nvPr/>
        </p:nvSpPr>
        <p:spPr>
          <a:xfrm>
            <a:off x="4663440" y="1627632"/>
            <a:ext cx="54864" cy="3291840"/>
          </a:xfrm>
          <a:prstGeom prst="rect">
            <a:avLst/>
          </a:prstGeom>
          <a:solidFill>
            <a:srgbClr val="B5304B"/>
          </a:solidFill>
          <a:ln w="12700">
            <a:solidFill>
              <a:srgbClr val="B5304B"/>
            </a:solidFill>
            <a:prstDash val="solid"/>
          </a:ln>
        </p:spPr>
      </p:sp>
      <p:sp>
        <p:nvSpPr>
          <p:cNvPr id="31" name="Text 29"/>
          <p:cNvSpPr/>
          <p:nvPr/>
        </p:nvSpPr>
        <p:spPr>
          <a:xfrm>
            <a:off x="4800600" y="1700784"/>
            <a:ext cx="3931920" cy="347472"/>
          </a:xfrm>
          <a:prstGeom prst="rect">
            <a:avLst/>
          </a:prstGeom>
          <a:noFill/>
          <a:ln/>
        </p:spPr>
        <p:txBody>
          <a:bodyPr wrap="square"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Variables Used in Analysis</a:t>
            </a:r>
            <a:endParaRPr lang="en-US" sz="1300" dirty="0"/>
          </a:p>
        </p:txBody>
      </p:sp>
      <p:sp>
        <p:nvSpPr>
          <p:cNvPr id="32" name="Shape 30"/>
          <p:cNvSpPr/>
          <p:nvPr/>
        </p:nvSpPr>
        <p:spPr>
          <a:xfrm>
            <a:off x="4736592" y="2148840"/>
            <a:ext cx="1051560" cy="347472"/>
          </a:xfrm>
          <a:prstGeom prst="rect">
            <a:avLst/>
          </a:prstGeom>
          <a:solidFill>
            <a:srgbClr val="1A2E4A"/>
          </a:solidFill>
          <a:ln w="12700">
            <a:solidFill>
              <a:srgbClr val="1A2E4A"/>
            </a:solidFill>
            <a:prstDash val="solid"/>
          </a:ln>
        </p:spPr>
      </p:sp>
      <p:sp>
        <p:nvSpPr>
          <p:cNvPr id="33" name="Text 31"/>
          <p:cNvSpPr/>
          <p:nvPr/>
        </p:nvSpPr>
        <p:spPr>
          <a:xfrm>
            <a:off x="4736592" y="2148840"/>
            <a:ext cx="1051560"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Continuous</a:t>
            </a:r>
            <a:endParaRPr lang="en-US" sz="950" dirty="0"/>
          </a:p>
        </p:txBody>
      </p:sp>
      <p:sp>
        <p:nvSpPr>
          <p:cNvPr id="34" name="Text 32"/>
          <p:cNvSpPr/>
          <p:nvPr/>
        </p:nvSpPr>
        <p:spPr>
          <a:xfrm>
            <a:off x="5833872" y="2148840"/>
            <a:ext cx="3017520" cy="347472"/>
          </a:xfrm>
          <a:prstGeom prst="rect">
            <a:avLst/>
          </a:prstGeom>
          <a:noFill/>
          <a:ln/>
        </p:spPr>
        <p:txBody>
          <a:bodyPr wrap="square" rtlCol="0" anchor="ctr"/>
          <a:lstStyle/>
          <a:p>
            <a:pPr marL="0" indent="0">
              <a:buNone/>
            </a:pPr>
            <a:r>
              <a:rPr lang="en-US" sz="1000" dirty="0">
                <a:solidFill>
                  <a:srgbClr val="1A2E4A"/>
                </a:solidFill>
                <a:latin typeface="Calibri" pitchFamily="34" charset="0"/>
                <a:ea typeface="Calibri" pitchFamily="34" charset="-122"/>
                <a:cs typeface="Calibri" pitchFamily="34" charset="-120"/>
              </a:rPr>
              <a:t>Age at diagnosis, Tumor size, Lymph nodes (+ve)</a:t>
            </a:r>
            <a:endParaRPr lang="en-US" sz="1000" dirty="0"/>
          </a:p>
        </p:txBody>
      </p:sp>
      <p:sp>
        <p:nvSpPr>
          <p:cNvPr id="35" name="Shape 33"/>
          <p:cNvSpPr/>
          <p:nvPr/>
        </p:nvSpPr>
        <p:spPr>
          <a:xfrm>
            <a:off x="4736592" y="2697480"/>
            <a:ext cx="1051560" cy="347472"/>
          </a:xfrm>
          <a:prstGeom prst="rect">
            <a:avLst/>
          </a:prstGeom>
          <a:solidFill>
            <a:srgbClr val="1A2E4A"/>
          </a:solidFill>
          <a:ln w="12700">
            <a:solidFill>
              <a:srgbClr val="1A2E4A"/>
            </a:solidFill>
            <a:prstDash val="solid"/>
          </a:ln>
        </p:spPr>
      </p:sp>
      <p:sp>
        <p:nvSpPr>
          <p:cNvPr id="36" name="Text 34"/>
          <p:cNvSpPr/>
          <p:nvPr/>
        </p:nvSpPr>
        <p:spPr>
          <a:xfrm>
            <a:off x="4736592" y="2697480"/>
            <a:ext cx="1051560"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Categorical</a:t>
            </a:r>
            <a:endParaRPr lang="en-US" sz="950" dirty="0"/>
          </a:p>
        </p:txBody>
      </p:sp>
      <p:sp>
        <p:nvSpPr>
          <p:cNvPr id="37" name="Text 35"/>
          <p:cNvSpPr/>
          <p:nvPr/>
        </p:nvSpPr>
        <p:spPr>
          <a:xfrm>
            <a:off x="5833872" y="2697480"/>
            <a:ext cx="3017520" cy="347472"/>
          </a:xfrm>
          <a:prstGeom prst="rect">
            <a:avLst/>
          </a:prstGeom>
          <a:noFill/>
          <a:ln/>
        </p:spPr>
        <p:txBody>
          <a:bodyPr wrap="square" rtlCol="0" anchor="ctr"/>
          <a:lstStyle/>
          <a:p>
            <a:pPr marL="0" indent="0">
              <a:buNone/>
            </a:pPr>
            <a:r>
              <a:rPr lang="en-US" sz="1000" dirty="0">
                <a:solidFill>
                  <a:srgbClr val="1A2E4A"/>
                </a:solidFill>
                <a:latin typeface="Calibri" pitchFamily="34" charset="0"/>
                <a:ea typeface="Calibri" pitchFamily="34" charset="-122"/>
                <a:cs typeface="Calibri" pitchFamily="34" charset="-120"/>
              </a:rPr>
              <a:t>ER, PR, HER2 status; Tumor stage; Histologic grade</a:t>
            </a:r>
            <a:endParaRPr lang="en-US" sz="1000" dirty="0"/>
          </a:p>
        </p:txBody>
      </p:sp>
      <p:sp>
        <p:nvSpPr>
          <p:cNvPr id="38" name="Shape 36"/>
          <p:cNvSpPr/>
          <p:nvPr/>
        </p:nvSpPr>
        <p:spPr>
          <a:xfrm>
            <a:off x="4736592" y="3246120"/>
            <a:ext cx="1051560" cy="347472"/>
          </a:xfrm>
          <a:prstGeom prst="rect">
            <a:avLst/>
          </a:prstGeom>
          <a:solidFill>
            <a:srgbClr val="1A2E4A"/>
          </a:solidFill>
          <a:ln w="12700">
            <a:solidFill>
              <a:srgbClr val="1A2E4A"/>
            </a:solidFill>
            <a:prstDash val="solid"/>
          </a:ln>
        </p:spPr>
      </p:sp>
      <p:sp>
        <p:nvSpPr>
          <p:cNvPr id="39" name="Text 37"/>
          <p:cNvSpPr/>
          <p:nvPr/>
        </p:nvSpPr>
        <p:spPr>
          <a:xfrm>
            <a:off x="4736592" y="3246120"/>
            <a:ext cx="1051560"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Treatment</a:t>
            </a:r>
            <a:endParaRPr lang="en-US" sz="950" dirty="0"/>
          </a:p>
        </p:txBody>
      </p:sp>
      <p:sp>
        <p:nvSpPr>
          <p:cNvPr id="40" name="Text 38"/>
          <p:cNvSpPr/>
          <p:nvPr/>
        </p:nvSpPr>
        <p:spPr>
          <a:xfrm>
            <a:off x="5833872" y="3246120"/>
            <a:ext cx="3017520" cy="347472"/>
          </a:xfrm>
          <a:prstGeom prst="rect">
            <a:avLst/>
          </a:prstGeom>
          <a:noFill/>
          <a:ln/>
        </p:spPr>
        <p:txBody>
          <a:bodyPr wrap="square" rtlCol="0" anchor="ctr"/>
          <a:lstStyle/>
          <a:p>
            <a:pPr marL="0" indent="0">
              <a:buNone/>
            </a:pPr>
            <a:r>
              <a:rPr lang="en-US" sz="1000" dirty="0">
                <a:solidFill>
                  <a:srgbClr val="1A2E4A"/>
                </a:solidFill>
                <a:latin typeface="Calibri" pitchFamily="34" charset="0"/>
                <a:ea typeface="Calibri" pitchFamily="34" charset="-122"/>
                <a:cs typeface="Calibri" pitchFamily="34" charset="-120"/>
              </a:rPr>
              <a:t>Chemotherapy, Hormone therapy, Radiotherapy</a:t>
            </a:r>
            <a:endParaRPr lang="en-US" sz="1000" dirty="0"/>
          </a:p>
        </p:txBody>
      </p:sp>
      <p:sp>
        <p:nvSpPr>
          <p:cNvPr id="41" name="Shape 39"/>
          <p:cNvSpPr/>
          <p:nvPr/>
        </p:nvSpPr>
        <p:spPr>
          <a:xfrm>
            <a:off x="4736592" y="3794760"/>
            <a:ext cx="1051560" cy="347472"/>
          </a:xfrm>
          <a:prstGeom prst="rect">
            <a:avLst/>
          </a:prstGeom>
          <a:solidFill>
            <a:srgbClr val="1A2E4A"/>
          </a:solidFill>
          <a:ln w="12700">
            <a:solidFill>
              <a:srgbClr val="1A2E4A"/>
            </a:solidFill>
            <a:prstDash val="solid"/>
          </a:ln>
        </p:spPr>
      </p:sp>
      <p:sp>
        <p:nvSpPr>
          <p:cNvPr id="42" name="Text 40"/>
          <p:cNvSpPr/>
          <p:nvPr/>
        </p:nvSpPr>
        <p:spPr>
          <a:xfrm>
            <a:off x="4736592" y="3794760"/>
            <a:ext cx="1051560"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Outcome</a:t>
            </a:r>
            <a:endParaRPr lang="en-US" sz="950" dirty="0"/>
          </a:p>
        </p:txBody>
      </p:sp>
      <p:sp>
        <p:nvSpPr>
          <p:cNvPr id="43" name="Text 41"/>
          <p:cNvSpPr/>
          <p:nvPr/>
        </p:nvSpPr>
        <p:spPr>
          <a:xfrm>
            <a:off x="5833872" y="3794760"/>
            <a:ext cx="3017520" cy="347472"/>
          </a:xfrm>
          <a:prstGeom prst="rect">
            <a:avLst/>
          </a:prstGeom>
          <a:noFill/>
          <a:ln/>
        </p:spPr>
        <p:txBody>
          <a:bodyPr wrap="square" rtlCol="0" anchor="ctr"/>
          <a:lstStyle/>
          <a:p>
            <a:pPr marL="0" indent="0">
              <a:buNone/>
            </a:pPr>
            <a:r>
              <a:rPr lang="en-US" sz="1000" dirty="0">
                <a:solidFill>
                  <a:srgbClr val="1A2E4A"/>
                </a:solidFill>
                <a:latin typeface="Calibri" pitchFamily="34" charset="0"/>
                <a:ea typeface="Calibri" pitchFamily="34" charset="-122"/>
                <a:cs typeface="Calibri" pitchFamily="34" charset="-120"/>
              </a:rPr>
              <a:t>Overall survival months + Status (Dead/Alive)</a:t>
            </a:r>
            <a:endParaRPr lang="en-US" sz="1000" dirty="0"/>
          </a:p>
        </p:txBody>
      </p:sp>
      <p:sp>
        <p:nvSpPr>
          <p:cNvPr id="44" name="Shape 42"/>
          <p:cNvSpPr/>
          <p:nvPr/>
        </p:nvSpPr>
        <p:spPr>
          <a:xfrm>
            <a:off x="4736592" y="4343400"/>
            <a:ext cx="1051560" cy="347472"/>
          </a:xfrm>
          <a:prstGeom prst="rect">
            <a:avLst/>
          </a:prstGeom>
          <a:solidFill>
            <a:srgbClr val="1A2E4A"/>
          </a:solidFill>
          <a:ln w="12700">
            <a:solidFill>
              <a:srgbClr val="1A2E4A"/>
            </a:solidFill>
            <a:prstDash val="solid"/>
          </a:ln>
        </p:spPr>
      </p:sp>
      <p:sp>
        <p:nvSpPr>
          <p:cNvPr id="45" name="Text 43"/>
          <p:cNvSpPr/>
          <p:nvPr/>
        </p:nvSpPr>
        <p:spPr>
          <a:xfrm>
            <a:off x="4736592" y="4343400"/>
            <a:ext cx="1051560" cy="347472"/>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Missing</a:t>
            </a:r>
            <a:endParaRPr lang="en-US" sz="950" dirty="0"/>
          </a:p>
        </p:txBody>
      </p:sp>
      <p:sp>
        <p:nvSpPr>
          <p:cNvPr id="46" name="Text 44"/>
          <p:cNvSpPr/>
          <p:nvPr/>
        </p:nvSpPr>
        <p:spPr>
          <a:xfrm>
            <a:off x="5833872" y="4343400"/>
            <a:ext cx="3017520" cy="347472"/>
          </a:xfrm>
          <a:prstGeom prst="rect">
            <a:avLst/>
          </a:prstGeom>
          <a:noFill/>
          <a:ln/>
        </p:spPr>
        <p:txBody>
          <a:bodyPr wrap="square" rtlCol="0" anchor="ctr"/>
          <a:lstStyle/>
          <a:p>
            <a:pPr marL="0" indent="0">
              <a:buNone/>
            </a:pPr>
            <a:r>
              <a:rPr lang="en-US" sz="1000" dirty="0">
                <a:solidFill>
                  <a:srgbClr val="1A2E4A"/>
                </a:solidFill>
                <a:latin typeface="Calibri" pitchFamily="34" charset="0"/>
                <a:ea typeface="Calibri" pitchFamily="34" charset="-122"/>
                <a:cs typeface="Calibri" pitchFamily="34" charset="-120"/>
              </a:rPr>
              <a:t>Tumor stage: 515 (26%) missing — key limitation</a:t>
            </a:r>
            <a:endParaRPr lang="en-US" sz="10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E4A"/>
          </a:solidFill>
          <a:ln w="12700">
            <a:solidFill>
              <a:srgbClr val="1A2E4A"/>
            </a:solidFill>
            <a:prstDash val="solid"/>
          </a:ln>
        </p:spPr>
      </p:sp>
      <p:sp>
        <p:nvSpPr>
          <p:cNvPr id="3" name="Text 1"/>
          <p:cNvSpPr/>
          <p:nvPr/>
        </p:nvSpPr>
        <p:spPr>
          <a:xfrm>
            <a:off x="137160" y="7620"/>
            <a:ext cx="850392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Exploratory Data Analysis</a:t>
            </a:r>
            <a:endParaRPr lang="en-US" sz="1600" dirty="0"/>
          </a:p>
        </p:txBody>
      </p:sp>
      <p:sp>
        <p:nvSpPr>
          <p:cNvPr id="4" name="Shape 2"/>
          <p:cNvSpPr/>
          <p:nvPr/>
        </p:nvSpPr>
        <p:spPr>
          <a:xfrm>
            <a:off x="0" y="502920"/>
            <a:ext cx="9144000" cy="36576"/>
          </a:xfrm>
          <a:prstGeom prst="rect">
            <a:avLst/>
          </a:prstGeom>
          <a:solidFill>
            <a:srgbClr val="1B7A8A"/>
          </a:solidFill>
          <a:ln w="12700">
            <a:solidFill>
              <a:srgbClr val="1B7A8A"/>
            </a:solidFill>
            <a:prstDash val="solid"/>
          </a:ln>
        </p:spPr>
      </p:sp>
      <p:sp>
        <p:nvSpPr>
          <p:cNvPr id="5" name="Shape 3"/>
          <p:cNvSpPr/>
          <p:nvPr/>
        </p:nvSpPr>
        <p:spPr>
          <a:xfrm>
            <a:off x="0" y="5093208"/>
            <a:ext cx="9144000" cy="50292"/>
          </a:xfrm>
          <a:prstGeom prst="rect">
            <a:avLst/>
          </a:prstGeom>
          <a:solidFill>
            <a:srgbClr val="1B7A8A"/>
          </a:solidFill>
          <a:ln w="12700">
            <a:solidFill>
              <a:srgbClr val="1B7A8A"/>
            </a:solidFill>
            <a:prstDash val="solid"/>
          </a:ln>
        </p:spPr>
      </p:sp>
      <p:pic>
        <p:nvPicPr>
          <p:cNvPr id="7" name="Image 0" descr="preencoded.png"/>
          <p:cNvPicPr>
            <a:picLocks noChangeAspect="1"/>
          </p:cNvPicPr>
          <p:nvPr/>
        </p:nvPicPr>
        <p:blipFill>
          <a:blip r:embed="rId3"/>
          <a:stretch>
            <a:fillRect/>
          </a:stretch>
        </p:blipFill>
        <p:spPr>
          <a:xfrm>
            <a:off x="320040" y="662940"/>
            <a:ext cx="2103120" cy="1645920"/>
          </a:xfrm>
          <a:prstGeom prst="rect">
            <a:avLst/>
          </a:prstGeom>
        </p:spPr>
      </p:pic>
      <p:pic>
        <p:nvPicPr>
          <p:cNvPr id="8" name="Image 1" descr="preencoded.png"/>
          <p:cNvPicPr>
            <a:picLocks noChangeAspect="1"/>
          </p:cNvPicPr>
          <p:nvPr/>
        </p:nvPicPr>
        <p:blipFill>
          <a:blip r:embed="rId4"/>
          <a:stretch>
            <a:fillRect/>
          </a:stretch>
        </p:blipFill>
        <p:spPr>
          <a:xfrm>
            <a:off x="2423160" y="685800"/>
            <a:ext cx="2103120" cy="1645920"/>
          </a:xfrm>
          <a:prstGeom prst="rect">
            <a:avLst/>
          </a:prstGeom>
        </p:spPr>
      </p:pic>
      <p:pic>
        <p:nvPicPr>
          <p:cNvPr id="9" name="Image 2" descr="preencoded.png"/>
          <p:cNvPicPr>
            <a:picLocks noChangeAspect="1"/>
          </p:cNvPicPr>
          <p:nvPr/>
        </p:nvPicPr>
        <p:blipFill>
          <a:blip r:embed="rId5"/>
          <a:stretch>
            <a:fillRect/>
          </a:stretch>
        </p:blipFill>
        <p:spPr>
          <a:xfrm>
            <a:off x="4617720" y="685800"/>
            <a:ext cx="2103120" cy="1645920"/>
          </a:xfrm>
          <a:prstGeom prst="rect">
            <a:avLst/>
          </a:prstGeom>
        </p:spPr>
      </p:pic>
      <p:pic>
        <p:nvPicPr>
          <p:cNvPr id="10" name="Image 3" descr="preencoded.png"/>
          <p:cNvPicPr>
            <a:picLocks noChangeAspect="1"/>
          </p:cNvPicPr>
          <p:nvPr/>
        </p:nvPicPr>
        <p:blipFill>
          <a:blip r:embed="rId6"/>
          <a:stretch>
            <a:fillRect/>
          </a:stretch>
        </p:blipFill>
        <p:spPr>
          <a:xfrm>
            <a:off x="6812280" y="685800"/>
            <a:ext cx="2084832" cy="1645920"/>
          </a:xfrm>
          <a:prstGeom prst="rect">
            <a:avLst/>
          </a:prstGeom>
        </p:spPr>
      </p:pic>
      <p:sp>
        <p:nvSpPr>
          <p:cNvPr id="11" name="Text 5"/>
          <p:cNvSpPr/>
          <p:nvPr/>
        </p:nvSpPr>
        <p:spPr>
          <a:xfrm>
            <a:off x="228600" y="2331720"/>
            <a:ext cx="2057400" cy="256032"/>
          </a:xfrm>
          <a:prstGeom prst="rect">
            <a:avLst/>
          </a:prstGeom>
          <a:noFill/>
          <a:ln/>
        </p:spPr>
        <p:txBody>
          <a:bodyPr wrap="square" rtlCol="0" anchor="ctr"/>
          <a:lstStyle/>
          <a:p>
            <a:pPr marL="0" indent="0" algn="ctr">
              <a:buNone/>
            </a:pPr>
            <a:r>
              <a:rPr lang="en-US" sz="900" i="1" dirty="0">
                <a:solidFill>
                  <a:srgbClr val="5A6A7A"/>
                </a:solidFill>
                <a:latin typeface="Calibri" pitchFamily="34" charset="0"/>
                <a:ea typeface="Calibri" pitchFamily="34" charset="-122"/>
                <a:cs typeface="Calibri" pitchFamily="34" charset="-120"/>
              </a:rPr>
              <a:t>Age Distribution</a:t>
            </a:r>
            <a:endParaRPr lang="en-US" sz="900" dirty="0"/>
          </a:p>
        </p:txBody>
      </p:sp>
      <p:sp>
        <p:nvSpPr>
          <p:cNvPr id="12" name="Text 6"/>
          <p:cNvSpPr/>
          <p:nvPr/>
        </p:nvSpPr>
        <p:spPr>
          <a:xfrm>
            <a:off x="2423160" y="2331720"/>
            <a:ext cx="2057400" cy="256032"/>
          </a:xfrm>
          <a:prstGeom prst="rect">
            <a:avLst/>
          </a:prstGeom>
          <a:noFill/>
          <a:ln/>
        </p:spPr>
        <p:txBody>
          <a:bodyPr wrap="square" rtlCol="0" anchor="ctr"/>
          <a:lstStyle/>
          <a:p>
            <a:pPr marL="0" indent="0" algn="ctr">
              <a:buNone/>
            </a:pPr>
            <a:r>
              <a:rPr lang="en-US" sz="900" i="1" dirty="0">
                <a:solidFill>
                  <a:srgbClr val="5A6A7A"/>
                </a:solidFill>
                <a:latin typeface="Calibri" pitchFamily="34" charset="0"/>
                <a:ea typeface="Calibri" pitchFamily="34" charset="-122"/>
                <a:cs typeface="Calibri" pitchFamily="34" charset="-120"/>
              </a:rPr>
              <a:t>Tumor Size Distribution</a:t>
            </a:r>
            <a:endParaRPr lang="en-US" sz="900" dirty="0"/>
          </a:p>
        </p:txBody>
      </p:sp>
      <p:sp>
        <p:nvSpPr>
          <p:cNvPr id="13" name="Text 7"/>
          <p:cNvSpPr/>
          <p:nvPr/>
        </p:nvSpPr>
        <p:spPr>
          <a:xfrm>
            <a:off x="4617720" y="2331720"/>
            <a:ext cx="2057400" cy="256032"/>
          </a:xfrm>
          <a:prstGeom prst="rect">
            <a:avLst/>
          </a:prstGeom>
          <a:noFill/>
          <a:ln/>
        </p:spPr>
        <p:txBody>
          <a:bodyPr wrap="square" rtlCol="0" anchor="ctr"/>
          <a:lstStyle/>
          <a:p>
            <a:pPr marL="0" indent="0" algn="ctr">
              <a:buNone/>
            </a:pPr>
            <a:r>
              <a:rPr lang="en-US" sz="900" i="1" dirty="0">
                <a:solidFill>
                  <a:srgbClr val="5A6A7A"/>
                </a:solidFill>
                <a:latin typeface="Calibri" pitchFamily="34" charset="0"/>
                <a:ea typeface="Calibri" pitchFamily="34" charset="-122"/>
                <a:cs typeface="Calibri" pitchFamily="34" charset="-120"/>
              </a:rPr>
              <a:t>Lymph Nodes Distribution</a:t>
            </a:r>
            <a:endParaRPr lang="en-US" sz="900" dirty="0"/>
          </a:p>
        </p:txBody>
      </p:sp>
      <p:sp>
        <p:nvSpPr>
          <p:cNvPr id="14" name="Text 8"/>
          <p:cNvSpPr/>
          <p:nvPr/>
        </p:nvSpPr>
        <p:spPr>
          <a:xfrm>
            <a:off x="6812280" y="2331720"/>
            <a:ext cx="2057400" cy="256032"/>
          </a:xfrm>
          <a:prstGeom prst="rect">
            <a:avLst/>
          </a:prstGeom>
          <a:noFill/>
          <a:ln/>
        </p:spPr>
        <p:txBody>
          <a:bodyPr wrap="square" rtlCol="0" anchor="ctr"/>
          <a:lstStyle/>
          <a:p>
            <a:pPr marL="0" indent="0" algn="ctr">
              <a:buNone/>
            </a:pPr>
            <a:r>
              <a:rPr lang="en-US" sz="900" i="1" dirty="0">
                <a:solidFill>
                  <a:srgbClr val="5A6A7A"/>
                </a:solidFill>
                <a:latin typeface="Calibri" pitchFamily="34" charset="0"/>
                <a:ea typeface="Calibri" pitchFamily="34" charset="-122"/>
                <a:cs typeface="Calibri" pitchFamily="34" charset="-120"/>
              </a:rPr>
              <a:t>ER Status (Bar)</a:t>
            </a:r>
            <a:endParaRPr lang="en-US" sz="900" dirty="0"/>
          </a:p>
        </p:txBody>
      </p:sp>
      <p:sp>
        <p:nvSpPr>
          <p:cNvPr id="15" name="Shape 9"/>
          <p:cNvSpPr/>
          <p:nvPr/>
        </p:nvSpPr>
        <p:spPr>
          <a:xfrm>
            <a:off x="228600" y="2651760"/>
            <a:ext cx="2194560" cy="274320"/>
          </a:xfrm>
          <a:prstGeom prst="rect">
            <a:avLst/>
          </a:prstGeom>
          <a:solidFill>
            <a:srgbClr val="1A2E4A"/>
          </a:solidFill>
          <a:ln w="12700">
            <a:solidFill>
              <a:srgbClr val="C5D5DE"/>
            </a:solidFill>
            <a:prstDash val="solid"/>
          </a:ln>
        </p:spPr>
      </p:sp>
      <p:sp>
        <p:nvSpPr>
          <p:cNvPr id="16" name="Text 10"/>
          <p:cNvSpPr/>
          <p:nvPr/>
        </p:nvSpPr>
        <p:spPr>
          <a:xfrm>
            <a:off x="292608" y="2651760"/>
            <a:ext cx="2084832"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p>
        </p:txBody>
      </p:sp>
      <p:sp>
        <p:nvSpPr>
          <p:cNvPr id="17" name="Shape 11"/>
          <p:cNvSpPr/>
          <p:nvPr/>
        </p:nvSpPr>
        <p:spPr>
          <a:xfrm>
            <a:off x="2423160" y="2651760"/>
            <a:ext cx="1371600" cy="274320"/>
          </a:xfrm>
          <a:prstGeom prst="rect">
            <a:avLst/>
          </a:prstGeom>
          <a:solidFill>
            <a:srgbClr val="1A2E4A"/>
          </a:solidFill>
          <a:ln w="12700">
            <a:solidFill>
              <a:srgbClr val="C5D5DE"/>
            </a:solidFill>
            <a:prstDash val="solid"/>
          </a:ln>
        </p:spPr>
      </p:sp>
      <p:sp>
        <p:nvSpPr>
          <p:cNvPr id="18" name="Text 12"/>
          <p:cNvSpPr/>
          <p:nvPr/>
        </p:nvSpPr>
        <p:spPr>
          <a:xfrm>
            <a:off x="2487168" y="2651760"/>
            <a:ext cx="1261872"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Mean / %</a:t>
            </a:r>
            <a:endParaRPr lang="en-US" sz="1100" dirty="0"/>
          </a:p>
        </p:txBody>
      </p:sp>
      <p:sp>
        <p:nvSpPr>
          <p:cNvPr id="19" name="Shape 13"/>
          <p:cNvSpPr/>
          <p:nvPr/>
        </p:nvSpPr>
        <p:spPr>
          <a:xfrm>
            <a:off x="3794760" y="2651760"/>
            <a:ext cx="1920240" cy="274320"/>
          </a:xfrm>
          <a:prstGeom prst="rect">
            <a:avLst/>
          </a:prstGeom>
          <a:solidFill>
            <a:srgbClr val="1A2E4A"/>
          </a:solidFill>
          <a:ln w="12700">
            <a:solidFill>
              <a:srgbClr val="C5D5DE"/>
            </a:solidFill>
            <a:prstDash val="solid"/>
          </a:ln>
        </p:spPr>
      </p:sp>
      <p:sp>
        <p:nvSpPr>
          <p:cNvPr id="20" name="Text 14"/>
          <p:cNvSpPr/>
          <p:nvPr/>
        </p:nvSpPr>
        <p:spPr>
          <a:xfrm>
            <a:off x="3872484" y="2623820"/>
            <a:ext cx="1810512"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Range / Category</a:t>
            </a:r>
            <a:endParaRPr lang="en-US" sz="1100" dirty="0"/>
          </a:p>
        </p:txBody>
      </p:sp>
      <p:sp>
        <p:nvSpPr>
          <p:cNvPr id="21" name="Shape 15"/>
          <p:cNvSpPr/>
          <p:nvPr/>
        </p:nvSpPr>
        <p:spPr>
          <a:xfrm>
            <a:off x="5715000" y="2651760"/>
            <a:ext cx="2926080" cy="274320"/>
          </a:xfrm>
          <a:prstGeom prst="rect">
            <a:avLst/>
          </a:prstGeom>
          <a:solidFill>
            <a:srgbClr val="1A2E4A"/>
          </a:solidFill>
          <a:ln w="12700">
            <a:solidFill>
              <a:srgbClr val="C5D5DE"/>
            </a:solidFill>
            <a:prstDash val="solid"/>
          </a:ln>
        </p:spPr>
      </p:sp>
      <p:sp>
        <p:nvSpPr>
          <p:cNvPr id="22" name="Text 16"/>
          <p:cNvSpPr/>
          <p:nvPr/>
        </p:nvSpPr>
        <p:spPr>
          <a:xfrm>
            <a:off x="5779008" y="2651760"/>
            <a:ext cx="2816352"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Notes</a:t>
            </a:r>
            <a:endParaRPr lang="en-US" sz="1100" dirty="0"/>
          </a:p>
        </p:txBody>
      </p:sp>
      <p:sp>
        <p:nvSpPr>
          <p:cNvPr id="23" name="Shape 17"/>
          <p:cNvSpPr/>
          <p:nvPr/>
        </p:nvSpPr>
        <p:spPr>
          <a:xfrm>
            <a:off x="228600" y="2926080"/>
            <a:ext cx="2194560" cy="274320"/>
          </a:xfrm>
          <a:prstGeom prst="rect">
            <a:avLst/>
          </a:prstGeom>
          <a:solidFill>
            <a:srgbClr val="FFFFFF"/>
          </a:solidFill>
          <a:ln w="12700">
            <a:solidFill>
              <a:srgbClr val="C5D5DE"/>
            </a:solidFill>
            <a:prstDash val="solid"/>
          </a:ln>
        </p:spPr>
      </p:sp>
      <p:sp>
        <p:nvSpPr>
          <p:cNvPr id="24" name="Text 18"/>
          <p:cNvSpPr/>
          <p:nvPr/>
        </p:nvSpPr>
        <p:spPr>
          <a:xfrm>
            <a:off x="292608" y="2926080"/>
            <a:ext cx="208483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Age at Diagnosis</a:t>
            </a:r>
            <a:endParaRPr lang="en-US" sz="1050" dirty="0"/>
          </a:p>
        </p:txBody>
      </p:sp>
      <p:sp>
        <p:nvSpPr>
          <p:cNvPr id="25" name="Shape 19"/>
          <p:cNvSpPr/>
          <p:nvPr/>
        </p:nvSpPr>
        <p:spPr>
          <a:xfrm>
            <a:off x="2423160" y="2926080"/>
            <a:ext cx="1371600" cy="274320"/>
          </a:xfrm>
          <a:prstGeom prst="rect">
            <a:avLst/>
          </a:prstGeom>
          <a:solidFill>
            <a:srgbClr val="FFFFFF"/>
          </a:solidFill>
          <a:ln w="12700">
            <a:solidFill>
              <a:srgbClr val="C5D5DE"/>
            </a:solidFill>
            <a:prstDash val="solid"/>
          </a:ln>
        </p:spPr>
      </p:sp>
      <p:sp>
        <p:nvSpPr>
          <p:cNvPr id="26" name="Text 20"/>
          <p:cNvSpPr/>
          <p:nvPr/>
        </p:nvSpPr>
        <p:spPr>
          <a:xfrm>
            <a:off x="2487168" y="2926080"/>
            <a:ext cx="126187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61.1 years</a:t>
            </a:r>
            <a:endParaRPr lang="en-US" sz="1050" dirty="0"/>
          </a:p>
        </p:txBody>
      </p:sp>
      <p:sp>
        <p:nvSpPr>
          <p:cNvPr id="27" name="Shape 21"/>
          <p:cNvSpPr/>
          <p:nvPr/>
        </p:nvSpPr>
        <p:spPr>
          <a:xfrm>
            <a:off x="3794760" y="2926080"/>
            <a:ext cx="1920240" cy="274320"/>
          </a:xfrm>
          <a:prstGeom prst="rect">
            <a:avLst/>
          </a:prstGeom>
          <a:solidFill>
            <a:srgbClr val="FFFFFF"/>
          </a:solidFill>
          <a:ln w="12700">
            <a:solidFill>
              <a:srgbClr val="C5D5DE"/>
            </a:solidFill>
            <a:prstDash val="solid"/>
          </a:ln>
        </p:spPr>
      </p:sp>
      <p:sp>
        <p:nvSpPr>
          <p:cNvPr id="28" name="Text 22"/>
          <p:cNvSpPr/>
          <p:nvPr/>
        </p:nvSpPr>
        <p:spPr>
          <a:xfrm>
            <a:off x="3858768" y="2926080"/>
            <a:ext cx="181051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21.9 – 96.3</a:t>
            </a:r>
            <a:endParaRPr lang="en-US" sz="1050" dirty="0"/>
          </a:p>
        </p:txBody>
      </p:sp>
      <p:sp>
        <p:nvSpPr>
          <p:cNvPr id="29" name="Shape 23"/>
          <p:cNvSpPr/>
          <p:nvPr/>
        </p:nvSpPr>
        <p:spPr>
          <a:xfrm>
            <a:off x="5715000" y="2926080"/>
            <a:ext cx="2926080" cy="274320"/>
          </a:xfrm>
          <a:prstGeom prst="rect">
            <a:avLst/>
          </a:prstGeom>
          <a:solidFill>
            <a:srgbClr val="FFFFFF"/>
          </a:solidFill>
          <a:ln w="12700">
            <a:solidFill>
              <a:srgbClr val="C5D5DE"/>
            </a:solidFill>
            <a:prstDash val="solid"/>
          </a:ln>
        </p:spPr>
      </p:sp>
      <p:sp>
        <p:nvSpPr>
          <p:cNvPr id="30" name="Text 24"/>
          <p:cNvSpPr/>
          <p:nvPr/>
        </p:nvSpPr>
        <p:spPr>
          <a:xfrm>
            <a:off x="5779008" y="2926080"/>
            <a:ext cx="281635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Older patients in majority</a:t>
            </a:r>
            <a:endParaRPr lang="en-US" sz="1050" dirty="0"/>
          </a:p>
        </p:txBody>
      </p:sp>
      <p:sp>
        <p:nvSpPr>
          <p:cNvPr id="31" name="Shape 25"/>
          <p:cNvSpPr/>
          <p:nvPr/>
        </p:nvSpPr>
        <p:spPr>
          <a:xfrm>
            <a:off x="228600" y="3200400"/>
            <a:ext cx="2194560" cy="274320"/>
          </a:xfrm>
          <a:prstGeom prst="rect">
            <a:avLst/>
          </a:prstGeom>
          <a:solidFill>
            <a:srgbClr val="EDF4F6"/>
          </a:solidFill>
          <a:ln w="12700">
            <a:solidFill>
              <a:srgbClr val="C5D5DE"/>
            </a:solidFill>
            <a:prstDash val="solid"/>
          </a:ln>
        </p:spPr>
      </p:sp>
      <p:sp>
        <p:nvSpPr>
          <p:cNvPr id="32" name="Text 26"/>
          <p:cNvSpPr/>
          <p:nvPr/>
        </p:nvSpPr>
        <p:spPr>
          <a:xfrm>
            <a:off x="292608" y="3200400"/>
            <a:ext cx="208483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Tumor Size</a:t>
            </a:r>
            <a:endParaRPr lang="en-US" sz="1050" dirty="0"/>
          </a:p>
        </p:txBody>
      </p:sp>
      <p:sp>
        <p:nvSpPr>
          <p:cNvPr id="33" name="Shape 27"/>
          <p:cNvSpPr/>
          <p:nvPr/>
        </p:nvSpPr>
        <p:spPr>
          <a:xfrm>
            <a:off x="2423160" y="3200400"/>
            <a:ext cx="1371600" cy="274320"/>
          </a:xfrm>
          <a:prstGeom prst="rect">
            <a:avLst/>
          </a:prstGeom>
          <a:solidFill>
            <a:srgbClr val="EDF4F6"/>
          </a:solidFill>
          <a:ln w="12700">
            <a:solidFill>
              <a:srgbClr val="C5D5DE"/>
            </a:solidFill>
            <a:prstDash val="solid"/>
          </a:ln>
        </p:spPr>
      </p:sp>
      <p:sp>
        <p:nvSpPr>
          <p:cNvPr id="34" name="Text 28"/>
          <p:cNvSpPr/>
          <p:nvPr/>
        </p:nvSpPr>
        <p:spPr>
          <a:xfrm>
            <a:off x="2487168" y="3200400"/>
            <a:ext cx="126187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26.3 mm</a:t>
            </a:r>
            <a:endParaRPr lang="en-US" sz="1050" dirty="0"/>
          </a:p>
        </p:txBody>
      </p:sp>
      <p:sp>
        <p:nvSpPr>
          <p:cNvPr id="35" name="Shape 29"/>
          <p:cNvSpPr/>
          <p:nvPr/>
        </p:nvSpPr>
        <p:spPr>
          <a:xfrm>
            <a:off x="3794760" y="3200400"/>
            <a:ext cx="1920240" cy="274320"/>
          </a:xfrm>
          <a:prstGeom prst="rect">
            <a:avLst/>
          </a:prstGeom>
          <a:solidFill>
            <a:srgbClr val="EDF4F6"/>
          </a:solidFill>
          <a:ln w="12700">
            <a:solidFill>
              <a:srgbClr val="C5D5DE"/>
            </a:solidFill>
            <a:prstDash val="solid"/>
          </a:ln>
        </p:spPr>
      </p:sp>
      <p:sp>
        <p:nvSpPr>
          <p:cNvPr id="36" name="Text 30"/>
          <p:cNvSpPr/>
          <p:nvPr/>
        </p:nvSpPr>
        <p:spPr>
          <a:xfrm>
            <a:off x="3858768" y="3200400"/>
            <a:ext cx="181051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 – 182 mm</a:t>
            </a:r>
            <a:endParaRPr lang="en-US" sz="1050" dirty="0"/>
          </a:p>
        </p:txBody>
      </p:sp>
      <p:sp>
        <p:nvSpPr>
          <p:cNvPr id="37" name="Shape 31"/>
          <p:cNvSpPr/>
          <p:nvPr/>
        </p:nvSpPr>
        <p:spPr>
          <a:xfrm>
            <a:off x="5715000" y="3200400"/>
            <a:ext cx="2926080" cy="274320"/>
          </a:xfrm>
          <a:prstGeom prst="rect">
            <a:avLst/>
          </a:prstGeom>
          <a:solidFill>
            <a:srgbClr val="EDF4F6"/>
          </a:solidFill>
          <a:ln w="12700">
            <a:solidFill>
              <a:srgbClr val="C5D5DE"/>
            </a:solidFill>
            <a:prstDash val="solid"/>
          </a:ln>
        </p:spPr>
      </p:sp>
      <p:sp>
        <p:nvSpPr>
          <p:cNvPr id="38" name="Text 32"/>
          <p:cNvSpPr/>
          <p:nvPr/>
        </p:nvSpPr>
        <p:spPr>
          <a:xfrm>
            <a:off x="5779008" y="3200400"/>
            <a:ext cx="281635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Right skewed distribution</a:t>
            </a:r>
            <a:endParaRPr lang="en-US" sz="1050" dirty="0"/>
          </a:p>
        </p:txBody>
      </p:sp>
      <p:sp>
        <p:nvSpPr>
          <p:cNvPr id="39" name="Shape 33"/>
          <p:cNvSpPr/>
          <p:nvPr/>
        </p:nvSpPr>
        <p:spPr>
          <a:xfrm>
            <a:off x="228600" y="3474720"/>
            <a:ext cx="2194560" cy="274320"/>
          </a:xfrm>
          <a:prstGeom prst="rect">
            <a:avLst/>
          </a:prstGeom>
          <a:solidFill>
            <a:srgbClr val="FFFFFF"/>
          </a:solidFill>
          <a:ln w="12700">
            <a:solidFill>
              <a:srgbClr val="C5D5DE"/>
            </a:solidFill>
            <a:prstDash val="solid"/>
          </a:ln>
        </p:spPr>
      </p:sp>
      <p:sp>
        <p:nvSpPr>
          <p:cNvPr id="40" name="Text 34"/>
          <p:cNvSpPr/>
          <p:nvPr/>
        </p:nvSpPr>
        <p:spPr>
          <a:xfrm>
            <a:off x="292608" y="3474720"/>
            <a:ext cx="208483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Lymph Nodes (+ve)</a:t>
            </a:r>
            <a:endParaRPr lang="en-US" sz="1050" dirty="0"/>
          </a:p>
        </p:txBody>
      </p:sp>
      <p:sp>
        <p:nvSpPr>
          <p:cNvPr id="41" name="Shape 35"/>
          <p:cNvSpPr/>
          <p:nvPr/>
        </p:nvSpPr>
        <p:spPr>
          <a:xfrm>
            <a:off x="2423160" y="3474720"/>
            <a:ext cx="1371600" cy="274320"/>
          </a:xfrm>
          <a:prstGeom prst="rect">
            <a:avLst/>
          </a:prstGeom>
          <a:solidFill>
            <a:srgbClr val="FFFFFF"/>
          </a:solidFill>
          <a:ln w="12700">
            <a:solidFill>
              <a:srgbClr val="C5D5DE"/>
            </a:solidFill>
            <a:prstDash val="solid"/>
          </a:ln>
        </p:spPr>
      </p:sp>
      <p:sp>
        <p:nvSpPr>
          <p:cNvPr id="42" name="Text 36"/>
          <p:cNvSpPr/>
          <p:nvPr/>
        </p:nvSpPr>
        <p:spPr>
          <a:xfrm>
            <a:off x="2487168" y="3474720"/>
            <a:ext cx="126187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2.0</a:t>
            </a:r>
            <a:endParaRPr lang="en-US" sz="1050" dirty="0"/>
          </a:p>
        </p:txBody>
      </p:sp>
      <p:sp>
        <p:nvSpPr>
          <p:cNvPr id="43" name="Shape 37"/>
          <p:cNvSpPr/>
          <p:nvPr/>
        </p:nvSpPr>
        <p:spPr>
          <a:xfrm>
            <a:off x="3794760" y="3474720"/>
            <a:ext cx="1920240" cy="274320"/>
          </a:xfrm>
          <a:prstGeom prst="rect">
            <a:avLst/>
          </a:prstGeom>
          <a:solidFill>
            <a:srgbClr val="FFFFFF"/>
          </a:solidFill>
          <a:ln w="12700">
            <a:solidFill>
              <a:srgbClr val="C5D5DE"/>
            </a:solidFill>
            <a:prstDash val="solid"/>
          </a:ln>
        </p:spPr>
      </p:sp>
      <p:sp>
        <p:nvSpPr>
          <p:cNvPr id="44" name="Text 38"/>
          <p:cNvSpPr/>
          <p:nvPr/>
        </p:nvSpPr>
        <p:spPr>
          <a:xfrm>
            <a:off x="3858768" y="3474720"/>
            <a:ext cx="181051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 – 45</a:t>
            </a:r>
            <a:endParaRPr lang="en-US" sz="1050" dirty="0"/>
          </a:p>
        </p:txBody>
      </p:sp>
      <p:sp>
        <p:nvSpPr>
          <p:cNvPr id="45" name="Shape 39"/>
          <p:cNvSpPr/>
          <p:nvPr/>
        </p:nvSpPr>
        <p:spPr>
          <a:xfrm>
            <a:off x="5715000" y="3474720"/>
            <a:ext cx="2926080" cy="274320"/>
          </a:xfrm>
          <a:prstGeom prst="rect">
            <a:avLst/>
          </a:prstGeom>
          <a:solidFill>
            <a:srgbClr val="FFFFFF"/>
          </a:solidFill>
          <a:ln w="12700">
            <a:solidFill>
              <a:srgbClr val="C5D5DE"/>
            </a:solidFill>
            <a:prstDash val="solid"/>
          </a:ln>
        </p:spPr>
      </p:sp>
      <p:sp>
        <p:nvSpPr>
          <p:cNvPr id="46" name="Text 40"/>
          <p:cNvSpPr/>
          <p:nvPr/>
        </p:nvSpPr>
        <p:spPr>
          <a:xfrm>
            <a:off x="5779008" y="3474720"/>
            <a:ext cx="281635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Most patients: 0 nodes</a:t>
            </a:r>
            <a:endParaRPr lang="en-US" sz="1050" dirty="0"/>
          </a:p>
        </p:txBody>
      </p:sp>
      <p:sp>
        <p:nvSpPr>
          <p:cNvPr id="47" name="Shape 41"/>
          <p:cNvSpPr/>
          <p:nvPr/>
        </p:nvSpPr>
        <p:spPr>
          <a:xfrm>
            <a:off x="228600" y="3749040"/>
            <a:ext cx="2194560" cy="274320"/>
          </a:xfrm>
          <a:prstGeom prst="rect">
            <a:avLst/>
          </a:prstGeom>
          <a:solidFill>
            <a:srgbClr val="EDF4F6"/>
          </a:solidFill>
          <a:ln w="12700">
            <a:solidFill>
              <a:srgbClr val="C5D5DE"/>
            </a:solidFill>
            <a:prstDash val="solid"/>
          </a:ln>
        </p:spPr>
      </p:sp>
      <p:sp>
        <p:nvSpPr>
          <p:cNvPr id="48" name="Text 42"/>
          <p:cNvSpPr/>
          <p:nvPr/>
        </p:nvSpPr>
        <p:spPr>
          <a:xfrm>
            <a:off x="292608" y="3749040"/>
            <a:ext cx="208483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ER Positive</a:t>
            </a:r>
            <a:endParaRPr lang="en-US" sz="1050" dirty="0"/>
          </a:p>
        </p:txBody>
      </p:sp>
      <p:sp>
        <p:nvSpPr>
          <p:cNvPr id="49" name="Shape 43"/>
          <p:cNvSpPr/>
          <p:nvPr/>
        </p:nvSpPr>
        <p:spPr>
          <a:xfrm>
            <a:off x="2423160" y="3749040"/>
            <a:ext cx="1371600" cy="274320"/>
          </a:xfrm>
          <a:prstGeom prst="rect">
            <a:avLst/>
          </a:prstGeom>
          <a:solidFill>
            <a:srgbClr val="EDF4F6"/>
          </a:solidFill>
          <a:ln w="12700">
            <a:solidFill>
              <a:srgbClr val="C5D5DE"/>
            </a:solidFill>
            <a:prstDash val="solid"/>
          </a:ln>
        </p:spPr>
      </p:sp>
      <p:sp>
        <p:nvSpPr>
          <p:cNvPr id="50" name="Text 44"/>
          <p:cNvSpPr/>
          <p:nvPr/>
        </p:nvSpPr>
        <p:spPr>
          <a:xfrm>
            <a:off x="2487168" y="3749040"/>
            <a:ext cx="126187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76.1%</a:t>
            </a:r>
            <a:endParaRPr lang="en-US" sz="1050" dirty="0"/>
          </a:p>
        </p:txBody>
      </p:sp>
      <p:sp>
        <p:nvSpPr>
          <p:cNvPr id="51" name="Shape 45"/>
          <p:cNvSpPr/>
          <p:nvPr/>
        </p:nvSpPr>
        <p:spPr>
          <a:xfrm>
            <a:off x="3794760" y="3749040"/>
            <a:ext cx="1920240" cy="274320"/>
          </a:xfrm>
          <a:prstGeom prst="rect">
            <a:avLst/>
          </a:prstGeom>
          <a:solidFill>
            <a:srgbClr val="EDF4F6"/>
          </a:solidFill>
          <a:ln w="12700">
            <a:solidFill>
              <a:srgbClr val="C5D5DE"/>
            </a:solidFill>
            <a:prstDash val="solid"/>
          </a:ln>
        </p:spPr>
      </p:sp>
      <p:sp>
        <p:nvSpPr>
          <p:cNvPr id="52" name="Text 46"/>
          <p:cNvSpPr/>
          <p:nvPr/>
        </p:nvSpPr>
        <p:spPr>
          <a:xfrm>
            <a:off x="3858768" y="3749040"/>
            <a:ext cx="181051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a:t>
            </a:r>
            <a:endParaRPr lang="en-US" sz="1050" dirty="0"/>
          </a:p>
        </p:txBody>
      </p:sp>
      <p:sp>
        <p:nvSpPr>
          <p:cNvPr id="53" name="Shape 47"/>
          <p:cNvSpPr/>
          <p:nvPr/>
        </p:nvSpPr>
        <p:spPr>
          <a:xfrm>
            <a:off x="5715000" y="3749040"/>
            <a:ext cx="2926080" cy="274320"/>
          </a:xfrm>
          <a:prstGeom prst="rect">
            <a:avLst/>
          </a:prstGeom>
          <a:solidFill>
            <a:srgbClr val="EDF4F6"/>
          </a:solidFill>
          <a:ln w="12700">
            <a:solidFill>
              <a:srgbClr val="C5D5DE"/>
            </a:solidFill>
            <a:prstDash val="solid"/>
          </a:ln>
        </p:spPr>
      </p:sp>
      <p:sp>
        <p:nvSpPr>
          <p:cNvPr id="54" name="Text 48"/>
          <p:cNvSpPr/>
          <p:nvPr/>
        </p:nvSpPr>
        <p:spPr>
          <a:xfrm>
            <a:off x="5779008" y="3749040"/>
            <a:ext cx="281635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Large majority ER+</a:t>
            </a:r>
            <a:endParaRPr lang="en-US" sz="1050" dirty="0"/>
          </a:p>
        </p:txBody>
      </p:sp>
      <p:sp>
        <p:nvSpPr>
          <p:cNvPr id="55" name="Shape 49"/>
          <p:cNvSpPr/>
          <p:nvPr/>
        </p:nvSpPr>
        <p:spPr>
          <a:xfrm>
            <a:off x="228600" y="4023360"/>
            <a:ext cx="2194560" cy="274320"/>
          </a:xfrm>
          <a:prstGeom prst="rect">
            <a:avLst/>
          </a:prstGeom>
          <a:solidFill>
            <a:srgbClr val="FFFFFF"/>
          </a:solidFill>
          <a:ln w="12700">
            <a:solidFill>
              <a:srgbClr val="C5D5DE"/>
            </a:solidFill>
            <a:prstDash val="solid"/>
          </a:ln>
        </p:spPr>
      </p:sp>
      <p:sp>
        <p:nvSpPr>
          <p:cNvPr id="56" name="Text 50"/>
          <p:cNvSpPr/>
          <p:nvPr/>
        </p:nvSpPr>
        <p:spPr>
          <a:xfrm>
            <a:off x="292608" y="4023360"/>
            <a:ext cx="208483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PR Positive</a:t>
            </a:r>
            <a:endParaRPr lang="en-US" sz="1050" dirty="0"/>
          </a:p>
        </p:txBody>
      </p:sp>
      <p:sp>
        <p:nvSpPr>
          <p:cNvPr id="57" name="Shape 51"/>
          <p:cNvSpPr/>
          <p:nvPr/>
        </p:nvSpPr>
        <p:spPr>
          <a:xfrm>
            <a:off x="2423160" y="4023360"/>
            <a:ext cx="1371600" cy="274320"/>
          </a:xfrm>
          <a:prstGeom prst="rect">
            <a:avLst/>
          </a:prstGeom>
          <a:solidFill>
            <a:srgbClr val="FFFFFF"/>
          </a:solidFill>
          <a:ln w="12700">
            <a:solidFill>
              <a:srgbClr val="C5D5DE"/>
            </a:solidFill>
            <a:prstDash val="solid"/>
          </a:ln>
        </p:spPr>
      </p:sp>
      <p:sp>
        <p:nvSpPr>
          <p:cNvPr id="58" name="Text 52"/>
          <p:cNvSpPr/>
          <p:nvPr/>
        </p:nvSpPr>
        <p:spPr>
          <a:xfrm>
            <a:off x="2487168" y="4023360"/>
            <a:ext cx="126187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52.5%</a:t>
            </a:r>
            <a:endParaRPr lang="en-US" sz="1050" dirty="0"/>
          </a:p>
        </p:txBody>
      </p:sp>
      <p:sp>
        <p:nvSpPr>
          <p:cNvPr id="59" name="Shape 53"/>
          <p:cNvSpPr/>
          <p:nvPr/>
        </p:nvSpPr>
        <p:spPr>
          <a:xfrm>
            <a:off x="3794760" y="4023360"/>
            <a:ext cx="1920240" cy="274320"/>
          </a:xfrm>
          <a:prstGeom prst="rect">
            <a:avLst/>
          </a:prstGeom>
          <a:solidFill>
            <a:srgbClr val="FFFFFF"/>
          </a:solidFill>
          <a:ln w="12700">
            <a:solidFill>
              <a:srgbClr val="C5D5DE"/>
            </a:solidFill>
            <a:prstDash val="solid"/>
          </a:ln>
        </p:spPr>
      </p:sp>
      <p:sp>
        <p:nvSpPr>
          <p:cNvPr id="60" name="Text 54"/>
          <p:cNvSpPr/>
          <p:nvPr/>
        </p:nvSpPr>
        <p:spPr>
          <a:xfrm>
            <a:off x="3858768" y="4023360"/>
            <a:ext cx="181051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a:t>
            </a:r>
            <a:endParaRPr lang="en-US" sz="1050" dirty="0"/>
          </a:p>
        </p:txBody>
      </p:sp>
      <p:sp>
        <p:nvSpPr>
          <p:cNvPr id="61" name="Shape 55"/>
          <p:cNvSpPr/>
          <p:nvPr/>
        </p:nvSpPr>
        <p:spPr>
          <a:xfrm>
            <a:off x="5715000" y="4023360"/>
            <a:ext cx="2926080" cy="274320"/>
          </a:xfrm>
          <a:prstGeom prst="rect">
            <a:avLst/>
          </a:prstGeom>
          <a:solidFill>
            <a:srgbClr val="FFFFFF"/>
          </a:solidFill>
          <a:ln w="12700">
            <a:solidFill>
              <a:srgbClr val="C5D5DE"/>
            </a:solidFill>
            <a:prstDash val="solid"/>
          </a:ln>
        </p:spPr>
      </p:sp>
      <p:sp>
        <p:nvSpPr>
          <p:cNvPr id="62" name="Text 56"/>
          <p:cNvSpPr/>
          <p:nvPr/>
        </p:nvSpPr>
        <p:spPr>
          <a:xfrm>
            <a:off x="5779008" y="4023360"/>
            <a:ext cx="281635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About half PR+</a:t>
            </a:r>
            <a:endParaRPr lang="en-US" sz="1050" dirty="0"/>
          </a:p>
        </p:txBody>
      </p:sp>
      <p:sp>
        <p:nvSpPr>
          <p:cNvPr id="63" name="Shape 57"/>
          <p:cNvSpPr/>
          <p:nvPr/>
        </p:nvSpPr>
        <p:spPr>
          <a:xfrm>
            <a:off x="228600" y="4297680"/>
            <a:ext cx="2194560" cy="274320"/>
          </a:xfrm>
          <a:prstGeom prst="rect">
            <a:avLst/>
          </a:prstGeom>
          <a:solidFill>
            <a:srgbClr val="EDF4F6"/>
          </a:solidFill>
          <a:ln w="12700">
            <a:solidFill>
              <a:srgbClr val="C5D5DE"/>
            </a:solidFill>
            <a:prstDash val="solid"/>
          </a:ln>
        </p:spPr>
      </p:sp>
      <p:sp>
        <p:nvSpPr>
          <p:cNvPr id="64" name="Text 58"/>
          <p:cNvSpPr/>
          <p:nvPr/>
        </p:nvSpPr>
        <p:spPr>
          <a:xfrm>
            <a:off x="292608" y="4297680"/>
            <a:ext cx="208483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HER2 Positive</a:t>
            </a:r>
            <a:endParaRPr lang="en-US" sz="1050" dirty="0"/>
          </a:p>
        </p:txBody>
      </p:sp>
      <p:sp>
        <p:nvSpPr>
          <p:cNvPr id="65" name="Shape 59"/>
          <p:cNvSpPr/>
          <p:nvPr/>
        </p:nvSpPr>
        <p:spPr>
          <a:xfrm>
            <a:off x="2423160" y="4297680"/>
            <a:ext cx="1371600" cy="274320"/>
          </a:xfrm>
          <a:prstGeom prst="rect">
            <a:avLst/>
          </a:prstGeom>
          <a:solidFill>
            <a:srgbClr val="EDF4F6"/>
          </a:solidFill>
          <a:ln w="12700">
            <a:solidFill>
              <a:srgbClr val="C5D5DE"/>
            </a:solidFill>
            <a:prstDash val="solid"/>
          </a:ln>
        </p:spPr>
      </p:sp>
      <p:sp>
        <p:nvSpPr>
          <p:cNvPr id="66" name="Text 60"/>
          <p:cNvSpPr/>
          <p:nvPr/>
        </p:nvSpPr>
        <p:spPr>
          <a:xfrm>
            <a:off x="2487168" y="4297680"/>
            <a:ext cx="126187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12.5%</a:t>
            </a:r>
            <a:endParaRPr lang="en-US" sz="1050" dirty="0"/>
          </a:p>
        </p:txBody>
      </p:sp>
      <p:sp>
        <p:nvSpPr>
          <p:cNvPr id="67" name="Shape 61"/>
          <p:cNvSpPr/>
          <p:nvPr/>
        </p:nvSpPr>
        <p:spPr>
          <a:xfrm>
            <a:off x="3794760" y="4297680"/>
            <a:ext cx="1920240" cy="274320"/>
          </a:xfrm>
          <a:prstGeom prst="rect">
            <a:avLst/>
          </a:prstGeom>
          <a:solidFill>
            <a:srgbClr val="EDF4F6"/>
          </a:solidFill>
          <a:ln w="12700">
            <a:solidFill>
              <a:srgbClr val="C5D5DE"/>
            </a:solidFill>
            <a:prstDash val="solid"/>
          </a:ln>
        </p:spPr>
      </p:sp>
      <p:sp>
        <p:nvSpPr>
          <p:cNvPr id="68" name="Text 62"/>
          <p:cNvSpPr/>
          <p:nvPr/>
        </p:nvSpPr>
        <p:spPr>
          <a:xfrm>
            <a:off x="3858768" y="4297680"/>
            <a:ext cx="181051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a:t>
            </a:r>
            <a:endParaRPr lang="en-US" sz="1050" dirty="0"/>
          </a:p>
        </p:txBody>
      </p:sp>
      <p:sp>
        <p:nvSpPr>
          <p:cNvPr id="69" name="Shape 63"/>
          <p:cNvSpPr/>
          <p:nvPr/>
        </p:nvSpPr>
        <p:spPr>
          <a:xfrm>
            <a:off x="5715000" y="4297680"/>
            <a:ext cx="2926080" cy="274320"/>
          </a:xfrm>
          <a:prstGeom prst="rect">
            <a:avLst/>
          </a:prstGeom>
          <a:solidFill>
            <a:srgbClr val="EDF4F6"/>
          </a:solidFill>
          <a:ln w="12700">
            <a:solidFill>
              <a:srgbClr val="C5D5DE"/>
            </a:solidFill>
            <a:prstDash val="solid"/>
          </a:ln>
        </p:spPr>
      </p:sp>
      <p:sp>
        <p:nvSpPr>
          <p:cNvPr id="70" name="Text 64"/>
          <p:cNvSpPr/>
          <p:nvPr/>
        </p:nvSpPr>
        <p:spPr>
          <a:xfrm>
            <a:off x="5779008" y="4297680"/>
            <a:ext cx="281635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Minority HER2+</a:t>
            </a:r>
            <a:endParaRPr lang="en-US" sz="1050" dirty="0"/>
          </a:p>
        </p:txBody>
      </p:sp>
      <p:sp>
        <p:nvSpPr>
          <p:cNvPr id="71" name="Shape 65"/>
          <p:cNvSpPr/>
          <p:nvPr/>
        </p:nvSpPr>
        <p:spPr>
          <a:xfrm>
            <a:off x="228600" y="4572000"/>
            <a:ext cx="2194560" cy="274320"/>
          </a:xfrm>
          <a:prstGeom prst="rect">
            <a:avLst/>
          </a:prstGeom>
          <a:solidFill>
            <a:srgbClr val="FFFFFF"/>
          </a:solidFill>
          <a:ln w="12700">
            <a:solidFill>
              <a:srgbClr val="C5D5DE"/>
            </a:solidFill>
            <a:prstDash val="solid"/>
          </a:ln>
        </p:spPr>
      </p:sp>
      <p:sp>
        <p:nvSpPr>
          <p:cNvPr id="72" name="Text 66"/>
          <p:cNvSpPr/>
          <p:nvPr/>
        </p:nvSpPr>
        <p:spPr>
          <a:xfrm>
            <a:off x="292608" y="4572000"/>
            <a:ext cx="208483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Tumor Stage II</a:t>
            </a:r>
            <a:endParaRPr lang="en-US" sz="1050" dirty="0"/>
          </a:p>
        </p:txBody>
      </p:sp>
      <p:sp>
        <p:nvSpPr>
          <p:cNvPr id="73" name="Shape 67"/>
          <p:cNvSpPr/>
          <p:nvPr/>
        </p:nvSpPr>
        <p:spPr>
          <a:xfrm>
            <a:off x="2423160" y="4572000"/>
            <a:ext cx="1371600" cy="274320"/>
          </a:xfrm>
          <a:prstGeom prst="rect">
            <a:avLst/>
          </a:prstGeom>
          <a:solidFill>
            <a:srgbClr val="FFFFFF"/>
          </a:solidFill>
          <a:ln w="12700">
            <a:solidFill>
              <a:srgbClr val="C5D5DE"/>
            </a:solidFill>
            <a:prstDash val="solid"/>
          </a:ln>
        </p:spPr>
      </p:sp>
      <p:sp>
        <p:nvSpPr>
          <p:cNvPr id="74" name="Text 68"/>
          <p:cNvSpPr/>
          <p:nvPr/>
        </p:nvSpPr>
        <p:spPr>
          <a:xfrm>
            <a:off x="2487168" y="4572000"/>
            <a:ext cx="126187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56.3%</a:t>
            </a:r>
            <a:endParaRPr lang="en-US" sz="1050" dirty="0"/>
          </a:p>
        </p:txBody>
      </p:sp>
      <p:sp>
        <p:nvSpPr>
          <p:cNvPr id="75" name="Shape 69"/>
          <p:cNvSpPr/>
          <p:nvPr/>
        </p:nvSpPr>
        <p:spPr>
          <a:xfrm>
            <a:off x="3794760" y="4572000"/>
            <a:ext cx="1920240" cy="274320"/>
          </a:xfrm>
          <a:prstGeom prst="rect">
            <a:avLst/>
          </a:prstGeom>
          <a:solidFill>
            <a:srgbClr val="FFFFFF"/>
          </a:solidFill>
          <a:ln w="12700">
            <a:solidFill>
              <a:srgbClr val="C5D5DE"/>
            </a:solidFill>
            <a:prstDash val="solid"/>
          </a:ln>
        </p:spPr>
      </p:sp>
      <p:sp>
        <p:nvSpPr>
          <p:cNvPr id="76" name="Text 70"/>
          <p:cNvSpPr/>
          <p:nvPr/>
        </p:nvSpPr>
        <p:spPr>
          <a:xfrm>
            <a:off x="3858768" y="4572000"/>
            <a:ext cx="181051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Stage 0–4</a:t>
            </a:r>
            <a:endParaRPr lang="en-US" sz="1050" dirty="0"/>
          </a:p>
        </p:txBody>
      </p:sp>
      <p:sp>
        <p:nvSpPr>
          <p:cNvPr id="77" name="Shape 71"/>
          <p:cNvSpPr/>
          <p:nvPr/>
        </p:nvSpPr>
        <p:spPr>
          <a:xfrm>
            <a:off x="5715000" y="4572000"/>
            <a:ext cx="2926080" cy="274320"/>
          </a:xfrm>
          <a:prstGeom prst="rect">
            <a:avLst/>
          </a:prstGeom>
          <a:solidFill>
            <a:srgbClr val="FFFFFF"/>
          </a:solidFill>
          <a:ln w="12700">
            <a:solidFill>
              <a:srgbClr val="C5D5DE"/>
            </a:solidFill>
            <a:prstDash val="solid"/>
          </a:ln>
        </p:spPr>
      </p:sp>
      <p:sp>
        <p:nvSpPr>
          <p:cNvPr id="78" name="Text 72"/>
          <p:cNvSpPr/>
          <p:nvPr/>
        </p:nvSpPr>
        <p:spPr>
          <a:xfrm>
            <a:off x="5779008" y="4572000"/>
            <a:ext cx="281635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Most patients diagnosed at Stage II</a:t>
            </a:r>
            <a:endParaRPr lang="en-US" sz="1050" dirty="0"/>
          </a:p>
        </p:txBody>
      </p:sp>
      <p:sp>
        <p:nvSpPr>
          <p:cNvPr id="79" name="Shape 73"/>
          <p:cNvSpPr/>
          <p:nvPr/>
        </p:nvSpPr>
        <p:spPr>
          <a:xfrm>
            <a:off x="228600" y="4846320"/>
            <a:ext cx="2194560" cy="274320"/>
          </a:xfrm>
          <a:prstGeom prst="rect">
            <a:avLst/>
          </a:prstGeom>
          <a:solidFill>
            <a:srgbClr val="EDF4F6"/>
          </a:solidFill>
          <a:ln w="12700">
            <a:solidFill>
              <a:srgbClr val="C5D5DE"/>
            </a:solidFill>
            <a:prstDash val="solid"/>
          </a:ln>
        </p:spPr>
      </p:sp>
      <p:sp>
        <p:nvSpPr>
          <p:cNvPr id="80" name="Text 74"/>
          <p:cNvSpPr/>
          <p:nvPr/>
        </p:nvSpPr>
        <p:spPr>
          <a:xfrm>
            <a:off x="292608" y="4846320"/>
            <a:ext cx="208483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Grade 3 (High)</a:t>
            </a:r>
            <a:endParaRPr lang="en-US" sz="1050" dirty="0"/>
          </a:p>
        </p:txBody>
      </p:sp>
      <p:sp>
        <p:nvSpPr>
          <p:cNvPr id="81" name="Shape 75"/>
          <p:cNvSpPr/>
          <p:nvPr/>
        </p:nvSpPr>
        <p:spPr>
          <a:xfrm>
            <a:off x="2423160" y="4846320"/>
            <a:ext cx="1371600" cy="274320"/>
          </a:xfrm>
          <a:prstGeom prst="rect">
            <a:avLst/>
          </a:prstGeom>
          <a:solidFill>
            <a:srgbClr val="EDF4F6"/>
          </a:solidFill>
          <a:ln w="12700">
            <a:solidFill>
              <a:srgbClr val="C5D5DE"/>
            </a:solidFill>
            <a:prstDash val="solid"/>
          </a:ln>
        </p:spPr>
      </p:sp>
      <p:sp>
        <p:nvSpPr>
          <p:cNvPr id="82" name="Text 76"/>
          <p:cNvSpPr/>
          <p:nvPr/>
        </p:nvSpPr>
        <p:spPr>
          <a:xfrm>
            <a:off x="2487168" y="4846320"/>
            <a:ext cx="126187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50.3%</a:t>
            </a:r>
            <a:endParaRPr lang="en-US" sz="1050" dirty="0"/>
          </a:p>
        </p:txBody>
      </p:sp>
      <p:sp>
        <p:nvSpPr>
          <p:cNvPr id="83" name="Shape 77"/>
          <p:cNvSpPr/>
          <p:nvPr/>
        </p:nvSpPr>
        <p:spPr>
          <a:xfrm>
            <a:off x="3794760" y="4846320"/>
            <a:ext cx="1920240" cy="274320"/>
          </a:xfrm>
          <a:prstGeom prst="rect">
            <a:avLst/>
          </a:prstGeom>
          <a:solidFill>
            <a:srgbClr val="EDF4F6"/>
          </a:solidFill>
          <a:ln w="12700">
            <a:solidFill>
              <a:srgbClr val="C5D5DE"/>
            </a:solidFill>
            <a:prstDash val="solid"/>
          </a:ln>
        </p:spPr>
      </p:sp>
      <p:sp>
        <p:nvSpPr>
          <p:cNvPr id="84" name="Text 78"/>
          <p:cNvSpPr/>
          <p:nvPr/>
        </p:nvSpPr>
        <p:spPr>
          <a:xfrm>
            <a:off x="3858768" y="4846320"/>
            <a:ext cx="181051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Grade 1–3</a:t>
            </a:r>
            <a:endParaRPr lang="en-US" sz="1050" dirty="0"/>
          </a:p>
        </p:txBody>
      </p:sp>
      <p:sp>
        <p:nvSpPr>
          <p:cNvPr id="85" name="Shape 79"/>
          <p:cNvSpPr/>
          <p:nvPr/>
        </p:nvSpPr>
        <p:spPr>
          <a:xfrm>
            <a:off x="5715000" y="4846320"/>
            <a:ext cx="2926080" cy="274320"/>
          </a:xfrm>
          <a:prstGeom prst="rect">
            <a:avLst/>
          </a:prstGeom>
          <a:solidFill>
            <a:srgbClr val="EDF4F6"/>
          </a:solidFill>
          <a:ln w="12700">
            <a:solidFill>
              <a:srgbClr val="C5D5DE"/>
            </a:solidFill>
            <a:prstDash val="solid"/>
          </a:ln>
        </p:spPr>
      </p:sp>
      <p:sp>
        <p:nvSpPr>
          <p:cNvPr id="86" name="Text 80"/>
          <p:cNvSpPr/>
          <p:nvPr/>
        </p:nvSpPr>
        <p:spPr>
          <a:xfrm>
            <a:off x="5779008" y="4846320"/>
            <a:ext cx="2816352" cy="2743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Half of patients high grade</a:t>
            </a:r>
            <a:endParaRPr lang="en-US" sz="105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E4A"/>
          </a:solidFill>
          <a:ln w="12700">
            <a:solidFill>
              <a:srgbClr val="1A2E4A"/>
            </a:solidFill>
            <a:prstDash val="solid"/>
          </a:ln>
        </p:spPr>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Kaplan–Meier: Overall Survival</a:t>
            </a:r>
            <a:endParaRPr lang="en-US" sz="1600" dirty="0"/>
          </a:p>
        </p:txBody>
      </p:sp>
      <p:sp>
        <p:nvSpPr>
          <p:cNvPr id="4" name="Shape 2"/>
          <p:cNvSpPr/>
          <p:nvPr/>
        </p:nvSpPr>
        <p:spPr>
          <a:xfrm>
            <a:off x="0" y="502920"/>
            <a:ext cx="9144000" cy="36576"/>
          </a:xfrm>
          <a:prstGeom prst="rect">
            <a:avLst/>
          </a:prstGeom>
          <a:solidFill>
            <a:srgbClr val="1B7A8A"/>
          </a:solidFill>
          <a:ln w="12700">
            <a:solidFill>
              <a:srgbClr val="1B7A8A"/>
            </a:solidFill>
            <a:prstDash val="solid"/>
          </a:ln>
        </p:spPr>
      </p:sp>
      <p:sp>
        <p:nvSpPr>
          <p:cNvPr id="5" name="Shape 3"/>
          <p:cNvSpPr/>
          <p:nvPr/>
        </p:nvSpPr>
        <p:spPr>
          <a:xfrm>
            <a:off x="0" y="5093208"/>
            <a:ext cx="9144000" cy="50292"/>
          </a:xfrm>
          <a:prstGeom prst="rect">
            <a:avLst/>
          </a:prstGeom>
          <a:solidFill>
            <a:srgbClr val="1B7A8A"/>
          </a:solidFill>
          <a:ln w="12700">
            <a:solidFill>
              <a:srgbClr val="1B7A8A"/>
            </a:solidFill>
            <a:prstDash val="solid"/>
          </a:ln>
        </p:spPr>
      </p:sp>
      <p:sp>
        <p:nvSpPr>
          <p:cNvPr id="6" name="Text 4"/>
          <p:cNvSpPr/>
          <p:nvPr/>
        </p:nvSpPr>
        <p:spPr>
          <a:xfrm>
            <a:off x="320040" y="576072"/>
            <a:ext cx="8229600" cy="320040"/>
          </a:xfrm>
          <a:prstGeom prst="rect">
            <a:avLst/>
          </a:prstGeom>
          <a:noFill/>
          <a:ln/>
        </p:spPr>
        <p:txBody>
          <a:bodyPr wrap="square" rtlCol="0" anchor="ctr"/>
          <a:lstStyle/>
          <a:p>
            <a:pPr marL="0" indent="0">
              <a:buNone/>
            </a:pPr>
            <a:r>
              <a:rPr lang="en-US" sz="1200" i="1" dirty="0">
                <a:solidFill>
                  <a:srgbClr val="5A6A7A"/>
                </a:solidFill>
                <a:latin typeface="Calibri" pitchFamily="34" charset="0"/>
                <a:ea typeface="Calibri" pitchFamily="34" charset="-122"/>
                <a:cs typeface="Calibri" pitchFamily="34" charset="-120"/>
              </a:rPr>
              <a:t>All 1,981 METABRIC Patients Combined</a:t>
            </a:r>
            <a:endParaRPr lang="en-US" sz="1200" dirty="0"/>
          </a:p>
        </p:txBody>
      </p:sp>
      <p:pic>
        <p:nvPicPr>
          <p:cNvPr id="7" name="Image 0" descr="preencoded.png"/>
          <p:cNvPicPr>
            <a:picLocks noChangeAspect="1"/>
          </p:cNvPicPr>
          <p:nvPr/>
        </p:nvPicPr>
        <p:blipFill>
          <a:blip r:embed="rId3"/>
          <a:stretch>
            <a:fillRect/>
          </a:stretch>
        </p:blipFill>
        <p:spPr>
          <a:xfrm>
            <a:off x="228600" y="658368"/>
            <a:ext cx="5486400" cy="4343400"/>
          </a:xfrm>
          <a:prstGeom prst="rect">
            <a:avLst/>
          </a:prstGeom>
        </p:spPr>
      </p:pic>
      <p:sp>
        <p:nvSpPr>
          <p:cNvPr id="8" name="Shape 5"/>
          <p:cNvSpPr/>
          <p:nvPr/>
        </p:nvSpPr>
        <p:spPr>
          <a:xfrm>
            <a:off x="5897880" y="658368"/>
            <a:ext cx="3017520" cy="4343400"/>
          </a:xfrm>
          <a:prstGeom prst="rect">
            <a:avLst/>
          </a:prstGeom>
          <a:solidFill>
            <a:srgbClr val="FFFFFF"/>
          </a:solidFill>
          <a:ln w="12700">
            <a:solidFill>
              <a:srgbClr val="C5D5DE"/>
            </a:solidFill>
            <a:prstDash val="solid"/>
          </a:ln>
          <a:effectLst>
            <a:outerShdw blurRad="50800" dist="25400" dir="8100000" algn="bl" rotWithShape="0">
              <a:srgbClr val="000000">
                <a:alpha val="8000"/>
              </a:srgbClr>
            </a:outerShdw>
          </a:effectLst>
        </p:spPr>
      </p:sp>
      <p:sp>
        <p:nvSpPr>
          <p:cNvPr id="9" name="Shape 6"/>
          <p:cNvSpPr/>
          <p:nvPr/>
        </p:nvSpPr>
        <p:spPr>
          <a:xfrm>
            <a:off x="5897880" y="658368"/>
            <a:ext cx="54864" cy="4343400"/>
          </a:xfrm>
          <a:prstGeom prst="rect">
            <a:avLst/>
          </a:prstGeom>
          <a:solidFill>
            <a:srgbClr val="1A2E4A"/>
          </a:solidFill>
          <a:ln w="12700">
            <a:solidFill>
              <a:srgbClr val="1A2E4A"/>
            </a:solidFill>
            <a:prstDash val="solid"/>
          </a:ln>
        </p:spPr>
      </p:sp>
      <p:sp>
        <p:nvSpPr>
          <p:cNvPr id="10" name="Text 7"/>
          <p:cNvSpPr/>
          <p:nvPr/>
        </p:nvSpPr>
        <p:spPr>
          <a:xfrm>
            <a:off x="6035040" y="749808"/>
            <a:ext cx="2743200" cy="347472"/>
          </a:xfrm>
          <a:prstGeom prst="rect">
            <a:avLst/>
          </a:prstGeom>
          <a:noFill/>
          <a:ln/>
        </p:spPr>
        <p:txBody>
          <a:bodyPr wrap="square"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Survival Statistics</a:t>
            </a:r>
            <a:endParaRPr lang="en-US" sz="1300" dirty="0"/>
          </a:p>
        </p:txBody>
      </p:sp>
      <p:sp>
        <p:nvSpPr>
          <p:cNvPr id="11" name="Shape 8"/>
          <p:cNvSpPr/>
          <p:nvPr/>
        </p:nvSpPr>
        <p:spPr>
          <a:xfrm>
            <a:off x="5971032" y="1188720"/>
            <a:ext cx="2880360" cy="420624"/>
          </a:xfrm>
          <a:prstGeom prst="rect">
            <a:avLst/>
          </a:prstGeom>
          <a:solidFill>
            <a:srgbClr val="EDF4F6"/>
          </a:solidFill>
          <a:ln w="12700">
            <a:solidFill>
              <a:srgbClr val="C5D5DE"/>
            </a:solidFill>
            <a:prstDash val="solid"/>
          </a:ln>
        </p:spPr>
      </p:sp>
      <p:sp>
        <p:nvSpPr>
          <p:cNvPr id="12" name="Text 9"/>
          <p:cNvSpPr/>
          <p:nvPr/>
        </p:nvSpPr>
        <p:spPr>
          <a:xfrm>
            <a:off x="6035040" y="1188720"/>
            <a:ext cx="1554480" cy="420624"/>
          </a:xfrm>
          <a:prstGeom prst="rect">
            <a:avLst/>
          </a:prstGeom>
          <a:noFill/>
          <a:ln/>
        </p:spPr>
        <p:txBody>
          <a:bodyPr wrap="square" rtlCol="0" anchor="ctr"/>
          <a:lstStyle/>
          <a:p>
            <a:pPr marL="0" indent="0">
              <a:buNone/>
            </a:pPr>
            <a:r>
              <a:rPr lang="en-US" sz="1050" dirty="0">
                <a:solidFill>
                  <a:srgbClr val="5A6A7A"/>
                </a:solidFill>
                <a:latin typeface="Calibri" pitchFamily="34" charset="0"/>
                <a:ea typeface="Calibri" pitchFamily="34" charset="-122"/>
                <a:cs typeface="Calibri" pitchFamily="34" charset="-120"/>
              </a:rPr>
              <a:t>Median Survival</a:t>
            </a:r>
            <a:endParaRPr lang="en-US" sz="1050" dirty="0"/>
          </a:p>
        </p:txBody>
      </p:sp>
      <p:sp>
        <p:nvSpPr>
          <p:cNvPr id="13" name="Text 10"/>
          <p:cNvSpPr/>
          <p:nvPr/>
        </p:nvSpPr>
        <p:spPr>
          <a:xfrm>
            <a:off x="7589520" y="1188720"/>
            <a:ext cx="1234440" cy="420624"/>
          </a:xfrm>
          <a:prstGeom prst="rect">
            <a:avLst/>
          </a:prstGeom>
          <a:noFill/>
          <a:ln/>
        </p:spPr>
        <p:txBody>
          <a:bodyPr wrap="square" rtlCol="0" anchor="ctr"/>
          <a:lstStyle/>
          <a:p>
            <a:pPr marL="0" indent="0" algn="r">
              <a:buNone/>
            </a:pPr>
            <a:r>
              <a:rPr lang="en-US" sz="1100" b="1" dirty="0">
                <a:solidFill>
                  <a:srgbClr val="1A2E4A"/>
                </a:solidFill>
                <a:latin typeface="Calibri" pitchFamily="34" charset="0"/>
                <a:ea typeface="Calibri" pitchFamily="34" charset="-122"/>
                <a:cs typeface="Calibri" pitchFamily="34" charset="-120"/>
              </a:rPr>
              <a:t>156 months</a:t>
            </a:r>
            <a:endParaRPr lang="en-US" sz="1100" dirty="0"/>
          </a:p>
        </p:txBody>
      </p:sp>
      <p:sp>
        <p:nvSpPr>
          <p:cNvPr id="14" name="Shape 11"/>
          <p:cNvSpPr/>
          <p:nvPr/>
        </p:nvSpPr>
        <p:spPr>
          <a:xfrm>
            <a:off x="5971032" y="1645920"/>
            <a:ext cx="2880360" cy="420624"/>
          </a:xfrm>
          <a:prstGeom prst="rect">
            <a:avLst/>
          </a:prstGeom>
          <a:solidFill>
            <a:srgbClr val="FFFFFF"/>
          </a:solidFill>
          <a:ln w="12700">
            <a:solidFill>
              <a:srgbClr val="C5D5DE"/>
            </a:solidFill>
            <a:prstDash val="solid"/>
          </a:ln>
        </p:spPr>
      </p:sp>
      <p:sp>
        <p:nvSpPr>
          <p:cNvPr id="15" name="Text 12"/>
          <p:cNvSpPr/>
          <p:nvPr/>
        </p:nvSpPr>
        <p:spPr>
          <a:xfrm>
            <a:off x="6035040" y="1645920"/>
            <a:ext cx="1554480" cy="420624"/>
          </a:xfrm>
          <a:prstGeom prst="rect">
            <a:avLst/>
          </a:prstGeom>
          <a:noFill/>
          <a:ln/>
        </p:spPr>
        <p:txBody>
          <a:bodyPr wrap="square" rtlCol="0" anchor="ctr"/>
          <a:lstStyle/>
          <a:p>
            <a:pPr marL="0" indent="0">
              <a:buNone/>
            </a:pPr>
            <a:r>
              <a:rPr lang="en-US" sz="1050" dirty="0">
                <a:solidFill>
                  <a:srgbClr val="5A6A7A"/>
                </a:solidFill>
                <a:latin typeface="Calibri" pitchFamily="34" charset="0"/>
                <a:ea typeface="Calibri" pitchFamily="34" charset="-122"/>
                <a:cs typeface="Calibri" pitchFamily="34" charset="-120"/>
              </a:rPr>
              <a:t>95% CI Lower</a:t>
            </a:r>
            <a:endParaRPr lang="en-US" sz="1050" dirty="0"/>
          </a:p>
        </p:txBody>
      </p:sp>
      <p:sp>
        <p:nvSpPr>
          <p:cNvPr id="16" name="Text 13"/>
          <p:cNvSpPr/>
          <p:nvPr/>
        </p:nvSpPr>
        <p:spPr>
          <a:xfrm>
            <a:off x="7589520" y="1645920"/>
            <a:ext cx="1234440" cy="420624"/>
          </a:xfrm>
          <a:prstGeom prst="rect">
            <a:avLst/>
          </a:prstGeom>
          <a:noFill/>
          <a:ln/>
        </p:spPr>
        <p:txBody>
          <a:bodyPr wrap="square" rtlCol="0" anchor="ctr"/>
          <a:lstStyle/>
          <a:p>
            <a:pPr marL="0" indent="0" algn="r">
              <a:buNone/>
            </a:pPr>
            <a:r>
              <a:rPr lang="en-US" sz="1100" b="1" dirty="0">
                <a:solidFill>
                  <a:srgbClr val="1A2E4A"/>
                </a:solidFill>
                <a:latin typeface="Calibri" pitchFamily="34" charset="0"/>
                <a:ea typeface="Calibri" pitchFamily="34" charset="-122"/>
                <a:cs typeface="Calibri" pitchFamily="34" charset="-120"/>
              </a:rPr>
              <a:t>148 months</a:t>
            </a:r>
            <a:endParaRPr lang="en-US" sz="1100" dirty="0"/>
          </a:p>
        </p:txBody>
      </p:sp>
      <p:sp>
        <p:nvSpPr>
          <p:cNvPr id="17" name="Shape 14"/>
          <p:cNvSpPr/>
          <p:nvPr/>
        </p:nvSpPr>
        <p:spPr>
          <a:xfrm>
            <a:off x="5971032" y="2103120"/>
            <a:ext cx="2880360" cy="420624"/>
          </a:xfrm>
          <a:prstGeom prst="rect">
            <a:avLst/>
          </a:prstGeom>
          <a:solidFill>
            <a:srgbClr val="EDF4F6"/>
          </a:solidFill>
          <a:ln w="12700">
            <a:solidFill>
              <a:srgbClr val="C5D5DE"/>
            </a:solidFill>
            <a:prstDash val="solid"/>
          </a:ln>
        </p:spPr>
      </p:sp>
      <p:sp>
        <p:nvSpPr>
          <p:cNvPr id="18" name="Text 15"/>
          <p:cNvSpPr/>
          <p:nvPr/>
        </p:nvSpPr>
        <p:spPr>
          <a:xfrm>
            <a:off x="6035040" y="2103120"/>
            <a:ext cx="1554480" cy="420624"/>
          </a:xfrm>
          <a:prstGeom prst="rect">
            <a:avLst/>
          </a:prstGeom>
          <a:noFill/>
          <a:ln/>
        </p:spPr>
        <p:txBody>
          <a:bodyPr wrap="square" rtlCol="0" anchor="ctr"/>
          <a:lstStyle/>
          <a:p>
            <a:pPr marL="0" indent="0">
              <a:buNone/>
            </a:pPr>
            <a:r>
              <a:rPr lang="en-US" sz="1050" dirty="0">
                <a:solidFill>
                  <a:srgbClr val="5A6A7A"/>
                </a:solidFill>
                <a:latin typeface="Calibri" pitchFamily="34" charset="0"/>
                <a:ea typeface="Calibri" pitchFamily="34" charset="-122"/>
                <a:cs typeface="Calibri" pitchFamily="34" charset="-120"/>
              </a:rPr>
              <a:t>95% CI Upper</a:t>
            </a:r>
            <a:endParaRPr lang="en-US" sz="1050" dirty="0"/>
          </a:p>
        </p:txBody>
      </p:sp>
      <p:sp>
        <p:nvSpPr>
          <p:cNvPr id="19" name="Text 16"/>
          <p:cNvSpPr/>
          <p:nvPr/>
        </p:nvSpPr>
        <p:spPr>
          <a:xfrm>
            <a:off x="7589520" y="2103120"/>
            <a:ext cx="1234440" cy="420624"/>
          </a:xfrm>
          <a:prstGeom prst="rect">
            <a:avLst/>
          </a:prstGeom>
          <a:noFill/>
          <a:ln/>
        </p:spPr>
        <p:txBody>
          <a:bodyPr wrap="square" rtlCol="0" anchor="ctr"/>
          <a:lstStyle/>
          <a:p>
            <a:pPr marL="0" indent="0" algn="r">
              <a:buNone/>
            </a:pPr>
            <a:r>
              <a:rPr lang="en-US" sz="1100" b="1" dirty="0">
                <a:solidFill>
                  <a:srgbClr val="1A2E4A"/>
                </a:solidFill>
                <a:latin typeface="Calibri" pitchFamily="34" charset="0"/>
                <a:ea typeface="Calibri" pitchFamily="34" charset="-122"/>
                <a:cs typeface="Calibri" pitchFamily="34" charset="-120"/>
              </a:rPr>
              <a:t>168 months</a:t>
            </a:r>
            <a:endParaRPr lang="en-US" sz="1100" dirty="0"/>
          </a:p>
        </p:txBody>
      </p:sp>
      <p:sp>
        <p:nvSpPr>
          <p:cNvPr id="20" name="Shape 17"/>
          <p:cNvSpPr/>
          <p:nvPr/>
        </p:nvSpPr>
        <p:spPr>
          <a:xfrm>
            <a:off x="5971032" y="2560320"/>
            <a:ext cx="2880360" cy="420624"/>
          </a:xfrm>
          <a:prstGeom prst="rect">
            <a:avLst/>
          </a:prstGeom>
          <a:solidFill>
            <a:srgbClr val="FFFFFF"/>
          </a:solidFill>
          <a:ln w="12700">
            <a:solidFill>
              <a:srgbClr val="C5D5DE"/>
            </a:solidFill>
            <a:prstDash val="solid"/>
          </a:ln>
        </p:spPr>
      </p:sp>
      <p:sp>
        <p:nvSpPr>
          <p:cNvPr id="21" name="Text 18"/>
          <p:cNvSpPr/>
          <p:nvPr/>
        </p:nvSpPr>
        <p:spPr>
          <a:xfrm>
            <a:off x="6035040" y="2560320"/>
            <a:ext cx="1554480" cy="420624"/>
          </a:xfrm>
          <a:prstGeom prst="rect">
            <a:avLst/>
          </a:prstGeom>
          <a:noFill/>
          <a:ln/>
        </p:spPr>
        <p:txBody>
          <a:bodyPr wrap="square" rtlCol="0" anchor="ctr"/>
          <a:lstStyle/>
          <a:p>
            <a:pPr marL="0" indent="0">
              <a:buNone/>
            </a:pPr>
            <a:r>
              <a:rPr lang="en-US" sz="1050" dirty="0">
                <a:solidFill>
                  <a:srgbClr val="5A6A7A"/>
                </a:solidFill>
                <a:latin typeface="Calibri" pitchFamily="34" charset="0"/>
                <a:ea typeface="Calibri" pitchFamily="34" charset="-122"/>
                <a:cs typeface="Calibri" pitchFamily="34" charset="-120"/>
              </a:rPr>
              <a:t>Mean Survival</a:t>
            </a:r>
            <a:endParaRPr lang="en-US" sz="1050" dirty="0"/>
          </a:p>
        </p:txBody>
      </p:sp>
      <p:sp>
        <p:nvSpPr>
          <p:cNvPr id="22" name="Text 19"/>
          <p:cNvSpPr/>
          <p:nvPr/>
        </p:nvSpPr>
        <p:spPr>
          <a:xfrm>
            <a:off x="7589520" y="2560320"/>
            <a:ext cx="1234440" cy="420624"/>
          </a:xfrm>
          <a:prstGeom prst="rect">
            <a:avLst/>
          </a:prstGeom>
          <a:noFill/>
          <a:ln/>
        </p:spPr>
        <p:txBody>
          <a:bodyPr wrap="square" rtlCol="0" anchor="ctr"/>
          <a:lstStyle/>
          <a:p>
            <a:pPr marL="0" indent="0" algn="r">
              <a:buNone/>
            </a:pPr>
            <a:r>
              <a:rPr lang="en-US" sz="1100" b="1" dirty="0">
                <a:solidFill>
                  <a:srgbClr val="1A2E4A"/>
                </a:solidFill>
                <a:latin typeface="Calibri" pitchFamily="34" charset="0"/>
                <a:ea typeface="Calibri" pitchFamily="34" charset="-122"/>
                <a:cs typeface="Calibri" pitchFamily="34" charset="-120"/>
              </a:rPr>
              <a:t>168.8 months</a:t>
            </a:r>
            <a:endParaRPr lang="en-US" sz="1100" dirty="0"/>
          </a:p>
        </p:txBody>
      </p:sp>
      <p:sp>
        <p:nvSpPr>
          <p:cNvPr id="23" name="Shape 20"/>
          <p:cNvSpPr/>
          <p:nvPr/>
        </p:nvSpPr>
        <p:spPr>
          <a:xfrm>
            <a:off x="5971032" y="3017520"/>
            <a:ext cx="2880360" cy="420624"/>
          </a:xfrm>
          <a:prstGeom prst="rect">
            <a:avLst/>
          </a:prstGeom>
          <a:solidFill>
            <a:srgbClr val="EDF4F6"/>
          </a:solidFill>
          <a:ln w="12700">
            <a:solidFill>
              <a:srgbClr val="C5D5DE"/>
            </a:solidFill>
            <a:prstDash val="solid"/>
          </a:ln>
        </p:spPr>
      </p:sp>
      <p:sp>
        <p:nvSpPr>
          <p:cNvPr id="24" name="Text 21"/>
          <p:cNvSpPr/>
          <p:nvPr/>
        </p:nvSpPr>
        <p:spPr>
          <a:xfrm>
            <a:off x="6035040" y="3017520"/>
            <a:ext cx="1554480" cy="420624"/>
          </a:xfrm>
          <a:prstGeom prst="rect">
            <a:avLst/>
          </a:prstGeom>
          <a:noFill/>
          <a:ln/>
        </p:spPr>
        <p:txBody>
          <a:bodyPr wrap="square" rtlCol="0" anchor="ctr"/>
          <a:lstStyle/>
          <a:p>
            <a:pPr marL="0" indent="0">
              <a:buNone/>
            </a:pPr>
            <a:r>
              <a:rPr lang="en-US" sz="1050" dirty="0">
                <a:solidFill>
                  <a:srgbClr val="5A6A7A"/>
                </a:solidFill>
                <a:latin typeface="Calibri" pitchFamily="34" charset="0"/>
                <a:ea typeface="Calibri" pitchFamily="34" charset="-122"/>
                <a:cs typeface="Calibri" pitchFamily="34" charset="-120"/>
              </a:rPr>
              <a:t>Total Patients</a:t>
            </a:r>
            <a:endParaRPr lang="en-US" sz="1050" dirty="0"/>
          </a:p>
        </p:txBody>
      </p:sp>
      <p:sp>
        <p:nvSpPr>
          <p:cNvPr id="25" name="Text 22"/>
          <p:cNvSpPr/>
          <p:nvPr/>
        </p:nvSpPr>
        <p:spPr>
          <a:xfrm>
            <a:off x="7589520" y="3017520"/>
            <a:ext cx="1234440" cy="420624"/>
          </a:xfrm>
          <a:prstGeom prst="rect">
            <a:avLst/>
          </a:prstGeom>
          <a:noFill/>
          <a:ln/>
        </p:spPr>
        <p:txBody>
          <a:bodyPr wrap="square" rtlCol="0" anchor="ctr"/>
          <a:lstStyle/>
          <a:p>
            <a:pPr marL="0" indent="0" algn="r">
              <a:buNone/>
            </a:pPr>
            <a:r>
              <a:rPr lang="en-US" sz="1100" b="1" dirty="0">
                <a:solidFill>
                  <a:srgbClr val="1A2E4A"/>
                </a:solidFill>
                <a:latin typeface="Calibri" pitchFamily="34" charset="0"/>
                <a:ea typeface="Calibri" pitchFamily="34" charset="-122"/>
                <a:cs typeface="Calibri" pitchFamily="34" charset="-120"/>
              </a:rPr>
              <a:t>1,981</a:t>
            </a:r>
            <a:endParaRPr lang="en-US" sz="1100" dirty="0"/>
          </a:p>
        </p:txBody>
      </p:sp>
      <p:sp>
        <p:nvSpPr>
          <p:cNvPr id="26" name="Shape 23"/>
          <p:cNvSpPr/>
          <p:nvPr/>
        </p:nvSpPr>
        <p:spPr>
          <a:xfrm>
            <a:off x="5971032" y="3474720"/>
            <a:ext cx="2880360" cy="420624"/>
          </a:xfrm>
          <a:prstGeom prst="rect">
            <a:avLst/>
          </a:prstGeom>
          <a:solidFill>
            <a:srgbClr val="FFFFFF"/>
          </a:solidFill>
          <a:ln w="12700">
            <a:solidFill>
              <a:srgbClr val="C5D5DE"/>
            </a:solidFill>
            <a:prstDash val="solid"/>
          </a:ln>
        </p:spPr>
      </p:sp>
      <p:sp>
        <p:nvSpPr>
          <p:cNvPr id="27" name="Text 24"/>
          <p:cNvSpPr/>
          <p:nvPr/>
        </p:nvSpPr>
        <p:spPr>
          <a:xfrm>
            <a:off x="6035040" y="3474720"/>
            <a:ext cx="1554480" cy="420624"/>
          </a:xfrm>
          <a:prstGeom prst="rect">
            <a:avLst/>
          </a:prstGeom>
          <a:noFill/>
          <a:ln/>
        </p:spPr>
        <p:txBody>
          <a:bodyPr wrap="square" rtlCol="0" anchor="ctr"/>
          <a:lstStyle/>
          <a:p>
            <a:pPr marL="0" indent="0">
              <a:buNone/>
            </a:pPr>
            <a:r>
              <a:rPr lang="en-US" sz="1050" dirty="0">
                <a:solidFill>
                  <a:srgbClr val="5A6A7A"/>
                </a:solidFill>
                <a:latin typeface="Calibri" pitchFamily="34" charset="0"/>
                <a:ea typeface="Calibri" pitchFamily="34" charset="-122"/>
                <a:cs typeface="Calibri" pitchFamily="34" charset="-120"/>
              </a:rPr>
              <a:t>Deaths</a:t>
            </a:r>
            <a:endParaRPr lang="en-US" sz="1050" dirty="0"/>
          </a:p>
        </p:txBody>
      </p:sp>
      <p:sp>
        <p:nvSpPr>
          <p:cNvPr id="28" name="Text 25"/>
          <p:cNvSpPr/>
          <p:nvPr/>
        </p:nvSpPr>
        <p:spPr>
          <a:xfrm>
            <a:off x="7589520" y="3474720"/>
            <a:ext cx="1234440" cy="420624"/>
          </a:xfrm>
          <a:prstGeom prst="rect">
            <a:avLst/>
          </a:prstGeom>
          <a:noFill/>
          <a:ln/>
        </p:spPr>
        <p:txBody>
          <a:bodyPr wrap="square" rtlCol="0" anchor="ctr"/>
          <a:lstStyle/>
          <a:p>
            <a:pPr marL="0" indent="0" algn="r">
              <a:buNone/>
            </a:pPr>
            <a:r>
              <a:rPr lang="en-US" sz="1100" b="1" dirty="0">
                <a:solidFill>
                  <a:srgbClr val="1A2E4A"/>
                </a:solidFill>
                <a:latin typeface="Calibri" pitchFamily="34" charset="0"/>
                <a:ea typeface="Calibri" pitchFamily="34" charset="-122"/>
                <a:cs typeface="Calibri" pitchFamily="34" charset="-120"/>
              </a:rPr>
              <a:t>1,144 (57.7%)</a:t>
            </a:r>
            <a:endParaRPr lang="en-US" sz="1100" dirty="0"/>
          </a:p>
        </p:txBody>
      </p:sp>
      <p:sp>
        <p:nvSpPr>
          <p:cNvPr id="29" name="Shape 26"/>
          <p:cNvSpPr/>
          <p:nvPr/>
        </p:nvSpPr>
        <p:spPr>
          <a:xfrm>
            <a:off x="5971032" y="3931920"/>
            <a:ext cx="2880360" cy="420624"/>
          </a:xfrm>
          <a:prstGeom prst="rect">
            <a:avLst/>
          </a:prstGeom>
          <a:solidFill>
            <a:srgbClr val="EDF4F6"/>
          </a:solidFill>
          <a:ln w="12700">
            <a:solidFill>
              <a:srgbClr val="C5D5DE"/>
            </a:solidFill>
            <a:prstDash val="solid"/>
          </a:ln>
        </p:spPr>
      </p:sp>
      <p:sp>
        <p:nvSpPr>
          <p:cNvPr id="30" name="Text 27"/>
          <p:cNvSpPr/>
          <p:nvPr/>
        </p:nvSpPr>
        <p:spPr>
          <a:xfrm>
            <a:off x="6035040" y="3931920"/>
            <a:ext cx="1554480" cy="420624"/>
          </a:xfrm>
          <a:prstGeom prst="rect">
            <a:avLst/>
          </a:prstGeom>
          <a:noFill/>
          <a:ln/>
        </p:spPr>
        <p:txBody>
          <a:bodyPr wrap="square" rtlCol="0" anchor="ctr"/>
          <a:lstStyle/>
          <a:p>
            <a:pPr marL="0" indent="0">
              <a:buNone/>
            </a:pPr>
            <a:r>
              <a:rPr lang="en-US" sz="1050" dirty="0">
                <a:solidFill>
                  <a:srgbClr val="5A6A7A"/>
                </a:solidFill>
                <a:latin typeface="Calibri" pitchFamily="34" charset="0"/>
                <a:ea typeface="Calibri" pitchFamily="34" charset="-122"/>
                <a:cs typeface="Calibri" pitchFamily="34" charset="-120"/>
              </a:rPr>
              <a:t>Censored</a:t>
            </a:r>
            <a:endParaRPr lang="en-US" sz="1050" dirty="0"/>
          </a:p>
        </p:txBody>
      </p:sp>
      <p:sp>
        <p:nvSpPr>
          <p:cNvPr id="31" name="Text 28"/>
          <p:cNvSpPr/>
          <p:nvPr/>
        </p:nvSpPr>
        <p:spPr>
          <a:xfrm>
            <a:off x="7589520" y="3931920"/>
            <a:ext cx="1234440" cy="420624"/>
          </a:xfrm>
          <a:prstGeom prst="rect">
            <a:avLst/>
          </a:prstGeom>
          <a:noFill/>
          <a:ln/>
        </p:spPr>
        <p:txBody>
          <a:bodyPr wrap="square" rtlCol="0" anchor="ctr"/>
          <a:lstStyle/>
          <a:p>
            <a:pPr marL="0" indent="0" algn="r">
              <a:buNone/>
            </a:pPr>
            <a:r>
              <a:rPr lang="en-US" sz="1100" b="1" dirty="0">
                <a:solidFill>
                  <a:srgbClr val="1A2E4A"/>
                </a:solidFill>
                <a:latin typeface="Calibri" pitchFamily="34" charset="0"/>
                <a:ea typeface="Calibri" pitchFamily="34" charset="-122"/>
                <a:cs typeface="Calibri" pitchFamily="34" charset="-120"/>
              </a:rPr>
              <a:t>837 (42.3%)</a:t>
            </a:r>
            <a:endParaRPr lang="en-US" sz="1100" dirty="0"/>
          </a:p>
        </p:txBody>
      </p:sp>
      <p:sp>
        <p:nvSpPr>
          <p:cNvPr id="32" name="Shape 29"/>
          <p:cNvSpPr/>
          <p:nvPr/>
        </p:nvSpPr>
        <p:spPr>
          <a:xfrm>
            <a:off x="5971032" y="4370832"/>
            <a:ext cx="2880360" cy="566928"/>
          </a:xfrm>
          <a:prstGeom prst="rect">
            <a:avLst/>
          </a:prstGeom>
          <a:solidFill>
            <a:srgbClr val="1B7A8A"/>
          </a:solidFill>
          <a:ln w="12700">
            <a:solidFill>
              <a:srgbClr val="1B7A8A"/>
            </a:solidFill>
            <a:prstDash val="solid"/>
          </a:ln>
        </p:spPr>
      </p:sp>
      <p:sp>
        <p:nvSpPr>
          <p:cNvPr id="33" name="Text 30"/>
          <p:cNvSpPr/>
          <p:nvPr/>
        </p:nvSpPr>
        <p:spPr>
          <a:xfrm>
            <a:off x="6035040" y="4389120"/>
            <a:ext cx="2743200" cy="530352"/>
          </a:xfrm>
          <a:prstGeom prst="rect">
            <a:avLst/>
          </a:prstGeom>
          <a:noFill/>
          <a:ln/>
        </p:spPr>
        <p:txBody>
          <a:bodyPr wrap="square" rtlCol="0" anchor="ctr"/>
          <a:lstStyle/>
          <a:p>
            <a:pPr marL="0" indent="0">
              <a:buNone/>
            </a:pPr>
            <a:r>
              <a:rPr lang="en-US" sz="1050" dirty="0">
                <a:solidFill>
                  <a:srgbClr val="FFFFFF"/>
                </a:solidFill>
                <a:latin typeface="Calibri" pitchFamily="34" charset="0"/>
                <a:ea typeface="Calibri" pitchFamily="34" charset="-122"/>
                <a:cs typeface="Calibri" pitchFamily="34" charset="-120"/>
              </a:rPr>
              <a:t>50% of patients survived beyond 156 months — approximately 13 years after diagnosis.</a:t>
            </a:r>
            <a:endParaRPr lang="en-US" sz="105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E4A"/>
          </a:solidFill>
          <a:ln w="12700">
            <a:solidFill>
              <a:srgbClr val="1A2E4A"/>
            </a:solidFill>
            <a:prstDash val="solid"/>
          </a:ln>
        </p:spPr>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Kaplan–Meier: Survival by ER Status</a:t>
            </a:r>
            <a:endParaRPr lang="en-US" sz="1600" dirty="0"/>
          </a:p>
        </p:txBody>
      </p:sp>
      <p:sp>
        <p:nvSpPr>
          <p:cNvPr id="4" name="Shape 2"/>
          <p:cNvSpPr/>
          <p:nvPr/>
        </p:nvSpPr>
        <p:spPr>
          <a:xfrm>
            <a:off x="0" y="502920"/>
            <a:ext cx="9144000" cy="36576"/>
          </a:xfrm>
          <a:prstGeom prst="rect">
            <a:avLst/>
          </a:prstGeom>
          <a:solidFill>
            <a:srgbClr val="1B7A8A"/>
          </a:solidFill>
          <a:ln w="12700">
            <a:solidFill>
              <a:srgbClr val="1B7A8A"/>
            </a:solidFill>
            <a:prstDash val="solid"/>
          </a:ln>
        </p:spPr>
      </p:sp>
      <p:sp>
        <p:nvSpPr>
          <p:cNvPr id="5" name="Shape 3"/>
          <p:cNvSpPr/>
          <p:nvPr/>
        </p:nvSpPr>
        <p:spPr>
          <a:xfrm>
            <a:off x="0" y="5093208"/>
            <a:ext cx="9144000" cy="50292"/>
          </a:xfrm>
          <a:prstGeom prst="rect">
            <a:avLst/>
          </a:prstGeom>
          <a:solidFill>
            <a:srgbClr val="1B7A8A"/>
          </a:solidFill>
          <a:ln w="12700">
            <a:solidFill>
              <a:srgbClr val="1B7A8A"/>
            </a:solidFill>
            <a:prstDash val="solid"/>
          </a:ln>
        </p:spPr>
      </p:sp>
      <p:sp>
        <p:nvSpPr>
          <p:cNvPr id="6" name="Text 4"/>
          <p:cNvSpPr/>
          <p:nvPr/>
        </p:nvSpPr>
        <p:spPr>
          <a:xfrm>
            <a:off x="320040" y="576072"/>
            <a:ext cx="8229600" cy="320040"/>
          </a:xfrm>
          <a:prstGeom prst="rect">
            <a:avLst/>
          </a:prstGeom>
          <a:noFill/>
          <a:ln/>
        </p:spPr>
        <p:txBody>
          <a:bodyPr wrap="square" rtlCol="0" anchor="ctr"/>
          <a:lstStyle/>
          <a:p>
            <a:pPr marL="0" indent="0">
              <a:buNone/>
            </a:pPr>
            <a:r>
              <a:rPr lang="en-US" sz="1200" i="1" dirty="0">
                <a:solidFill>
                  <a:srgbClr val="5A6A7A"/>
                </a:solidFill>
                <a:latin typeface="Calibri" pitchFamily="34" charset="0"/>
                <a:ea typeface="Calibri" pitchFamily="34" charset="-122"/>
                <a:cs typeface="Calibri" pitchFamily="34" charset="-120"/>
              </a:rPr>
              <a:t>Log-Rank Test Result</a:t>
            </a:r>
            <a:endParaRPr lang="en-US" sz="1200" dirty="0"/>
          </a:p>
        </p:txBody>
      </p:sp>
      <p:pic>
        <p:nvPicPr>
          <p:cNvPr id="7" name="Image 0" descr="preencoded.png"/>
          <p:cNvPicPr>
            <a:picLocks noChangeAspect="1"/>
          </p:cNvPicPr>
          <p:nvPr/>
        </p:nvPicPr>
        <p:blipFill>
          <a:blip r:embed="rId3"/>
          <a:stretch>
            <a:fillRect/>
          </a:stretch>
        </p:blipFill>
        <p:spPr>
          <a:xfrm>
            <a:off x="228600" y="658368"/>
            <a:ext cx="5669280" cy="4114800"/>
          </a:xfrm>
          <a:prstGeom prst="rect">
            <a:avLst/>
          </a:prstGeom>
        </p:spPr>
      </p:pic>
      <p:sp>
        <p:nvSpPr>
          <p:cNvPr id="8" name="Shape 5"/>
          <p:cNvSpPr/>
          <p:nvPr/>
        </p:nvSpPr>
        <p:spPr>
          <a:xfrm>
            <a:off x="6080760" y="658368"/>
            <a:ext cx="2880360" cy="4114800"/>
          </a:xfrm>
          <a:prstGeom prst="rect">
            <a:avLst/>
          </a:prstGeom>
          <a:solidFill>
            <a:srgbClr val="FFFFFF"/>
          </a:solidFill>
          <a:ln w="12700">
            <a:solidFill>
              <a:srgbClr val="C5D5DE"/>
            </a:solidFill>
            <a:prstDash val="solid"/>
          </a:ln>
          <a:effectLst>
            <a:outerShdw blurRad="50800" dist="25400" dir="8100000" algn="bl" rotWithShape="0">
              <a:srgbClr val="000000">
                <a:alpha val="8000"/>
              </a:srgbClr>
            </a:outerShdw>
          </a:effectLst>
        </p:spPr>
      </p:sp>
      <p:sp>
        <p:nvSpPr>
          <p:cNvPr id="9" name="Shape 6"/>
          <p:cNvSpPr/>
          <p:nvPr/>
        </p:nvSpPr>
        <p:spPr>
          <a:xfrm>
            <a:off x="6035040" y="658368"/>
            <a:ext cx="54864" cy="4114800"/>
          </a:xfrm>
          <a:prstGeom prst="rect">
            <a:avLst/>
          </a:prstGeom>
          <a:solidFill>
            <a:srgbClr val="1B7A8A"/>
          </a:solidFill>
          <a:ln w="12700">
            <a:solidFill>
              <a:srgbClr val="1B7A8A"/>
            </a:solidFill>
            <a:prstDash val="solid"/>
          </a:ln>
        </p:spPr>
      </p:sp>
      <p:sp>
        <p:nvSpPr>
          <p:cNvPr id="10" name="Text 7"/>
          <p:cNvSpPr/>
          <p:nvPr/>
        </p:nvSpPr>
        <p:spPr>
          <a:xfrm>
            <a:off x="6172200" y="749808"/>
            <a:ext cx="2560320" cy="347472"/>
          </a:xfrm>
          <a:prstGeom prst="rect">
            <a:avLst/>
          </a:prstGeom>
          <a:noFill/>
          <a:ln/>
        </p:spPr>
        <p:txBody>
          <a:bodyPr wrap="square"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ER Status Results</a:t>
            </a:r>
            <a:endParaRPr lang="en-US" sz="1300" dirty="0"/>
          </a:p>
        </p:txBody>
      </p:sp>
      <p:sp>
        <p:nvSpPr>
          <p:cNvPr id="11" name="Shape 8"/>
          <p:cNvSpPr/>
          <p:nvPr/>
        </p:nvSpPr>
        <p:spPr>
          <a:xfrm>
            <a:off x="6080760" y="1188720"/>
            <a:ext cx="868680" cy="347472"/>
          </a:xfrm>
          <a:prstGeom prst="rect">
            <a:avLst/>
          </a:prstGeom>
          <a:solidFill>
            <a:srgbClr val="1A2E4A"/>
          </a:solidFill>
          <a:ln w="12700">
            <a:solidFill>
              <a:srgbClr val="C5D5DE"/>
            </a:solidFill>
            <a:prstDash val="solid"/>
          </a:ln>
        </p:spPr>
      </p:sp>
      <p:sp>
        <p:nvSpPr>
          <p:cNvPr id="12" name="Text 9"/>
          <p:cNvSpPr/>
          <p:nvPr/>
        </p:nvSpPr>
        <p:spPr>
          <a:xfrm>
            <a:off x="6144768" y="1188720"/>
            <a:ext cx="758952"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Group</a:t>
            </a:r>
            <a:endParaRPr lang="en-US" sz="1100" dirty="0"/>
          </a:p>
        </p:txBody>
      </p:sp>
      <p:sp>
        <p:nvSpPr>
          <p:cNvPr id="13" name="Shape 10"/>
          <p:cNvSpPr/>
          <p:nvPr/>
        </p:nvSpPr>
        <p:spPr>
          <a:xfrm>
            <a:off x="6944868" y="1185863"/>
            <a:ext cx="640080" cy="347472"/>
          </a:xfrm>
          <a:prstGeom prst="rect">
            <a:avLst/>
          </a:prstGeom>
          <a:solidFill>
            <a:srgbClr val="1A2E4A"/>
          </a:solidFill>
          <a:ln w="12700">
            <a:solidFill>
              <a:srgbClr val="C5D5DE"/>
            </a:solidFill>
            <a:prstDash val="solid"/>
          </a:ln>
        </p:spPr>
      </p:sp>
      <p:sp>
        <p:nvSpPr>
          <p:cNvPr id="14" name="Text 11"/>
          <p:cNvSpPr/>
          <p:nvPr/>
        </p:nvSpPr>
        <p:spPr>
          <a:xfrm>
            <a:off x="7013448" y="1188720"/>
            <a:ext cx="530352"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a:t>
            </a:r>
            <a:endParaRPr lang="en-US" sz="1100" dirty="0"/>
          </a:p>
        </p:txBody>
      </p:sp>
      <p:sp>
        <p:nvSpPr>
          <p:cNvPr id="15" name="Shape 12"/>
          <p:cNvSpPr/>
          <p:nvPr/>
        </p:nvSpPr>
        <p:spPr>
          <a:xfrm>
            <a:off x="7589520" y="1188720"/>
            <a:ext cx="1234440" cy="347472"/>
          </a:xfrm>
          <a:prstGeom prst="rect">
            <a:avLst/>
          </a:prstGeom>
          <a:solidFill>
            <a:srgbClr val="1A2E4A"/>
          </a:solidFill>
          <a:ln w="12700">
            <a:solidFill>
              <a:srgbClr val="C5D5DE"/>
            </a:solidFill>
            <a:prstDash val="solid"/>
          </a:ln>
        </p:spPr>
      </p:sp>
      <p:sp>
        <p:nvSpPr>
          <p:cNvPr id="16" name="Text 13"/>
          <p:cNvSpPr/>
          <p:nvPr/>
        </p:nvSpPr>
        <p:spPr>
          <a:xfrm>
            <a:off x="7653528" y="1188720"/>
            <a:ext cx="1124712"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Deaths</a:t>
            </a:r>
            <a:endParaRPr lang="en-US" sz="1100" dirty="0"/>
          </a:p>
        </p:txBody>
      </p:sp>
      <p:sp>
        <p:nvSpPr>
          <p:cNvPr id="17" name="Shape 14"/>
          <p:cNvSpPr/>
          <p:nvPr/>
        </p:nvSpPr>
        <p:spPr>
          <a:xfrm>
            <a:off x="6080760" y="1536192"/>
            <a:ext cx="868680" cy="347472"/>
          </a:xfrm>
          <a:prstGeom prst="rect">
            <a:avLst/>
          </a:prstGeom>
          <a:solidFill>
            <a:srgbClr val="FFFFFF"/>
          </a:solidFill>
          <a:ln w="12700">
            <a:solidFill>
              <a:srgbClr val="C5D5DE"/>
            </a:solidFill>
            <a:prstDash val="solid"/>
          </a:ln>
        </p:spPr>
      </p:sp>
      <p:sp>
        <p:nvSpPr>
          <p:cNvPr id="18" name="Text 15"/>
          <p:cNvSpPr/>
          <p:nvPr/>
        </p:nvSpPr>
        <p:spPr>
          <a:xfrm>
            <a:off x="6144768" y="1536192"/>
            <a:ext cx="758952" cy="34747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ER Negative</a:t>
            </a:r>
            <a:endParaRPr lang="en-US" sz="1050" dirty="0"/>
          </a:p>
        </p:txBody>
      </p:sp>
      <p:sp>
        <p:nvSpPr>
          <p:cNvPr id="19" name="Shape 16"/>
          <p:cNvSpPr/>
          <p:nvPr/>
        </p:nvSpPr>
        <p:spPr>
          <a:xfrm>
            <a:off x="6949440" y="1536192"/>
            <a:ext cx="640080" cy="347472"/>
          </a:xfrm>
          <a:prstGeom prst="rect">
            <a:avLst/>
          </a:prstGeom>
          <a:solidFill>
            <a:srgbClr val="FFFFFF"/>
          </a:solidFill>
          <a:ln w="12700">
            <a:solidFill>
              <a:srgbClr val="C5D5DE"/>
            </a:solidFill>
            <a:prstDash val="solid"/>
          </a:ln>
        </p:spPr>
      </p:sp>
      <p:sp>
        <p:nvSpPr>
          <p:cNvPr id="20" name="Text 17"/>
          <p:cNvSpPr/>
          <p:nvPr/>
        </p:nvSpPr>
        <p:spPr>
          <a:xfrm>
            <a:off x="7013448" y="1536192"/>
            <a:ext cx="530352" cy="34747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474</a:t>
            </a:r>
            <a:endParaRPr lang="en-US" sz="1050" dirty="0"/>
          </a:p>
        </p:txBody>
      </p:sp>
      <p:sp>
        <p:nvSpPr>
          <p:cNvPr id="21" name="Shape 18"/>
          <p:cNvSpPr/>
          <p:nvPr/>
        </p:nvSpPr>
        <p:spPr>
          <a:xfrm>
            <a:off x="7589520" y="1536192"/>
            <a:ext cx="1234440" cy="347472"/>
          </a:xfrm>
          <a:prstGeom prst="rect">
            <a:avLst/>
          </a:prstGeom>
          <a:solidFill>
            <a:srgbClr val="FFFFFF"/>
          </a:solidFill>
          <a:ln w="12700">
            <a:solidFill>
              <a:srgbClr val="C5D5DE"/>
            </a:solidFill>
            <a:prstDash val="solid"/>
          </a:ln>
        </p:spPr>
      </p:sp>
      <p:sp>
        <p:nvSpPr>
          <p:cNvPr id="22" name="Text 19"/>
          <p:cNvSpPr/>
          <p:nvPr/>
        </p:nvSpPr>
        <p:spPr>
          <a:xfrm>
            <a:off x="7653528" y="1536192"/>
            <a:ext cx="1124712" cy="34747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262 (55%)</a:t>
            </a:r>
            <a:endParaRPr lang="en-US" sz="1050" dirty="0"/>
          </a:p>
        </p:txBody>
      </p:sp>
      <p:sp>
        <p:nvSpPr>
          <p:cNvPr id="23" name="Shape 20"/>
          <p:cNvSpPr/>
          <p:nvPr/>
        </p:nvSpPr>
        <p:spPr>
          <a:xfrm>
            <a:off x="6080760" y="1883664"/>
            <a:ext cx="868680" cy="347472"/>
          </a:xfrm>
          <a:prstGeom prst="rect">
            <a:avLst/>
          </a:prstGeom>
          <a:solidFill>
            <a:srgbClr val="FFFFFF"/>
          </a:solidFill>
          <a:ln w="12700">
            <a:solidFill>
              <a:srgbClr val="C5D5DE"/>
            </a:solidFill>
            <a:prstDash val="solid"/>
          </a:ln>
        </p:spPr>
      </p:sp>
      <p:sp>
        <p:nvSpPr>
          <p:cNvPr id="24" name="Text 21"/>
          <p:cNvSpPr/>
          <p:nvPr/>
        </p:nvSpPr>
        <p:spPr>
          <a:xfrm>
            <a:off x="6144768" y="1883664"/>
            <a:ext cx="758952" cy="34747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ER Positive</a:t>
            </a:r>
            <a:endParaRPr lang="en-US" sz="1050" dirty="0"/>
          </a:p>
        </p:txBody>
      </p:sp>
      <p:sp>
        <p:nvSpPr>
          <p:cNvPr id="25" name="Shape 22"/>
          <p:cNvSpPr/>
          <p:nvPr/>
        </p:nvSpPr>
        <p:spPr>
          <a:xfrm>
            <a:off x="6949440" y="1883664"/>
            <a:ext cx="640080" cy="347472"/>
          </a:xfrm>
          <a:prstGeom prst="rect">
            <a:avLst/>
          </a:prstGeom>
          <a:solidFill>
            <a:srgbClr val="FFFFFF"/>
          </a:solidFill>
          <a:ln w="12700">
            <a:solidFill>
              <a:srgbClr val="C5D5DE"/>
            </a:solidFill>
            <a:prstDash val="solid"/>
          </a:ln>
        </p:spPr>
      </p:sp>
      <p:sp>
        <p:nvSpPr>
          <p:cNvPr id="26" name="Text 23"/>
          <p:cNvSpPr/>
          <p:nvPr/>
        </p:nvSpPr>
        <p:spPr>
          <a:xfrm>
            <a:off x="7013448" y="1883664"/>
            <a:ext cx="530352" cy="34747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1,507</a:t>
            </a:r>
            <a:endParaRPr lang="en-US" sz="1050" dirty="0"/>
          </a:p>
        </p:txBody>
      </p:sp>
      <p:sp>
        <p:nvSpPr>
          <p:cNvPr id="27" name="Shape 24"/>
          <p:cNvSpPr/>
          <p:nvPr/>
        </p:nvSpPr>
        <p:spPr>
          <a:xfrm>
            <a:off x="7589520" y="1883664"/>
            <a:ext cx="1234440" cy="347472"/>
          </a:xfrm>
          <a:prstGeom prst="rect">
            <a:avLst/>
          </a:prstGeom>
          <a:solidFill>
            <a:srgbClr val="FFFFFF"/>
          </a:solidFill>
          <a:ln w="12700">
            <a:solidFill>
              <a:srgbClr val="C5D5DE"/>
            </a:solidFill>
            <a:prstDash val="solid"/>
          </a:ln>
        </p:spPr>
      </p:sp>
      <p:sp>
        <p:nvSpPr>
          <p:cNvPr id="28" name="Text 25"/>
          <p:cNvSpPr/>
          <p:nvPr/>
        </p:nvSpPr>
        <p:spPr>
          <a:xfrm>
            <a:off x="7653528" y="1883664"/>
            <a:ext cx="1124712" cy="34747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882 (59%)</a:t>
            </a:r>
            <a:endParaRPr lang="en-US" sz="1050" dirty="0"/>
          </a:p>
        </p:txBody>
      </p:sp>
      <p:sp>
        <p:nvSpPr>
          <p:cNvPr id="29" name="Shape 26"/>
          <p:cNvSpPr/>
          <p:nvPr/>
        </p:nvSpPr>
        <p:spPr>
          <a:xfrm>
            <a:off x="6445123" y="2268982"/>
            <a:ext cx="2197354" cy="254762"/>
          </a:xfrm>
          <a:prstGeom prst="rect">
            <a:avLst/>
          </a:prstGeom>
          <a:solidFill>
            <a:srgbClr val="B5304B"/>
          </a:solidFill>
          <a:ln w="12700">
            <a:solidFill>
              <a:srgbClr val="B5304B"/>
            </a:solidFill>
            <a:prstDash val="solid"/>
          </a:ln>
        </p:spPr>
      </p:sp>
      <p:sp>
        <p:nvSpPr>
          <p:cNvPr id="30" name="Text 27"/>
          <p:cNvSpPr/>
          <p:nvPr/>
        </p:nvSpPr>
        <p:spPr>
          <a:xfrm>
            <a:off x="6080760" y="2177351"/>
            <a:ext cx="274320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Log-Rank p = 0.04 ★</a:t>
            </a:r>
            <a:endParaRPr lang="en-US" sz="1400" dirty="0"/>
          </a:p>
        </p:txBody>
      </p:sp>
      <p:sp>
        <p:nvSpPr>
          <p:cNvPr id="31" name="Shape 28"/>
          <p:cNvSpPr/>
          <p:nvPr/>
        </p:nvSpPr>
        <p:spPr>
          <a:xfrm>
            <a:off x="6126480" y="2576449"/>
            <a:ext cx="2743200" cy="384048"/>
          </a:xfrm>
          <a:prstGeom prst="rect">
            <a:avLst/>
          </a:prstGeom>
          <a:solidFill>
            <a:srgbClr val="1A2E4A"/>
          </a:solidFill>
          <a:ln w="12700">
            <a:solidFill>
              <a:srgbClr val="1A2E4A"/>
            </a:solidFill>
            <a:prstDash val="solid"/>
          </a:ln>
        </p:spPr>
      </p:sp>
      <p:sp>
        <p:nvSpPr>
          <p:cNvPr id="32" name="Text 29"/>
          <p:cNvSpPr/>
          <p:nvPr/>
        </p:nvSpPr>
        <p:spPr>
          <a:xfrm>
            <a:off x="6080760" y="2551176"/>
            <a:ext cx="2743200" cy="384048"/>
          </a:xfrm>
          <a:prstGeom prst="rect">
            <a:avLst/>
          </a:prstGeom>
          <a:noFill/>
          <a:ln/>
        </p:spPr>
        <p:txBody>
          <a:bodyPr wrap="square" lIns="0" tIns="0" rIns="0" bIns="0" rtlCol="0" anchor="ctr"/>
          <a:lstStyle/>
          <a:p>
            <a:pPr marL="0" indent="0" algn="ctr">
              <a:buNone/>
            </a:pPr>
            <a:r>
              <a:rPr lang="en-US" sz="1150" b="1" dirty="0">
                <a:solidFill>
                  <a:srgbClr val="D4870A"/>
                </a:solidFill>
                <a:latin typeface="Calibri" pitchFamily="34" charset="0"/>
                <a:ea typeface="Calibri" pitchFamily="34" charset="-122"/>
                <a:cs typeface="Calibri" pitchFamily="34" charset="-120"/>
              </a:rPr>
              <a:t>HR = 0.862   (95% CI: 0.751–0.990)</a:t>
            </a:r>
            <a:endParaRPr lang="en-US" sz="1150" dirty="0"/>
          </a:p>
        </p:txBody>
      </p:sp>
      <p:sp>
        <p:nvSpPr>
          <p:cNvPr id="33" name="Text 30"/>
          <p:cNvSpPr/>
          <p:nvPr/>
        </p:nvSpPr>
        <p:spPr>
          <a:xfrm>
            <a:off x="6080760" y="2999232"/>
            <a:ext cx="2743200" cy="292608"/>
          </a:xfrm>
          <a:prstGeom prst="rect">
            <a:avLst/>
          </a:prstGeom>
          <a:noFill/>
          <a:ln/>
        </p:spPr>
        <p:txBody>
          <a:bodyPr wrap="square" rtlCol="0" anchor="ctr"/>
          <a:lstStyle/>
          <a:p>
            <a:pPr marL="0" indent="0">
              <a:buNone/>
            </a:pPr>
            <a:r>
              <a:rPr lang="en-US" sz="1200" b="1" dirty="0">
                <a:solidFill>
                  <a:srgbClr val="1A2E4A"/>
                </a:solidFill>
                <a:latin typeface="Calibri" pitchFamily="34" charset="0"/>
                <a:ea typeface="Calibri" pitchFamily="34" charset="-122"/>
                <a:cs typeface="Calibri" pitchFamily="34" charset="-120"/>
              </a:rPr>
              <a:t>Interpretation</a:t>
            </a:r>
            <a:endParaRPr lang="en-US" sz="1200" dirty="0"/>
          </a:p>
        </p:txBody>
      </p:sp>
      <p:sp>
        <p:nvSpPr>
          <p:cNvPr id="34" name="Text 31"/>
          <p:cNvSpPr/>
          <p:nvPr/>
        </p:nvSpPr>
        <p:spPr>
          <a:xfrm>
            <a:off x="6080760" y="3337560"/>
            <a:ext cx="2743200" cy="347472"/>
          </a:xfrm>
          <a:prstGeom prst="rect">
            <a:avLst/>
          </a:prstGeom>
          <a:noFill/>
          <a:ln/>
        </p:spPr>
        <p:txBody>
          <a:bodyPr wrap="square" rtlCol="0" anchor="ctr"/>
          <a:lstStyle/>
          <a:p>
            <a:pPr marL="0" indent="0">
              <a:buNone/>
            </a:pPr>
            <a:r>
              <a:rPr lang="en-US" sz="1000" dirty="0">
                <a:solidFill>
                  <a:srgbClr val="1A2E4A"/>
                </a:solidFill>
                <a:latin typeface="Calibri" pitchFamily="34" charset="0"/>
                <a:ea typeface="Calibri" pitchFamily="34" charset="-122"/>
                <a:cs typeface="Calibri" pitchFamily="34" charset="-120"/>
              </a:rPr>
              <a:t>▸  ER+ patients have 14% lower hazard (risk) of death than ER− patients</a:t>
            </a:r>
            <a:endParaRPr lang="en-US" sz="1000" dirty="0"/>
          </a:p>
        </p:txBody>
      </p:sp>
      <p:sp>
        <p:nvSpPr>
          <p:cNvPr id="35" name="Text 32"/>
          <p:cNvSpPr/>
          <p:nvPr/>
        </p:nvSpPr>
        <p:spPr>
          <a:xfrm>
            <a:off x="6080760" y="3739896"/>
            <a:ext cx="2743200" cy="347472"/>
          </a:xfrm>
          <a:prstGeom prst="rect">
            <a:avLst/>
          </a:prstGeom>
          <a:noFill/>
          <a:ln/>
        </p:spPr>
        <p:txBody>
          <a:bodyPr wrap="square" rtlCol="0" anchor="ctr"/>
          <a:lstStyle/>
          <a:p>
            <a:pPr marL="0" indent="0">
              <a:buNone/>
            </a:pPr>
            <a:r>
              <a:rPr lang="en-US" sz="1000" dirty="0">
                <a:solidFill>
                  <a:srgbClr val="1A2E4A"/>
                </a:solidFill>
                <a:latin typeface="Calibri" pitchFamily="34" charset="0"/>
                <a:ea typeface="Calibri" pitchFamily="34" charset="-122"/>
                <a:cs typeface="Calibri" pitchFamily="34" charset="-120"/>
              </a:rPr>
              <a:t>▸  The difference in survival curves is statistically significant (p=0.04)</a:t>
            </a:r>
            <a:endParaRPr lang="en-US" sz="1000" dirty="0"/>
          </a:p>
        </p:txBody>
      </p:sp>
      <p:sp>
        <p:nvSpPr>
          <p:cNvPr id="36" name="Text 33"/>
          <p:cNvSpPr/>
          <p:nvPr/>
        </p:nvSpPr>
        <p:spPr>
          <a:xfrm>
            <a:off x="6080760" y="4087368"/>
            <a:ext cx="2743200" cy="347472"/>
          </a:xfrm>
          <a:prstGeom prst="rect">
            <a:avLst/>
          </a:prstGeom>
          <a:noFill/>
          <a:ln/>
        </p:spPr>
        <p:txBody>
          <a:bodyPr wrap="square" rtlCol="0" anchor="ctr"/>
          <a:lstStyle/>
          <a:p>
            <a:pPr marL="0" indent="0">
              <a:buNone/>
            </a:pPr>
            <a:r>
              <a:rPr lang="en-US" sz="1000" dirty="0">
                <a:solidFill>
                  <a:srgbClr val="1A2E4A"/>
                </a:solidFill>
                <a:latin typeface="Calibri" pitchFamily="34" charset="0"/>
                <a:ea typeface="Calibri" pitchFamily="34" charset="-122"/>
                <a:cs typeface="Calibri" pitchFamily="34" charset="-120"/>
              </a:rPr>
              <a:t>▸  ER+ tumors respond to hormone therapy, explaining better survival</a:t>
            </a:r>
            <a:endParaRPr lang="en-US" sz="1000" dirty="0"/>
          </a:p>
        </p:txBody>
      </p:sp>
      <p:sp>
        <p:nvSpPr>
          <p:cNvPr id="37" name="Text 34"/>
          <p:cNvSpPr/>
          <p:nvPr/>
        </p:nvSpPr>
        <p:spPr>
          <a:xfrm>
            <a:off x="6089904" y="4430014"/>
            <a:ext cx="2743200" cy="347472"/>
          </a:xfrm>
          <a:prstGeom prst="rect">
            <a:avLst/>
          </a:prstGeom>
          <a:noFill/>
          <a:ln/>
        </p:spPr>
        <p:txBody>
          <a:bodyPr wrap="square" rtlCol="0" anchor="ctr"/>
          <a:lstStyle/>
          <a:p>
            <a:pPr marL="0" indent="0">
              <a:buNone/>
            </a:pPr>
            <a:r>
              <a:rPr lang="en-US" sz="1000" dirty="0">
                <a:solidFill>
                  <a:srgbClr val="1A2E4A"/>
                </a:solidFill>
                <a:latin typeface="Calibri" pitchFamily="34" charset="0"/>
                <a:ea typeface="Calibri" pitchFamily="34" charset="-122"/>
                <a:cs typeface="Calibri" pitchFamily="34" charset="-120"/>
              </a:rPr>
              <a:t>▸  Effect is relatively modest — curves are close together</a:t>
            </a:r>
            <a:endParaRPr lang="en-US" sz="10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E4A"/>
          </a:solidFill>
          <a:ln w="12700">
            <a:solidFill>
              <a:srgbClr val="1A2E4A"/>
            </a:solidFill>
            <a:prstDash val="solid"/>
          </a:ln>
        </p:spPr>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Kaplan–Meier: Survival by HER2 Status</a:t>
            </a:r>
            <a:endParaRPr lang="en-US" sz="1600" dirty="0"/>
          </a:p>
        </p:txBody>
      </p:sp>
      <p:sp>
        <p:nvSpPr>
          <p:cNvPr id="4" name="Shape 2"/>
          <p:cNvSpPr/>
          <p:nvPr/>
        </p:nvSpPr>
        <p:spPr>
          <a:xfrm>
            <a:off x="0" y="502920"/>
            <a:ext cx="9144000" cy="36576"/>
          </a:xfrm>
          <a:prstGeom prst="rect">
            <a:avLst/>
          </a:prstGeom>
          <a:solidFill>
            <a:srgbClr val="1B7A8A"/>
          </a:solidFill>
          <a:ln w="12700">
            <a:solidFill>
              <a:srgbClr val="1B7A8A"/>
            </a:solidFill>
            <a:prstDash val="solid"/>
          </a:ln>
        </p:spPr>
      </p:sp>
      <p:sp>
        <p:nvSpPr>
          <p:cNvPr id="5" name="Shape 3"/>
          <p:cNvSpPr/>
          <p:nvPr/>
        </p:nvSpPr>
        <p:spPr>
          <a:xfrm>
            <a:off x="0" y="5093208"/>
            <a:ext cx="9144000" cy="50292"/>
          </a:xfrm>
          <a:prstGeom prst="rect">
            <a:avLst/>
          </a:prstGeom>
          <a:solidFill>
            <a:srgbClr val="1B7A8A"/>
          </a:solidFill>
          <a:ln w="12700">
            <a:solidFill>
              <a:srgbClr val="1B7A8A"/>
            </a:solidFill>
            <a:prstDash val="solid"/>
          </a:ln>
        </p:spPr>
      </p:sp>
      <p:sp>
        <p:nvSpPr>
          <p:cNvPr id="6" name="Text 4"/>
          <p:cNvSpPr/>
          <p:nvPr/>
        </p:nvSpPr>
        <p:spPr>
          <a:xfrm>
            <a:off x="320040" y="576072"/>
            <a:ext cx="8229600" cy="320040"/>
          </a:xfrm>
          <a:prstGeom prst="rect">
            <a:avLst/>
          </a:prstGeom>
          <a:noFill/>
          <a:ln/>
        </p:spPr>
        <p:txBody>
          <a:bodyPr wrap="square" rtlCol="0" anchor="ctr"/>
          <a:lstStyle/>
          <a:p>
            <a:pPr marL="0" indent="0">
              <a:buNone/>
            </a:pPr>
            <a:r>
              <a:rPr lang="en-US" sz="1200" i="1" dirty="0">
                <a:solidFill>
                  <a:srgbClr val="5A6A7A"/>
                </a:solidFill>
                <a:latin typeface="Calibri" pitchFamily="34" charset="0"/>
                <a:ea typeface="Calibri" pitchFamily="34" charset="-122"/>
                <a:cs typeface="Calibri" pitchFamily="34" charset="-120"/>
              </a:rPr>
              <a:t>Log-Rank Test Result</a:t>
            </a:r>
            <a:endParaRPr lang="en-US" sz="1200" dirty="0"/>
          </a:p>
        </p:txBody>
      </p:sp>
      <p:pic>
        <p:nvPicPr>
          <p:cNvPr id="7" name="Image 0" descr="preencoded.png"/>
          <p:cNvPicPr>
            <a:picLocks noChangeAspect="1"/>
          </p:cNvPicPr>
          <p:nvPr/>
        </p:nvPicPr>
        <p:blipFill>
          <a:blip r:embed="rId3"/>
          <a:stretch>
            <a:fillRect/>
          </a:stretch>
        </p:blipFill>
        <p:spPr>
          <a:xfrm>
            <a:off x="228600" y="658368"/>
            <a:ext cx="5669280" cy="4114800"/>
          </a:xfrm>
          <a:prstGeom prst="rect">
            <a:avLst/>
          </a:prstGeom>
        </p:spPr>
      </p:pic>
      <p:sp>
        <p:nvSpPr>
          <p:cNvPr id="8" name="Shape 5"/>
          <p:cNvSpPr/>
          <p:nvPr/>
        </p:nvSpPr>
        <p:spPr>
          <a:xfrm>
            <a:off x="6035040" y="658368"/>
            <a:ext cx="2880360" cy="4114800"/>
          </a:xfrm>
          <a:prstGeom prst="rect">
            <a:avLst/>
          </a:prstGeom>
          <a:solidFill>
            <a:srgbClr val="FFFFFF"/>
          </a:solidFill>
          <a:ln w="12700">
            <a:solidFill>
              <a:srgbClr val="C5D5DE"/>
            </a:solidFill>
            <a:prstDash val="solid"/>
          </a:ln>
          <a:effectLst>
            <a:outerShdw blurRad="50800" dist="25400" dir="8100000" algn="bl" rotWithShape="0">
              <a:srgbClr val="000000">
                <a:alpha val="8000"/>
              </a:srgbClr>
            </a:outerShdw>
          </a:effectLst>
        </p:spPr>
      </p:sp>
      <p:sp>
        <p:nvSpPr>
          <p:cNvPr id="9" name="Shape 6"/>
          <p:cNvSpPr/>
          <p:nvPr/>
        </p:nvSpPr>
        <p:spPr>
          <a:xfrm>
            <a:off x="6035040" y="658368"/>
            <a:ext cx="54864" cy="4114800"/>
          </a:xfrm>
          <a:prstGeom prst="rect">
            <a:avLst/>
          </a:prstGeom>
          <a:solidFill>
            <a:srgbClr val="B5304B"/>
          </a:solidFill>
          <a:ln w="12700">
            <a:solidFill>
              <a:srgbClr val="B5304B"/>
            </a:solidFill>
            <a:prstDash val="solid"/>
          </a:ln>
        </p:spPr>
      </p:sp>
      <p:sp>
        <p:nvSpPr>
          <p:cNvPr id="10" name="Text 7"/>
          <p:cNvSpPr/>
          <p:nvPr/>
        </p:nvSpPr>
        <p:spPr>
          <a:xfrm>
            <a:off x="6172200" y="749808"/>
            <a:ext cx="2560320" cy="347472"/>
          </a:xfrm>
          <a:prstGeom prst="rect">
            <a:avLst/>
          </a:prstGeom>
          <a:noFill/>
          <a:ln/>
        </p:spPr>
        <p:txBody>
          <a:bodyPr wrap="square"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HER2 Status Results</a:t>
            </a:r>
            <a:endParaRPr lang="en-US" sz="1300" dirty="0"/>
          </a:p>
        </p:txBody>
      </p:sp>
      <p:sp>
        <p:nvSpPr>
          <p:cNvPr id="11" name="Shape 8"/>
          <p:cNvSpPr/>
          <p:nvPr/>
        </p:nvSpPr>
        <p:spPr>
          <a:xfrm>
            <a:off x="6080760" y="1188720"/>
            <a:ext cx="868680" cy="347472"/>
          </a:xfrm>
          <a:prstGeom prst="rect">
            <a:avLst/>
          </a:prstGeom>
          <a:solidFill>
            <a:srgbClr val="1A2E4A"/>
          </a:solidFill>
          <a:ln w="12700">
            <a:solidFill>
              <a:srgbClr val="C5D5DE"/>
            </a:solidFill>
            <a:prstDash val="solid"/>
          </a:ln>
        </p:spPr>
      </p:sp>
      <p:sp>
        <p:nvSpPr>
          <p:cNvPr id="12" name="Text 9"/>
          <p:cNvSpPr/>
          <p:nvPr/>
        </p:nvSpPr>
        <p:spPr>
          <a:xfrm>
            <a:off x="6144768" y="1188720"/>
            <a:ext cx="758952"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Group</a:t>
            </a:r>
            <a:endParaRPr lang="en-US" sz="1100" dirty="0"/>
          </a:p>
        </p:txBody>
      </p:sp>
      <p:sp>
        <p:nvSpPr>
          <p:cNvPr id="13" name="Shape 10"/>
          <p:cNvSpPr/>
          <p:nvPr/>
        </p:nvSpPr>
        <p:spPr>
          <a:xfrm>
            <a:off x="6949440" y="1188720"/>
            <a:ext cx="640080" cy="347472"/>
          </a:xfrm>
          <a:prstGeom prst="rect">
            <a:avLst/>
          </a:prstGeom>
          <a:solidFill>
            <a:srgbClr val="1A2E4A"/>
          </a:solidFill>
          <a:ln w="12700">
            <a:solidFill>
              <a:srgbClr val="C5D5DE"/>
            </a:solidFill>
            <a:prstDash val="solid"/>
          </a:ln>
        </p:spPr>
      </p:sp>
      <p:sp>
        <p:nvSpPr>
          <p:cNvPr id="14" name="Text 11"/>
          <p:cNvSpPr/>
          <p:nvPr/>
        </p:nvSpPr>
        <p:spPr>
          <a:xfrm>
            <a:off x="7013448" y="1188720"/>
            <a:ext cx="530352"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a:t>
            </a:r>
            <a:endParaRPr lang="en-US" sz="1100" dirty="0"/>
          </a:p>
        </p:txBody>
      </p:sp>
      <p:sp>
        <p:nvSpPr>
          <p:cNvPr id="15" name="Shape 12"/>
          <p:cNvSpPr/>
          <p:nvPr/>
        </p:nvSpPr>
        <p:spPr>
          <a:xfrm>
            <a:off x="7589520" y="1188720"/>
            <a:ext cx="1234440" cy="347472"/>
          </a:xfrm>
          <a:prstGeom prst="rect">
            <a:avLst/>
          </a:prstGeom>
          <a:solidFill>
            <a:srgbClr val="1A2E4A"/>
          </a:solidFill>
          <a:ln w="12700">
            <a:solidFill>
              <a:srgbClr val="C5D5DE"/>
            </a:solidFill>
            <a:prstDash val="solid"/>
          </a:ln>
        </p:spPr>
      </p:sp>
      <p:sp>
        <p:nvSpPr>
          <p:cNvPr id="16" name="Text 13"/>
          <p:cNvSpPr/>
          <p:nvPr/>
        </p:nvSpPr>
        <p:spPr>
          <a:xfrm>
            <a:off x="7653528" y="1188720"/>
            <a:ext cx="1124712" cy="34747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Deaths</a:t>
            </a:r>
            <a:endParaRPr lang="en-US" sz="1100" dirty="0"/>
          </a:p>
        </p:txBody>
      </p:sp>
      <p:sp>
        <p:nvSpPr>
          <p:cNvPr id="17" name="Shape 14"/>
          <p:cNvSpPr/>
          <p:nvPr/>
        </p:nvSpPr>
        <p:spPr>
          <a:xfrm>
            <a:off x="6080760" y="1536192"/>
            <a:ext cx="868680" cy="347472"/>
          </a:xfrm>
          <a:prstGeom prst="rect">
            <a:avLst/>
          </a:prstGeom>
          <a:solidFill>
            <a:srgbClr val="FFFFFF"/>
          </a:solidFill>
          <a:ln w="12700">
            <a:solidFill>
              <a:srgbClr val="C5D5DE"/>
            </a:solidFill>
            <a:prstDash val="solid"/>
          </a:ln>
        </p:spPr>
      </p:sp>
      <p:sp>
        <p:nvSpPr>
          <p:cNvPr id="18" name="Text 15"/>
          <p:cNvSpPr/>
          <p:nvPr/>
        </p:nvSpPr>
        <p:spPr>
          <a:xfrm>
            <a:off x="6144768" y="1536192"/>
            <a:ext cx="758952" cy="34747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HER2 Negative</a:t>
            </a:r>
            <a:endParaRPr lang="en-US" sz="1050" dirty="0"/>
          </a:p>
        </p:txBody>
      </p:sp>
      <p:sp>
        <p:nvSpPr>
          <p:cNvPr id="19" name="Shape 16"/>
          <p:cNvSpPr/>
          <p:nvPr/>
        </p:nvSpPr>
        <p:spPr>
          <a:xfrm>
            <a:off x="6949440" y="1536192"/>
            <a:ext cx="640080" cy="347472"/>
          </a:xfrm>
          <a:prstGeom prst="rect">
            <a:avLst/>
          </a:prstGeom>
          <a:solidFill>
            <a:srgbClr val="FFFFFF"/>
          </a:solidFill>
          <a:ln w="12700">
            <a:solidFill>
              <a:srgbClr val="C5D5DE"/>
            </a:solidFill>
            <a:prstDash val="solid"/>
          </a:ln>
        </p:spPr>
      </p:sp>
      <p:sp>
        <p:nvSpPr>
          <p:cNvPr id="20" name="Text 17"/>
          <p:cNvSpPr/>
          <p:nvPr/>
        </p:nvSpPr>
        <p:spPr>
          <a:xfrm>
            <a:off x="7013448" y="1536192"/>
            <a:ext cx="530352" cy="34747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1,733</a:t>
            </a:r>
            <a:endParaRPr lang="en-US" sz="1050" dirty="0"/>
          </a:p>
        </p:txBody>
      </p:sp>
      <p:sp>
        <p:nvSpPr>
          <p:cNvPr id="21" name="Shape 18"/>
          <p:cNvSpPr/>
          <p:nvPr/>
        </p:nvSpPr>
        <p:spPr>
          <a:xfrm>
            <a:off x="7589520" y="1536192"/>
            <a:ext cx="1234440" cy="347472"/>
          </a:xfrm>
          <a:prstGeom prst="rect">
            <a:avLst/>
          </a:prstGeom>
          <a:solidFill>
            <a:srgbClr val="FFFFFF"/>
          </a:solidFill>
          <a:ln w="12700">
            <a:solidFill>
              <a:srgbClr val="C5D5DE"/>
            </a:solidFill>
            <a:prstDash val="solid"/>
          </a:ln>
        </p:spPr>
      </p:sp>
      <p:sp>
        <p:nvSpPr>
          <p:cNvPr id="22" name="Text 19"/>
          <p:cNvSpPr/>
          <p:nvPr/>
        </p:nvSpPr>
        <p:spPr>
          <a:xfrm>
            <a:off x="7653528" y="1536192"/>
            <a:ext cx="1124712" cy="34747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988 (57%)</a:t>
            </a:r>
            <a:endParaRPr lang="en-US" sz="1050" dirty="0"/>
          </a:p>
        </p:txBody>
      </p:sp>
      <p:sp>
        <p:nvSpPr>
          <p:cNvPr id="23" name="Shape 20"/>
          <p:cNvSpPr/>
          <p:nvPr/>
        </p:nvSpPr>
        <p:spPr>
          <a:xfrm>
            <a:off x="6080760" y="1883664"/>
            <a:ext cx="868680" cy="347472"/>
          </a:xfrm>
          <a:prstGeom prst="rect">
            <a:avLst/>
          </a:prstGeom>
          <a:solidFill>
            <a:srgbClr val="FFFFFF"/>
          </a:solidFill>
          <a:ln w="12700">
            <a:solidFill>
              <a:srgbClr val="C5D5DE"/>
            </a:solidFill>
            <a:prstDash val="solid"/>
          </a:ln>
        </p:spPr>
      </p:sp>
      <p:sp>
        <p:nvSpPr>
          <p:cNvPr id="24" name="Text 21"/>
          <p:cNvSpPr/>
          <p:nvPr/>
        </p:nvSpPr>
        <p:spPr>
          <a:xfrm>
            <a:off x="6144768" y="1883664"/>
            <a:ext cx="758952" cy="34747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HER2 Positive</a:t>
            </a:r>
            <a:endParaRPr lang="en-US" sz="1050" dirty="0"/>
          </a:p>
        </p:txBody>
      </p:sp>
      <p:sp>
        <p:nvSpPr>
          <p:cNvPr id="25" name="Shape 22"/>
          <p:cNvSpPr/>
          <p:nvPr/>
        </p:nvSpPr>
        <p:spPr>
          <a:xfrm>
            <a:off x="6949440" y="1883664"/>
            <a:ext cx="640080" cy="347472"/>
          </a:xfrm>
          <a:prstGeom prst="rect">
            <a:avLst/>
          </a:prstGeom>
          <a:solidFill>
            <a:srgbClr val="FFFFFF"/>
          </a:solidFill>
          <a:ln w="12700">
            <a:solidFill>
              <a:srgbClr val="C5D5DE"/>
            </a:solidFill>
            <a:prstDash val="solid"/>
          </a:ln>
        </p:spPr>
      </p:sp>
      <p:sp>
        <p:nvSpPr>
          <p:cNvPr id="26" name="Text 23"/>
          <p:cNvSpPr/>
          <p:nvPr/>
        </p:nvSpPr>
        <p:spPr>
          <a:xfrm>
            <a:off x="7013448" y="1883664"/>
            <a:ext cx="530352" cy="34747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247</a:t>
            </a:r>
            <a:endParaRPr lang="en-US" sz="1050" dirty="0"/>
          </a:p>
        </p:txBody>
      </p:sp>
      <p:sp>
        <p:nvSpPr>
          <p:cNvPr id="27" name="Shape 24"/>
          <p:cNvSpPr/>
          <p:nvPr/>
        </p:nvSpPr>
        <p:spPr>
          <a:xfrm>
            <a:off x="7589520" y="1883664"/>
            <a:ext cx="1234440" cy="347472"/>
          </a:xfrm>
          <a:prstGeom prst="rect">
            <a:avLst/>
          </a:prstGeom>
          <a:solidFill>
            <a:srgbClr val="FFFFFF"/>
          </a:solidFill>
          <a:ln w="12700">
            <a:solidFill>
              <a:srgbClr val="C5D5DE"/>
            </a:solidFill>
            <a:prstDash val="solid"/>
          </a:ln>
        </p:spPr>
      </p:sp>
      <p:sp>
        <p:nvSpPr>
          <p:cNvPr id="28" name="Text 25"/>
          <p:cNvSpPr/>
          <p:nvPr/>
        </p:nvSpPr>
        <p:spPr>
          <a:xfrm>
            <a:off x="7653528" y="1883664"/>
            <a:ext cx="1124712" cy="34747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155 (63%)</a:t>
            </a:r>
            <a:endParaRPr lang="en-US" sz="1050" dirty="0"/>
          </a:p>
        </p:txBody>
      </p:sp>
      <p:sp>
        <p:nvSpPr>
          <p:cNvPr id="29" name="Shape 26"/>
          <p:cNvSpPr/>
          <p:nvPr/>
        </p:nvSpPr>
        <p:spPr>
          <a:xfrm>
            <a:off x="6332982" y="2244852"/>
            <a:ext cx="2339340" cy="301752"/>
          </a:xfrm>
          <a:prstGeom prst="rect">
            <a:avLst/>
          </a:prstGeom>
          <a:solidFill>
            <a:srgbClr val="B5304B"/>
          </a:solidFill>
          <a:ln w="12700">
            <a:solidFill>
              <a:srgbClr val="B5304B"/>
            </a:solidFill>
            <a:prstDash val="solid"/>
          </a:ln>
        </p:spPr>
      </p:sp>
      <p:sp>
        <p:nvSpPr>
          <p:cNvPr id="30" name="Text 27"/>
          <p:cNvSpPr/>
          <p:nvPr/>
        </p:nvSpPr>
        <p:spPr>
          <a:xfrm>
            <a:off x="6478905" y="2196846"/>
            <a:ext cx="2038350" cy="33832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Log-Rank p = 9×10⁻⁶ ★★★</a:t>
            </a:r>
            <a:endParaRPr lang="en-US" sz="1300" dirty="0"/>
          </a:p>
        </p:txBody>
      </p:sp>
      <p:sp>
        <p:nvSpPr>
          <p:cNvPr id="31" name="Shape 28"/>
          <p:cNvSpPr/>
          <p:nvPr/>
        </p:nvSpPr>
        <p:spPr>
          <a:xfrm>
            <a:off x="6103747" y="2587752"/>
            <a:ext cx="2743200" cy="384048"/>
          </a:xfrm>
          <a:prstGeom prst="rect">
            <a:avLst/>
          </a:prstGeom>
          <a:solidFill>
            <a:srgbClr val="1A2E4A"/>
          </a:solidFill>
          <a:ln w="12700">
            <a:solidFill>
              <a:srgbClr val="1A2E4A"/>
            </a:solidFill>
            <a:prstDash val="solid"/>
          </a:ln>
        </p:spPr>
      </p:sp>
      <p:sp>
        <p:nvSpPr>
          <p:cNvPr id="32" name="Text 29"/>
          <p:cNvSpPr/>
          <p:nvPr/>
        </p:nvSpPr>
        <p:spPr>
          <a:xfrm>
            <a:off x="6080760" y="2487168"/>
            <a:ext cx="2743200" cy="384048"/>
          </a:xfrm>
          <a:prstGeom prst="rect">
            <a:avLst/>
          </a:prstGeom>
          <a:noFill/>
          <a:ln/>
        </p:spPr>
        <p:txBody>
          <a:bodyPr wrap="square" lIns="0" tIns="0" rIns="0" bIns="0" rtlCol="0" anchor="ctr"/>
          <a:lstStyle/>
          <a:p>
            <a:pPr marL="0" indent="0" algn="ctr">
              <a:buNone/>
            </a:pPr>
            <a:r>
              <a:rPr lang="en-US" sz="1150" b="1" dirty="0">
                <a:solidFill>
                  <a:srgbClr val="D4870A"/>
                </a:solidFill>
                <a:latin typeface="Calibri" pitchFamily="34" charset="0"/>
                <a:ea typeface="Calibri" pitchFamily="34" charset="-122"/>
                <a:cs typeface="Calibri" pitchFamily="34" charset="-120"/>
              </a:rPr>
              <a:t>HR = 1.467   (95% CI: 1.238–1.738)</a:t>
            </a:r>
            <a:endParaRPr lang="en-US" sz="1150" dirty="0"/>
          </a:p>
        </p:txBody>
      </p:sp>
      <p:sp>
        <p:nvSpPr>
          <p:cNvPr id="33" name="Text 30"/>
          <p:cNvSpPr/>
          <p:nvPr/>
        </p:nvSpPr>
        <p:spPr>
          <a:xfrm>
            <a:off x="6080760" y="2999232"/>
            <a:ext cx="2743200" cy="292608"/>
          </a:xfrm>
          <a:prstGeom prst="rect">
            <a:avLst/>
          </a:prstGeom>
          <a:noFill/>
          <a:ln/>
        </p:spPr>
        <p:txBody>
          <a:bodyPr wrap="square" rtlCol="0" anchor="ctr"/>
          <a:lstStyle/>
          <a:p>
            <a:pPr marL="0" indent="0">
              <a:buNone/>
            </a:pPr>
            <a:r>
              <a:rPr lang="en-US" sz="1200" b="1" dirty="0">
                <a:solidFill>
                  <a:srgbClr val="1A2E4A"/>
                </a:solidFill>
                <a:latin typeface="Calibri" pitchFamily="34" charset="0"/>
                <a:ea typeface="Calibri" pitchFamily="34" charset="-122"/>
                <a:cs typeface="Calibri" pitchFamily="34" charset="-120"/>
              </a:rPr>
              <a:t>Interpretation</a:t>
            </a:r>
            <a:endParaRPr lang="en-US" sz="1200" dirty="0"/>
          </a:p>
        </p:txBody>
      </p:sp>
      <p:sp>
        <p:nvSpPr>
          <p:cNvPr id="34" name="Text 31"/>
          <p:cNvSpPr/>
          <p:nvPr/>
        </p:nvSpPr>
        <p:spPr>
          <a:xfrm>
            <a:off x="6080760" y="3228848"/>
            <a:ext cx="2743200" cy="347472"/>
          </a:xfrm>
          <a:prstGeom prst="rect">
            <a:avLst/>
          </a:prstGeom>
          <a:noFill/>
          <a:ln/>
        </p:spPr>
        <p:txBody>
          <a:bodyPr wrap="square" rtlCol="0" anchor="ctr"/>
          <a:lstStyle/>
          <a:p>
            <a:pPr marL="0" indent="0">
              <a:buNone/>
            </a:pPr>
            <a:r>
              <a:rPr lang="en-US" sz="1000" dirty="0">
                <a:solidFill>
                  <a:srgbClr val="1A2E4A"/>
                </a:solidFill>
                <a:latin typeface="Calibri" pitchFamily="34" charset="0"/>
                <a:ea typeface="Calibri" pitchFamily="34" charset="-122"/>
                <a:cs typeface="Calibri" pitchFamily="34" charset="-120"/>
              </a:rPr>
              <a:t>▸  HER2+ patients have 47% higher hazard of death</a:t>
            </a:r>
            <a:endParaRPr lang="en-US" sz="1000" dirty="0"/>
          </a:p>
        </p:txBody>
      </p:sp>
      <p:sp>
        <p:nvSpPr>
          <p:cNvPr id="35" name="Text 32"/>
          <p:cNvSpPr/>
          <p:nvPr/>
        </p:nvSpPr>
        <p:spPr>
          <a:xfrm>
            <a:off x="6089904" y="3483864"/>
            <a:ext cx="2743200" cy="347472"/>
          </a:xfrm>
          <a:prstGeom prst="rect">
            <a:avLst/>
          </a:prstGeom>
          <a:noFill/>
          <a:ln/>
        </p:spPr>
        <p:txBody>
          <a:bodyPr wrap="square" rtlCol="0" anchor="ctr"/>
          <a:lstStyle/>
          <a:p>
            <a:pPr marL="0" indent="0">
              <a:buNone/>
            </a:pPr>
            <a:r>
              <a:rPr lang="en-US" sz="1000" dirty="0">
                <a:solidFill>
                  <a:srgbClr val="1A2E4A"/>
                </a:solidFill>
                <a:latin typeface="Calibri" pitchFamily="34" charset="0"/>
                <a:ea typeface="Calibri" pitchFamily="34" charset="-122"/>
                <a:cs typeface="Calibri" pitchFamily="34" charset="-120"/>
              </a:rPr>
              <a:t>▸  Highly significant: p &lt; 0.0001</a:t>
            </a:r>
            <a:endParaRPr lang="en-US" sz="1000" dirty="0"/>
          </a:p>
        </p:txBody>
      </p:sp>
      <p:sp>
        <p:nvSpPr>
          <p:cNvPr id="36" name="Text 33"/>
          <p:cNvSpPr/>
          <p:nvPr/>
        </p:nvSpPr>
        <p:spPr>
          <a:xfrm>
            <a:off x="6080760" y="3768344"/>
            <a:ext cx="2743200" cy="347472"/>
          </a:xfrm>
          <a:prstGeom prst="rect">
            <a:avLst/>
          </a:prstGeom>
          <a:noFill/>
          <a:ln/>
        </p:spPr>
        <p:txBody>
          <a:bodyPr wrap="square" rtlCol="0" anchor="ctr"/>
          <a:lstStyle/>
          <a:p>
            <a:pPr marL="0" indent="0">
              <a:buNone/>
            </a:pPr>
            <a:r>
              <a:rPr lang="en-US" sz="1000" dirty="0">
                <a:solidFill>
                  <a:srgbClr val="1A2E4A"/>
                </a:solidFill>
                <a:latin typeface="Calibri" pitchFamily="34" charset="0"/>
                <a:ea typeface="Calibri" pitchFamily="34" charset="-122"/>
                <a:cs typeface="Calibri" pitchFamily="34" charset="-120"/>
              </a:rPr>
              <a:t>▸  HER2+ tumors are biologically more aggressive</a:t>
            </a:r>
            <a:endParaRPr lang="en-US" sz="1000" dirty="0"/>
          </a:p>
        </p:txBody>
      </p:sp>
      <p:sp>
        <p:nvSpPr>
          <p:cNvPr id="37" name="Text 34"/>
          <p:cNvSpPr/>
          <p:nvPr/>
        </p:nvSpPr>
        <p:spPr>
          <a:xfrm>
            <a:off x="6080760" y="4121658"/>
            <a:ext cx="2743200" cy="347472"/>
          </a:xfrm>
          <a:prstGeom prst="rect">
            <a:avLst/>
          </a:prstGeom>
          <a:noFill/>
          <a:ln/>
        </p:spPr>
        <p:txBody>
          <a:bodyPr wrap="square" rtlCol="0" anchor="ctr"/>
          <a:lstStyle/>
          <a:p>
            <a:pPr marL="0" indent="0">
              <a:buNone/>
            </a:pPr>
            <a:r>
              <a:rPr lang="en-US" sz="1000" dirty="0">
                <a:solidFill>
                  <a:srgbClr val="1A2E4A"/>
                </a:solidFill>
                <a:latin typeface="Calibri" pitchFamily="34" charset="0"/>
                <a:ea typeface="Calibri" pitchFamily="34" charset="-122"/>
                <a:cs typeface="Calibri" pitchFamily="34" charset="-120"/>
              </a:rPr>
              <a:t>▸  Separation of curves is visible from early follow-up</a:t>
            </a:r>
            <a:endParaRPr lang="en-US" sz="1000" dirty="0"/>
          </a:p>
        </p:txBody>
      </p:sp>
      <p:sp>
        <p:nvSpPr>
          <p:cNvPr id="38" name="Text 35"/>
          <p:cNvSpPr/>
          <p:nvPr/>
        </p:nvSpPr>
        <p:spPr>
          <a:xfrm>
            <a:off x="6080760" y="4422902"/>
            <a:ext cx="2743200" cy="347472"/>
          </a:xfrm>
          <a:prstGeom prst="rect">
            <a:avLst/>
          </a:prstGeom>
          <a:noFill/>
          <a:ln/>
        </p:spPr>
        <p:txBody>
          <a:bodyPr wrap="square" rtlCol="0" anchor="ctr"/>
          <a:lstStyle/>
          <a:p>
            <a:pPr marL="0" indent="0">
              <a:buNone/>
            </a:pPr>
            <a:r>
              <a:rPr lang="en-US" sz="1000" dirty="0" smtClean="0">
                <a:solidFill>
                  <a:srgbClr val="1A2E4A"/>
                </a:solidFill>
                <a:latin typeface="Calibri" pitchFamily="34" charset="0"/>
                <a:ea typeface="Calibri" pitchFamily="34" charset="-122"/>
                <a:cs typeface="Calibri" pitchFamily="34" charset="-120"/>
              </a:rPr>
              <a:t>▸  Remained significant in multivariate model (HR=1.46)</a:t>
            </a:r>
            <a:endParaRPr lang="en-US" sz="1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E4A"/>
          </a:solidFill>
          <a:ln w="12700">
            <a:solidFill>
              <a:srgbClr val="1A2E4A"/>
            </a:solidFill>
            <a:prstDash val="solid"/>
          </a:ln>
        </p:spPr>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Kaplan–Meier: Survival by Tumor Stage</a:t>
            </a:r>
            <a:endParaRPr lang="en-US" sz="1600" dirty="0"/>
          </a:p>
        </p:txBody>
      </p:sp>
      <p:sp>
        <p:nvSpPr>
          <p:cNvPr id="4" name="Shape 2"/>
          <p:cNvSpPr/>
          <p:nvPr/>
        </p:nvSpPr>
        <p:spPr>
          <a:xfrm>
            <a:off x="0" y="502920"/>
            <a:ext cx="9144000" cy="36576"/>
          </a:xfrm>
          <a:prstGeom prst="rect">
            <a:avLst/>
          </a:prstGeom>
          <a:solidFill>
            <a:srgbClr val="1B7A8A"/>
          </a:solidFill>
          <a:ln w="12700">
            <a:solidFill>
              <a:srgbClr val="1B7A8A"/>
            </a:solidFill>
            <a:prstDash val="solid"/>
          </a:ln>
        </p:spPr>
      </p:sp>
      <p:sp>
        <p:nvSpPr>
          <p:cNvPr id="5" name="Shape 3"/>
          <p:cNvSpPr/>
          <p:nvPr/>
        </p:nvSpPr>
        <p:spPr>
          <a:xfrm>
            <a:off x="0" y="5093208"/>
            <a:ext cx="9144000" cy="50292"/>
          </a:xfrm>
          <a:prstGeom prst="rect">
            <a:avLst/>
          </a:prstGeom>
          <a:solidFill>
            <a:srgbClr val="1B7A8A"/>
          </a:solidFill>
          <a:ln w="12700">
            <a:solidFill>
              <a:srgbClr val="1B7A8A"/>
            </a:solidFill>
            <a:prstDash val="solid"/>
          </a:ln>
        </p:spPr>
      </p:sp>
      <p:sp>
        <p:nvSpPr>
          <p:cNvPr id="6" name="Text 4"/>
          <p:cNvSpPr/>
          <p:nvPr/>
        </p:nvSpPr>
        <p:spPr>
          <a:xfrm>
            <a:off x="320040" y="576072"/>
            <a:ext cx="8229600" cy="320040"/>
          </a:xfrm>
          <a:prstGeom prst="rect">
            <a:avLst/>
          </a:prstGeom>
          <a:noFill/>
          <a:ln/>
        </p:spPr>
        <p:txBody>
          <a:bodyPr wrap="square" rtlCol="0" anchor="ctr"/>
          <a:lstStyle/>
          <a:p>
            <a:pPr marL="0" indent="0">
              <a:buNone/>
            </a:pPr>
            <a:r>
              <a:rPr lang="en-US" sz="1200" i="1" dirty="0">
                <a:solidFill>
                  <a:srgbClr val="5A6A7A"/>
                </a:solidFill>
                <a:latin typeface="Calibri" pitchFamily="34" charset="0"/>
                <a:ea typeface="Calibri" pitchFamily="34" charset="-122"/>
                <a:cs typeface="Calibri" pitchFamily="34" charset="-120"/>
              </a:rPr>
              <a:t>Log-Rank Test  |  χ² = 128  |  p &lt; 2×10⁻¹⁶</a:t>
            </a:r>
            <a:endParaRPr lang="en-US" sz="1200" dirty="0"/>
          </a:p>
        </p:txBody>
      </p:sp>
      <p:pic>
        <p:nvPicPr>
          <p:cNvPr id="7" name="Image 0" descr="preencoded.png"/>
          <p:cNvPicPr>
            <a:picLocks noChangeAspect="1"/>
          </p:cNvPicPr>
          <p:nvPr/>
        </p:nvPicPr>
        <p:blipFill>
          <a:blip r:embed="rId3"/>
          <a:stretch>
            <a:fillRect/>
          </a:stretch>
        </p:blipFill>
        <p:spPr>
          <a:xfrm>
            <a:off x="228600" y="658368"/>
            <a:ext cx="5303520" cy="4343400"/>
          </a:xfrm>
          <a:prstGeom prst="rect">
            <a:avLst/>
          </a:prstGeom>
        </p:spPr>
      </p:pic>
      <p:sp>
        <p:nvSpPr>
          <p:cNvPr id="8" name="Shape 5"/>
          <p:cNvSpPr/>
          <p:nvPr/>
        </p:nvSpPr>
        <p:spPr>
          <a:xfrm>
            <a:off x="5715000" y="658368"/>
            <a:ext cx="3200400" cy="4343400"/>
          </a:xfrm>
          <a:prstGeom prst="rect">
            <a:avLst/>
          </a:prstGeom>
          <a:solidFill>
            <a:srgbClr val="FFFFFF"/>
          </a:solidFill>
          <a:ln w="12700">
            <a:solidFill>
              <a:srgbClr val="C5D5DE"/>
            </a:solidFill>
            <a:prstDash val="solid"/>
          </a:ln>
          <a:effectLst>
            <a:outerShdw blurRad="50800" dist="25400" dir="8100000" algn="bl" rotWithShape="0">
              <a:srgbClr val="000000">
                <a:alpha val="8000"/>
              </a:srgbClr>
            </a:outerShdw>
          </a:effectLst>
        </p:spPr>
      </p:sp>
      <p:sp>
        <p:nvSpPr>
          <p:cNvPr id="9" name="Shape 6"/>
          <p:cNvSpPr/>
          <p:nvPr/>
        </p:nvSpPr>
        <p:spPr>
          <a:xfrm>
            <a:off x="5715000" y="658368"/>
            <a:ext cx="54864" cy="4343400"/>
          </a:xfrm>
          <a:prstGeom prst="rect">
            <a:avLst/>
          </a:prstGeom>
          <a:solidFill>
            <a:srgbClr val="B5304B"/>
          </a:solidFill>
          <a:ln w="12700">
            <a:solidFill>
              <a:srgbClr val="B5304B"/>
            </a:solidFill>
            <a:prstDash val="solid"/>
          </a:ln>
        </p:spPr>
      </p:sp>
      <p:sp>
        <p:nvSpPr>
          <p:cNvPr id="10" name="Text 7"/>
          <p:cNvSpPr/>
          <p:nvPr/>
        </p:nvSpPr>
        <p:spPr>
          <a:xfrm>
            <a:off x="5852160" y="749808"/>
            <a:ext cx="2926080" cy="347472"/>
          </a:xfrm>
          <a:prstGeom prst="rect">
            <a:avLst/>
          </a:prstGeom>
          <a:noFill/>
          <a:ln/>
        </p:spPr>
        <p:txBody>
          <a:bodyPr wrap="square" rtlCol="0" anchor="ctr"/>
          <a:lstStyle/>
          <a:p>
            <a:pPr marL="0" indent="0">
              <a:buNone/>
            </a:pPr>
            <a:r>
              <a:rPr lang="en-US" sz="1300" b="1" dirty="0">
                <a:solidFill>
                  <a:srgbClr val="1A2E4A"/>
                </a:solidFill>
                <a:latin typeface="Calibri" pitchFamily="34" charset="0"/>
                <a:ea typeface="Calibri" pitchFamily="34" charset="-122"/>
                <a:cs typeface="Calibri" pitchFamily="34" charset="-120"/>
              </a:rPr>
              <a:t>Stage-Wise Results</a:t>
            </a:r>
            <a:endParaRPr lang="en-US" sz="1300" dirty="0"/>
          </a:p>
        </p:txBody>
      </p:sp>
      <p:sp>
        <p:nvSpPr>
          <p:cNvPr id="11" name="Shape 8"/>
          <p:cNvSpPr/>
          <p:nvPr/>
        </p:nvSpPr>
        <p:spPr>
          <a:xfrm>
            <a:off x="5779008" y="1207008"/>
            <a:ext cx="594360" cy="384048"/>
          </a:xfrm>
          <a:prstGeom prst="rect">
            <a:avLst/>
          </a:prstGeom>
          <a:solidFill>
            <a:srgbClr val="1A2E4A"/>
          </a:solidFill>
          <a:ln w="12700">
            <a:solidFill>
              <a:srgbClr val="C5D5DE"/>
            </a:solidFill>
            <a:prstDash val="solid"/>
          </a:ln>
        </p:spPr>
      </p:sp>
      <p:sp>
        <p:nvSpPr>
          <p:cNvPr id="12" name="Text 9"/>
          <p:cNvSpPr/>
          <p:nvPr/>
        </p:nvSpPr>
        <p:spPr>
          <a:xfrm>
            <a:off x="5843016" y="1207008"/>
            <a:ext cx="484632" cy="38404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Stage</a:t>
            </a:r>
            <a:endParaRPr lang="en-US" sz="1100" dirty="0"/>
          </a:p>
        </p:txBody>
      </p:sp>
      <p:sp>
        <p:nvSpPr>
          <p:cNvPr id="13" name="Shape 10"/>
          <p:cNvSpPr/>
          <p:nvPr/>
        </p:nvSpPr>
        <p:spPr>
          <a:xfrm>
            <a:off x="6373368" y="1207008"/>
            <a:ext cx="457200" cy="384048"/>
          </a:xfrm>
          <a:prstGeom prst="rect">
            <a:avLst/>
          </a:prstGeom>
          <a:solidFill>
            <a:srgbClr val="1A2E4A"/>
          </a:solidFill>
          <a:ln w="12700">
            <a:solidFill>
              <a:srgbClr val="C5D5DE"/>
            </a:solidFill>
            <a:prstDash val="solid"/>
          </a:ln>
        </p:spPr>
      </p:sp>
      <p:sp>
        <p:nvSpPr>
          <p:cNvPr id="14" name="Text 11"/>
          <p:cNvSpPr/>
          <p:nvPr/>
        </p:nvSpPr>
        <p:spPr>
          <a:xfrm>
            <a:off x="6437376" y="1207008"/>
            <a:ext cx="347472" cy="38404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N</a:t>
            </a:r>
            <a:endParaRPr lang="en-US" sz="1100" dirty="0"/>
          </a:p>
        </p:txBody>
      </p:sp>
      <p:sp>
        <p:nvSpPr>
          <p:cNvPr id="15" name="Shape 12"/>
          <p:cNvSpPr/>
          <p:nvPr/>
        </p:nvSpPr>
        <p:spPr>
          <a:xfrm>
            <a:off x="6830568" y="1207008"/>
            <a:ext cx="1280160" cy="384048"/>
          </a:xfrm>
          <a:prstGeom prst="rect">
            <a:avLst/>
          </a:prstGeom>
          <a:solidFill>
            <a:srgbClr val="1A2E4A"/>
          </a:solidFill>
          <a:ln w="12700">
            <a:solidFill>
              <a:srgbClr val="C5D5DE"/>
            </a:solidFill>
            <a:prstDash val="solid"/>
          </a:ln>
        </p:spPr>
      </p:sp>
      <p:sp>
        <p:nvSpPr>
          <p:cNvPr id="16" name="Text 13"/>
          <p:cNvSpPr/>
          <p:nvPr/>
        </p:nvSpPr>
        <p:spPr>
          <a:xfrm>
            <a:off x="6894576" y="1207008"/>
            <a:ext cx="1170432" cy="38404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HR (vs Stage 0)</a:t>
            </a:r>
            <a:endParaRPr lang="en-US" sz="1100" dirty="0"/>
          </a:p>
        </p:txBody>
      </p:sp>
      <p:sp>
        <p:nvSpPr>
          <p:cNvPr id="17" name="Shape 14"/>
          <p:cNvSpPr/>
          <p:nvPr/>
        </p:nvSpPr>
        <p:spPr>
          <a:xfrm>
            <a:off x="8110728" y="1207008"/>
            <a:ext cx="777240" cy="384048"/>
          </a:xfrm>
          <a:prstGeom prst="rect">
            <a:avLst/>
          </a:prstGeom>
          <a:solidFill>
            <a:srgbClr val="1A2E4A"/>
          </a:solidFill>
          <a:ln w="12700">
            <a:solidFill>
              <a:srgbClr val="C5D5DE"/>
            </a:solidFill>
            <a:prstDash val="solid"/>
          </a:ln>
        </p:spPr>
      </p:sp>
      <p:sp>
        <p:nvSpPr>
          <p:cNvPr id="18" name="Text 15"/>
          <p:cNvSpPr/>
          <p:nvPr/>
        </p:nvSpPr>
        <p:spPr>
          <a:xfrm>
            <a:off x="8174736" y="1207008"/>
            <a:ext cx="667512" cy="38404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a:t>
            </a:r>
            <a:endParaRPr lang="en-US" sz="1100" dirty="0"/>
          </a:p>
        </p:txBody>
      </p:sp>
      <p:sp>
        <p:nvSpPr>
          <p:cNvPr id="19" name="Shape 16"/>
          <p:cNvSpPr/>
          <p:nvPr/>
        </p:nvSpPr>
        <p:spPr>
          <a:xfrm>
            <a:off x="5779008" y="1591056"/>
            <a:ext cx="594360" cy="384048"/>
          </a:xfrm>
          <a:prstGeom prst="rect">
            <a:avLst/>
          </a:prstGeom>
          <a:solidFill>
            <a:srgbClr val="FFFFFF"/>
          </a:solidFill>
          <a:ln w="12700">
            <a:solidFill>
              <a:srgbClr val="C5D5DE"/>
            </a:solidFill>
            <a:prstDash val="solid"/>
          </a:ln>
        </p:spPr>
      </p:sp>
      <p:sp>
        <p:nvSpPr>
          <p:cNvPr id="20" name="Text 17"/>
          <p:cNvSpPr/>
          <p:nvPr/>
        </p:nvSpPr>
        <p:spPr>
          <a:xfrm>
            <a:off x="5843016" y="1591056"/>
            <a:ext cx="484632"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 (Ref)</a:t>
            </a:r>
            <a:endParaRPr lang="en-US" sz="1050" dirty="0"/>
          </a:p>
        </p:txBody>
      </p:sp>
      <p:sp>
        <p:nvSpPr>
          <p:cNvPr id="21" name="Shape 18"/>
          <p:cNvSpPr/>
          <p:nvPr/>
        </p:nvSpPr>
        <p:spPr>
          <a:xfrm>
            <a:off x="6373368" y="1591056"/>
            <a:ext cx="457200" cy="384048"/>
          </a:xfrm>
          <a:prstGeom prst="rect">
            <a:avLst/>
          </a:prstGeom>
          <a:solidFill>
            <a:srgbClr val="FFFFFF"/>
          </a:solidFill>
          <a:ln w="12700">
            <a:solidFill>
              <a:srgbClr val="C5D5DE"/>
            </a:solidFill>
            <a:prstDash val="solid"/>
          </a:ln>
        </p:spPr>
      </p:sp>
      <p:sp>
        <p:nvSpPr>
          <p:cNvPr id="22" name="Text 19"/>
          <p:cNvSpPr/>
          <p:nvPr/>
        </p:nvSpPr>
        <p:spPr>
          <a:xfrm>
            <a:off x="6437376" y="1591056"/>
            <a:ext cx="347472"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12</a:t>
            </a:r>
            <a:endParaRPr lang="en-US" sz="1050" dirty="0"/>
          </a:p>
        </p:txBody>
      </p:sp>
      <p:sp>
        <p:nvSpPr>
          <p:cNvPr id="23" name="Shape 20"/>
          <p:cNvSpPr/>
          <p:nvPr/>
        </p:nvSpPr>
        <p:spPr>
          <a:xfrm>
            <a:off x="6830568" y="1591056"/>
            <a:ext cx="1280160" cy="384048"/>
          </a:xfrm>
          <a:prstGeom prst="rect">
            <a:avLst/>
          </a:prstGeom>
          <a:solidFill>
            <a:srgbClr val="FFFFFF"/>
          </a:solidFill>
          <a:ln w="12700">
            <a:solidFill>
              <a:srgbClr val="C5D5DE"/>
            </a:solidFill>
            <a:prstDash val="solid"/>
          </a:ln>
        </p:spPr>
      </p:sp>
      <p:sp>
        <p:nvSpPr>
          <p:cNvPr id="24" name="Text 21"/>
          <p:cNvSpPr/>
          <p:nvPr/>
        </p:nvSpPr>
        <p:spPr>
          <a:xfrm>
            <a:off x="6894576" y="1591056"/>
            <a:ext cx="1170432" cy="384048"/>
          </a:xfrm>
          <a:prstGeom prst="rect">
            <a:avLst/>
          </a:prstGeom>
          <a:noFill/>
          <a:ln/>
        </p:spPr>
        <p:txBody>
          <a:bodyPr wrap="square" rtlCol="0" anchor="ctr"/>
          <a:lstStyle/>
          <a:p>
            <a:pPr marL="0" indent="0">
              <a:buNone/>
            </a:pPr>
            <a:r>
              <a:rPr lang="en-US" sz="1050" dirty="0">
                <a:solidFill>
                  <a:srgbClr val="1E6B3C"/>
                </a:solidFill>
                <a:latin typeface="Calibri" pitchFamily="34" charset="0"/>
                <a:ea typeface="Calibri" pitchFamily="34" charset="-122"/>
                <a:cs typeface="Calibri" pitchFamily="34" charset="-120"/>
              </a:rPr>
              <a:t>1.000</a:t>
            </a:r>
            <a:endParaRPr lang="en-US" sz="1050" dirty="0"/>
          </a:p>
        </p:txBody>
      </p:sp>
      <p:sp>
        <p:nvSpPr>
          <p:cNvPr id="25" name="Shape 22"/>
          <p:cNvSpPr/>
          <p:nvPr/>
        </p:nvSpPr>
        <p:spPr>
          <a:xfrm>
            <a:off x="8110728" y="1591056"/>
            <a:ext cx="777240" cy="384048"/>
          </a:xfrm>
          <a:prstGeom prst="rect">
            <a:avLst/>
          </a:prstGeom>
          <a:solidFill>
            <a:srgbClr val="FFFFFF"/>
          </a:solidFill>
          <a:ln w="12700">
            <a:solidFill>
              <a:srgbClr val="C5D5DE"/>
            </a:solidFill>
            <a:prstDash val="solid"/>
          </a:ln>
        </p:spPr>
      </p:sp>
      <p:sp>
        <p:nvSpPr>
          <p:cNvPr id="26" name="Text 23"/>
          <p:cNvSpPr/>
          <p:nvPr/>
        </p:nvSpPr>
        <p:spPr>
          <a:xfrm>
            <a:off x="8174736" y="1591056"/>
            <a:ext cx="667512"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a:t>
            </a:r>
            <a:endParaRPr lang="en-US" sz="1050" dirty="0"/>
          </a:p>
        </p:txBody>
      </p:sp>
      <p:sp>
        <p:nvSpPr>
          <p:cNvPr id="27" name="Shape 24"/>
          <p:cNvSpPr/>
          <p:nvPr/>
        </p:nvSpPr>
        <p:spPr>
          <a:xfrm>
            <a:off x="5779008" y="1975104"/>
            <a:ext cx="594360" cy="384048"/>
          </a:xfrm>
          <a:prstGeom prst="rect">
            <a:avLst/>
          </a:prstGeom>
          <a:solidFill>
            <a:srgbClr val="EDF4F6"/>
          </a:solidFill>
          <a:ln w="12700">
            <a:solidFill>
              <a:srgbClr val="C5D5DE"/>
            </a:solidFill>
            <a:prstDash val="solid"/>
          </a:ln>
        </p:spPr>
      </p:sp>
      <p:sp>
        <p:nvSpPr>
          <p:cNvPr id="28" name="Text 25"/>
          <p:cNvSpPr/>
          <p:nvPr/>
        </p:nvSpPr>
        <p:spPr>
          <a:xfrm>
            <a:off x="5843016" y="1975104"/>
            <a:ext cx="484632"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a:t>
            </a:r>
            <a:endParaRPr lang="en-US" sz="1050" dirty="0"/>
          </a:p>
        </p:txBody>
      </p:sp>
      <p:sp>
        <p:nvSpPr>
          <p:cNvPr id="29" name="Shape 26"/>
          <p:cNvSpPr/>
          <p:nvPr/>
        </p:nvSpPr>
        <p:spPr>
          <a:xfrm>
            <a:off x="6373368" y="1975104"/>
            <a:ext cx="457200" cy="384048"/>
          </a:xfrm>
          <a:prstGeom prst="rect">
            <a:avLst/>
          </a:prstGeom>
          <a:solidFill>
            <a:srgbClr val="EDF4F6"/>
          </a:solidFill>
          <a:ln w="12700">
            <a:solidFill>
              <a:srgbClr val="C5D5DE"/>
            </a:solidFill>
            <a:prstDash val="solid"/>
          </a:ln>
        </p:spPr>
      </p:sp>
      <p:sp>
        <p:nvSpPr>
          <p:cNvPr id="30" name="Text 27"/>
          <p:cNvSpPr/>
          <p:nvPr/>
        </p:nvSpPr>
        <p:spPr>
          <a:xfrm>
            <a:off x="6437376" y="1975104"/>
            <a:ext cx="347472"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501</a:t>
            </a:r>
            <a:endParaRPr lang="en-US" sz="1050" dirty="0"/>
          </a:p>
        </p:txBody>
      </p:sp>
      <p:sp>
        <p:nvSpPr>
          <p:cNvPr id="31" name="Shape 28"/>
          <p:cNvSpPr/>
          <p:nvPr/>
        </p:nvSpPr>
        <p:spPr>
          <a:xfrm>
            <a:off x="6830568" y="1975104"/>
            <a:ext cx="1280160" cy="384048"/>
          </a:xfrm>
          <a:prstGeom prst="rect">
            <a:avLst/>
          </a:prstGeom>
          <a:solidFill>
            <a:srgbClr val="EDF4F6"/>
          </a:solidFill>
          <a:ln w="12700">
            <a:solidFill>
              <a:srgbClr val="C5D5DE"/>
            </a:solidFill>
            <a:prstDash val="solid"/>
          </a:ln>
        </p:spPr>
      </p:sp>
      <p:sp>
        <p:nvSpPr>
          <p:cNvPr id="32" name="Text 29"/>
          <p:cNvSpPr/>
          <p:nvPr/>
        </p:nvSpPr>
        <p:spPr>
          <a:xfrm>
            <a:off x="6894576" y="1975104"/>
            <a:ext cx="1170432" cy="384048"/>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1.624</a:t>
            </a:r>
            <a:endParaRPr lang="en-US" sz="1050" dirty="0"/>
          </a:p>
        </p:txBody>
      </p:sp>
      <p:sp>
        <p:nvSpPr>
          <p:cNvPr id="33" name="Shape 30"/>
          <p:cNvSpPr/>
          <p:nvPr/>
        </p:nvSpPr>
        <p:spPr>
          <a:xfrm>
            <a:off x="8110728" y="1975104"/>
            <a:ext cx="777240" cy="384048"/>
          </a:xfrm>
          <a:prstGeom prst="rect">
            <a:avLst/>
          </a:prstGeom>
          <a:solidFill>
            <a:srgbClr val="EDF4F6"/>
          </a:solidFill>
          <a:ln w="12700">
            <a:solidFill>
              <a:srgbClr val="C5D5DE"/>
            </a:solidFill>
            <a:prstDash val="solid"/>
          </a:ln>
        </p:spPr>
      </p:sp>
      <p:sp>
        <p:nvSpPr>
          <p:cNvPr id="34" name="Text 31"/>
          <p:cNvSpPr/>
          <p:nvPr/>
        </p:nvSpPr>
        <p:spPr>
          <a:xfrm>
            <a:off x="8174736" y="1975104"/>
            <a:ext cx="667512"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0.495</a:t>
            </a:r>
            <a:endParaRPr lang="en-US" sz="1050" dirty="0"/>
          </a:p>
        </p:txBody>
      </p:sp>
      <p:sp>
        <p:nvSpPr>
          <p:cNvPr id="35" name="Shape 32"/>
          <p:cNvSpPr/>
          <p:nvPr/>
        </p:nvSpPr>
        <p:spPr>
          <a:xfrm>
            <a:off x="5779008" y="2359152"/>
            <a:ext cx="594360" cy="384048"/>
          </a:xfrm>
          <a:prstGeom prst="rect">
            <a:avLst/>
          </a:prstGeom>
          <a:solidFill>
            <a:srgbClr val="FFFFFF"/>
          </a:solidFill>
          <a:ln w="12700">
            <a:solidFill>
              <a:srgbClr val="C5D5DE"/>
            </a:solidFill>
            <a:prstDash val="solid"/>
          </a:ln>
        </p:spPr>
      </p:sp>
      <p:sp>
        <p:nvSpPr>
          <p:cNvPr id="36" name="Text 33"/>
          <p:cNvSpPr/>
          <p:nvPr/>
        </p:nvSpPr>
        <p:spPr>
          <a:xfrm>
            <a:off x="5843016" y="2359152"/>
            <a:ext cx="484632"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2</a:t>
            </a:r>
            <a:endParaRPr lang="en-US" sz="1050" dirty="0"/>
          </a:p>
        </p:txBody>
      </p:sp>
      <p:sp>
        <p:nvSpPr>
          <p:cNvPr id="37" name="Shape 34"/>
          <p:cNvSpPr/>
          <p:nvPr/>
        </p:nvSpPr>
        <p:spPr>
          <a:xfrm>
            <a:off x="6373368" y="2359152"/>
            <a:ext cx="457200" cy="384048"/>
          </a:xfrm>
          <a:prstGeom prst="rect">
            <a:avLst/>
          </a:prstGeom>
          <a:solidFill>
            <a:srgbClr val="FFFFFF"/>
          </a:solidFill>
          <a:ln w="12700">
            <a:solidFill>
              <a:srgbClr val="C5D5DE"/>
            </a:solidFill>
            <a:prstDash val="solid"/>
          </a:ln>
        </p:spPr>
      </p:sp>
      <p:sp>
        <p:nvSpPr>
          <p:cNvPr id="38" name="Text 35"/>
          <p:cNvSpPr/>
          <p:nvPr/>
        </p:nvSpPr>
        <p:spPr>
          <a:xfrm>
            <a:off x="6437376" y="2359152"/>
            <a:ext cx="347472"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825</a:t>
            </a:r>
            <a:endParaRPr lang="en-US" sz="1050" dirty="0"/>
          </a:p>
        </p:txBody>
      </p:sp>
      <p:sp>
        <p:nvSpPr>
          <p:cNvPr id="39" name="Shape 36"/>
          <p:cNvSpPr/>
          <p:nvPr/>
        </p:nvSpPr>
        <p:spPr>
          <a:xfrm>
            <a:off x="6830568" y="2359152"/>
            <a:ext cx="1280160" cy="384048"/>
          </a:xfrm>
          <a:prstGeom prst="rect">
            <a:avLst/>
          </a:prstGeom>
          <a:solidFill>
            <a:srgbClr val="FFFFFF"/>
          </a:solidFill>
          <a:ln w="12700">
            <a:solidFill>
              <a:srgbClr val="C5D5DE"/>
            </a:solidFill>
            <a:prstDash val="solid"/>
          </a:ln>
        </p:spPr>
      </p:sp>
      <p:sp>
        <p:nvSpPr>
          <p:cNvPr id="40" name="Text 37"/>
          <p:cNvSpPr/>
          <p:nvPr/>
        </p:nvSpPr>
        <p:spPr>
          <a:xfrm>
            <a:off x="6894576" y="2359152"/>
            <a:ext cx="1170432" cy="384048"/>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2.919</a:t>
            </a:r>
            <a:endParaRPr lang="en-US" sz="1050" dirty="0"/>
          </a:p>
        </p:txBody>
      </p:sp>
      <p:sp>
        <p:nvSpPr>
          <p:cNvPr id="41" name="Shape 38"/>
          <p:cNvSpPr/>
          <p:nvPr/>
        </p:nvSpPr>
        <p:spPr>
          <a:xfrm>
            <a:off x="8110728" y="2359152"/>
            <a:ext cx="777240" cy="384048"/>
          </a:xfrm>
          <a:prstGeom prst="rect">
            <a:avLst/>
          </a:prstGeom>
          <a:solidFill>
            <a:srgbClr val="FFFFFF"/>
          </a:solidFill>
          <a:ln w="12700">
            <a:solidFill>
              <a:srgbClr val="C5D5DE"/>
            </a:solidFill>
            <a:prstDash val="solid"/>
          </a:ln>
        </p:spPr>
      </p:sp>
      <p:sp>
        <p:nvSpPr>
          <p:cNvPr id="42" name="Text 39"/>
          <p:cNvSpPr/>
          <p:nvPr/>
        </p:nvSpPr>
        <p:spPr>
          <a:xfrm>
            <a:off x="8174736" y="2359152"/>
            <a:ext cx="667512"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0.131</a:t>
            </a:r>
            <a:endParaRPr lang="en-US" sz="1050" dirty="0"/>
          </a:p>
        </p:txBody>
      </p:sp>
      <p:sp>
        <p:nvSpPr>
          <p:cNvPr id="43" name="Shape 40"/>
          <p:cNvSpPr/>
          <p:nvPr/>
        </p:nvSpPr>
        <p:spPr>
          <a:xfrm>
            <a:off x="5779008" y="2743200"/>
            <a:ext cx="594360" cy="384048"/>
          </a:xfrm>
          <a:prstGeom prst="rect">
            <a:avLst/>
          </a:prstGeom>
          <a:solidFill>
            <a:srgbClr val="EDF4F6"/>
          </a:solidFill>
          <a:ln w="12700">
            <a:solidFill>
              <a:srgbClr val="C5D5DE"/>
            </a:solidFill>
            <a:prstDash val="solid"/>
          </a:ln>
        </p:spPr>
      </p:sp>
      <p:sp>
        <p:nvSpPr>
          <p:cNvPr id="44" name="Text 41"/>
          <p:cNvSpPr/>
          <p:nvPr/>
        </p:nvSpPr>
        <p:spPr>
          <a:xfrm>
            <a:off x="5843016" y="2743200"/>
            <a:ext cx="484632"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3</a:t>
            </a:r>
            <a:endParaRPr lang="en-US" sz="1050" dirty="0"/>
          </a:p>
        </p:txBody>
      </p:sp>
      <p:sp>
        <p:nvSpPr>
          <p:cNvPr id="45" name="Shape 42"/>
          <p:cNvSpPr/>
          <p:nvPr/>
        </p:nvSpPr>
        <p:spPr>
          <a:xfrm>
            <a:off x="6373368" y="2743200"/>
            <a:ext cx="457200" cy="384048"/>
          </a:xfrm>
          <a:prstGeom prst="rect">
            <a:avLst/>
          </a:prstGeom>
          <a:solidFill>
            <a:srgbClr val="EDF4F6"/>
          </a:solidFill>
          <a:ln w="12700">
            <a:solidFill>
              <a:srgbClr val="C5D5DE"/>
            </a:solidFill>
            <a:prstDash val="solid"/>
          </a:ln>
        </p:spPr>
      </p:sp>
      <p:sp>
        <p:nvSpPr>
          <p:cNvPr id="46" name="Text 43"/>
          <p:cNvSpPr/>
          <p:nvPr/>
        </p:nvSpPr>
        <p:spPr>
          <a:xfrm>
            <a:off x="6437376" y="2743200"/>
            <a:ext cx="347472"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118</a:t>
            </a:r>
            <a:endParaRPr lang="en-US" sz="1050" dirty="0"/>
          </a:p>
        </p:txBody>
      </p:sp>
      <p:sp>
        <p:nvSpPr>
          <p:cNvPr id="47" name="Shape 44"/>
          <p:cNvSpPr/>
          <p:nvPr/>
        </p:nvSpPr>
        <p:spPr>
          <a:xfrm>
            <a:off x="6830568" y="2743200"/>
            <a:ext cx="1280160" cy="384048"/>
          </a:xfrm>
          <a:prstGeom prst="rect">
            <a:avLst/>
          </a:prstGeom>
          <a:solidFill>
            <a:srgbClr val="EDF4F6"/>
          </a:solidFill>
          <a:ln w="12700">
            <a:solidFill>
              <a:srgbClr val="C5D5DE"/>
            </a:solidFill>
            <a:prstDash val="solid"/>
          </a:ln>
        </p:spPr>
      </p:sp>
      <p:sp>
        <p:nvSpPr>
          <p:cNvPr id="48" name="Text 45"/>
          <p:cNvSpPr/>
          <p:nvPr/>
        </p:nvSpPr>
        <p:spPr>
          <a:xfrm>
            <a:off x="6894576" y="2743200"/>
            <a:ext cx="1170432" cy="384048"/>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5.294</a:t>
            </a:r>
            <a:endParaRPr lang="en-US" sz="1050" dirty="0"/>
          </a:p>
        </p:txBody>
      </p:sp>
      <p:sp>
        <p:nvSpPr>
          <p:cNvPr id="49" name="Shape 46"/>
          <p:cNvSpPr/>
          <p:nvPr/>
        </p:nvSpPr>
        <p:spPr>
          <a:xfrm>
            <a:off x="8101584" y="2807208"/>
            <a:ext cx="777240" cy="384048"/>
          </a:xfrm>
          <a:prstGeom prst="rect">
            <a:avLst/>
          </a:prstGeom>
          <a:solidFill>
            <a:srgbClr val="EDF4F6"/>
          </a:solidFill>
          <a:ln w="12700">
            <a:solidFill>
              <a:srgbClr val="C5D5DE"/>
            </a:solidFill>
            <a:prstDash val="solid"/>
          </a:ln>
        </p:spPr>
      </p:sp>
      <p:sp>
        <p:nvSpPr>
          <p:cNvPr id="50" name="Text 47"/>
          <p:cNvSpPr/>
          <p:nvPr/>
        </p:nvSpPr>
        <p:spPr>
          <a:xfrm>
            <a:off x="8174736" y="2743200"/>
            <a:ext cx="667512"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0.020 ★</a:t>
            </a:r>
            <a:endParaRPr lang="en-US" sz="1050" dirty="0"/>
          </a:p>
        </p:txBody>
      </p:sp>
      <p:sp>
        <p:nvSpPr>
          <p:cNvPr id="51" name="Shape 48"/>
          <p:cNvSpPr/>
          <p:nvPr/>
        </p:nvSpPr>
        <p:spPr>
          <a:xfrm>
            <a:off x="5779008" y="3127248"/>
            <a:ext cx="594360" cy="384048"/>
          </a:xfrm>
          <a:prstGeom prst="rect">
            <a:avLst/>
          </a:prstGeom>
          <a:solidFill>
            <a:srgbClr val="FFFFFF"/>
          </a:solidFill>
          <a:ln w="12700">
            <a:solidFill>
              <a:srgbClr val="C5D5DE"/>
            </a:solidFill>
            <a:prstDash val="solid"/>
          </a:ln>
        </p:spPr>
      </p:sp>
      <p:sp>
        <p:nvSpPr>
          <p:cNvPr id="52" name="Text 49"/>
          <p:cNvSpPr/>
          <p:nvPr/>
        </p:nvSpPr>
        <p:spPr>
          <a:xfrm>
            <a:off x="5843016" y="3127248"/>
            <a:ext cx="484632"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4</a:t>
            </a:r>
            <a:endParaRPr lang="en-US" sz="1050" dirty="0"/>
          </a:p>
        </p:txBody>
      </p:sp>
      <p:sp>
        <p:nvSpPr>
          <p:cNvPr id="53" name="Shape 50"/>
          <p:cNvSpPr/>
          <p:nvPr/>
        </p:nvSpPr>
        <p:spPr>
          <a:xfrm>
            <a:off x="6373368" y="3127248"/>
            <a:ext cx="457200" cy="384048"/>
          </a:xfrm>
          <a:prstGeom prst="rect">
            <a:avLst/>
          </a:prstGeom>
          <a:solidFill>
            <a:srgbClr val="FFFFFF"/>
          </a:solidFill>
          <a:ln w="12700">
            <a:solidFill>
              <a:srgbClr val="C5D5DE"/>
            </a:solidFill>
            <a:prstDash val="solid"/>
          </a:ln>
        </p:spPr>
      </p:sp>
      <p:sp>
        <p:nvSpPr>
          <p:cNvPr id="54" name="Text 51"/>
          <p:cNvSpPr/>
          <p:nvPr/>
        </p:nvSpPr>
        <p:spPr>
          <a:xfrm>
            <a:off x="6437376" y="3127248"/>
            <a:ext cx="347472"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10</a:t>
            </a:r>
            <a:endParaRPr lang="en-US" sz="1050" dirty="0"/>
          </a:p>
        </p:txBody>
      </p:sp>
      <p:sp>
        <p:nvSpPr>
          <p:cNvPr id="55" name="Shape 52"/>
          <p:cNvSpPr/>
          <p:nvPr/>
        </p:nvSpPr>
        <p:spPr>
          <a:xfrm>
            <a:off x="6830568" y="3127248"/>
            <a:ext cx="1280160" cy="384048"/>
          </a:xfrm>
          <a:prstGeom prst="rect">
            <a:avLst/>
          </a:prstGeom>
          <a:solidFill>
            <a:srgbClr val="FFFFFF"/>
          </a:solidFill>
          <a:ln w="12700">
            <a:solidFill>
              <a:srgbClr val="C5D5DE"/>
            </a:solidFill>
            <a:prstDash val="solid"/>
          </a:ln>
        </p:spPr>
      </p:sp>
      <p:sp>
        <p:nvSpPr>
          <p:cNvPr id="56" name="Text 53"/>
          <p:cNvSpPr/>
          <p:nvPr/>
        </p:nvSpPr>
        <p:spPr>
          <a:xfrm>
            <a:off x="6894576" y="3127248"/>
            <a:ext cx="1170432" cy="384048"/>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10.710</a:t>
            </a:r>
            <a:endParaRPr lang="en-US" sz="1050" dirty="0"/>
          </a:p>
        </p:txBody>
      </p:sp>
      <p:sp>
        <p:nvSpPr>
          <p:cNvPr id="57" name="Shape 54"/>
          <p:cNvSpPr/>
          <p:nvPr/>
        </p:nvSpPr>
        <p:spPr>
          <a:xfrm>
            <a:off x="8110728" y="3127248"/>
            <a:ext cx="777240" cy="384048"/>
          </a:xfrm>
          <a:prstGeom prst="rect">
            <a:avLst/>
          </a:prstGeom>
          <a:solidFill>
            <a:srgbClr val="FFFFFF"/>
          </a:solidFill>
          <a:ln w="12700">
            <a:solidFill>
              <a:srgbClr val="C5D5DE"/>
            </a:solidFill>
            <a:prstDash val="solid"/>
          </a:ln>
        </p:spPr>
      </p:sp>
      <p:sp>
        <p:nvSpPr>
          <p:cNvPr id="58" name="Text 55"/>
          <p:cNvSpPr/>
          <p:nvPr/>
        </p:nvSpPr>
        <p:spPr>
          <a:xfrm>
            <a:off x="8174736" y="3127248"/>
            <a:ext cx="667512" cy="384048"/>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0.002 ★★</a:t>
            </a:r>
            <a:endParaRPr lang="en-US" sz="1050" dirty="0"/>
          </a:p>
        </p:txBody>
      </p:sp>
      <p:sp>
        <p:nvSpPr>
          <p:cNvPr id="59" name="Shape 56"/>
          <p:cNvSpPr/>
          <p:nvPr/>
        </p:nvSpPr>
        <p:spPr>
          <a:xfrm>
            <a:off x="5779008" y="3182112"/>
            <a:ext cx="3090672" cy="438912"/>
          </a:xfrm>
          <a:prstGeom prst="rect">
            <a:avLst/>
          </a:prstGeom>
          <a:solidFill>
            <a:srgbClr val="B5304B"/>
          </a:solidFill>
          <a:ln w="12700">
            <a:solidFill>
              <a:srgbClr val="B5304B"/>
            </a:solidFill>
            <a:prstDash val="solid"/>
          </a:ln>
        </p:spPr>
      </p:sp>
      <p:sp>
        <p:nvSpPr>
          <p:cNvPr id="60" name="Text 57"/>
          <p:cNvSpPr/>
          <p:nvPr/>
        </p:nvSpPr>
        <p:spPr>
          <a:xfrm>
            <a:off x="6259033" y="3222374"/>
            <a:ext cx="229060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χ² = 128   p &lt; 2×10⁻¹⁶ ★★★</a:t>
            </a:r>
            <a:endParaRPr lang="en-US" sz="1300" dirty="0"/>
          </a:p>
        </p:txBody>
      </p:sp>
      <p:sp>
        <p:nvSpPr>
          <p:cNvPr id="61" name="Text 58"/>
          <p:cNvSpPr/>
          <p:nvPr/>
        </p:nvSpPr>
        <p:spPr>
          <a:xfrm>
            <a:off x="5779008" y="3712464"/>
            <a:ext cx="3090672" cy="292608"/>
          </a:xfrm>
          <a:prstGeom prst="rect">
            <a:avLst/>
          </a:prstGeom>
          <a:noFill/>
          <a:ln/>
        </p:spPr>
        <p:txBody>
          <a:bodyPr wrap="square" rtlCol="0" anchor="ctr"/>
          <a:lstStyle/>
          <a:p>
            <a:pPr marL="0" indent="0">
              <a:buNone/>
            </a:pPr>
            <a:r>
              <a:rPr lang="en-US" sz="1200" b="1" dirty="0">
                <a:solidFill>
                  <a:srgbClr val="1A2E4A"/>
                </a:solidFill>
                <a:latin typeface="Calibri" pitchFamily="34" charset="0"/>
                <a:ea typeface="Calibri" pitchFamily="34" charset="-122"/>
                <a:cs typeface="Calibri" pitchFamily="34" charset="-120"/>
              </a:rPr>
              <a:t>Key Finding</a:t>
            </a:r>
            <a:endParaRPr lang="en-US" sz="1200" dirty="0"/>
          </a:p>
        </p:txBody>
      </p:sp>
      <p:sp>
        <p:nvSpPr>
          <p:cNvPr id="62" name="Text 59"/>
          <p:cNvSpPr/>
          <p:nvPr/>
        </p:nvSpPr>
        <p:spPr>
          <a:xfrm>
            <a:off x="5779008" y="4023360"/>
            <a:ext cx="3090672" cy="347472"/>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  Stage IV patients have 10.7× higher risk than Stage 0</a:t>
            </a:r>
            <a:endParaRPr lang="en-US" sz="1050" dirty="0"/>
          </a:p>
        </p:txBody>
      </p:sp>
      <p:sp>
        <p:nvSpPr>
          <p:cNvPr id="63" name="Text 60"/>
          <p:cNvSpPr/>
          <p:nvPr/>
        </p:nvSpPr>
        <p:spPr>
          <a:xfrm>
            <a:off x="5779008" y="4407408"/>
            <a:ext cx="3090672" cy="34747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  Tumor stage is the STRONGEST univariate predictor</a:t>
            </a:r>
            <a:endParaRPr lang="en-US" sz="105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E4A"/>
          </a:solidFill>
          <a:ln w="12700">
            <a:solidFill>
              <a:srgbClr val="1A2E4A"/>
            </a:solidFill>
            <a:prstDash val="solid"/>
          </a:ln>
        </p:spPr>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Univariable Cox Regression — Risk Factors</a:t>
            </a:r>
            <a:endParaRPr lang="en-US" sz="1600" dirty="0"/>
          </a:p>
        </p:txBody>
      </p:sp>
      <p:sp>
        <p:nvSpPr>
          <p:cNvPr id="4" name="Shape 2"/>
          <p:cNvSpPr/>
          <p:nvPr/>
        </p:nvSpPr>
        <p:spPr>
          <a:xfrm>
            <a:off x="0" y="502920"/>
            <a:ext cx="9144000" cy="36576"/>
          </a:xfrm>
          <a:prstGeom prst="rect">
            <a:avLst/>
          </a:prstGeom>
          <a:solidFill>
            <a:srgbClr val="1B7A8A"/>
          </a:solidFill>
          <a:ln w="12700">
            <a:solidFill>
              <a:srgbClr val="1B7A8A"/>
            </a:solidFill>
            <a:prstDash val="solid"/>
          </a:ln>
        </p:spPr>
      </p:sp>
      <p:sp>
        <p:nvSpPr>
          <p:cNvPr id="5" name="Shape 3"/>
          <p:cNvSpPr/>
          <p:nvPr/>
        </p:nvSpPr>
        <p:spPr>
          <a:xfrm>
            <a:off x="0" y="5093208"/>
            <a:ext cx="9144000" cy="50292"/>
          </a:xfrm>
          <a:prstGeom prst="rect">
            <a:avLst/>
          </a:prstGeom>
          <a:solidFill>
            <a:srgbClr val="1B7A8A"/>
          </a:solidFill>
          <a:ln w="12700">
            <a:solidFill>
              <a:srgbClr val="1B7A8A"/>
            </a:solidFill>
            <a:prstDash val="solid"/>
          </a:ln>
        </p:spPr>
      </p:sp>
      <p:sp>
        <p:nvSpPr>
          <p:cNvPr id="6" name="Text 4"/>
          <p:cNvSpPr/>
          <p:nvPr/>
        </p:nvSpPr>
        <p:spPr>
          <a:xfrm>
            <a:off x="320040" y="516636"/>
            <a:ext cx="8229600" cy="320040"/>
          </a:xfrm>
          <a:prstGeom prst="rect">
            <a:avLst/>
          </a:prstGeom>
          <a:noFill/>
          <a:ln/>
        </p:spPr>
        <p:txBody>
          <a:bodyPr wrap="square" rtlCol="0" anchor="ctr"/>
          <a:lstStyle/>
          <a:p>
            <a:pPr marL="0" indent="0">
              <a:buNone/>
            </a:pPr>
            <a:r>
              <a:rPr lang="en-US" sz="1200" i="1" dirty="0">
                <a:solidFill>
                  <a:srgbClr val="5A6A7A"/>
                </a:solidFill>
                <a:latin typeface="Calibri" pitchFamily="34" charset="0"/>
                <a:ea typeface="Calibri" pitchFamily="34" charset="-122"/>
                <a:cs typeface="Calibri" pitchFamily="34" charset="-120"/>
              </a:rPr>
              <a:t>Variables Associated with Increased Mortality Risk (HR &gt; 1)</a:t>
            </a:r>
            <a:endParaRPr lang="en-US" sz="1200" dirty="0"/>
          </a:p>
        </p:txBody>
      </p:sp>
      <p:sp>
        <p:nvSpPr>
          <p:cNvPr id="7" name="Text 5"/>
          <p:cNvSpPr/>
          <p:nvPr/>
        </p:nvSpPr>
        <p:spPr>
          <a:xfrm>
            <a:off x="274320" y="658368"/>
            <a:ext cx="8595360" cy="347472"/>
          </a:xfrm>
          <a:prstGeom prst="rect">
            <a:avLst/>
          </a:prstGeom>
          <a:noFill/>
          <a:ln/>
        </p:spPr>
        <p:txBody>
          <a:bodyPr wrap="square" rtlCol="0" anchor="ctr"/>
          <a:lstStyle/>
          <a:p>
            <a:pPr marL="0" indent="0">
              <a:buNone/>
            </a:pPr>
            <a:r>
              <a:rPr lang="en-US" sz="1200" b="1" dirty="0">
                <a:solidFill>
                  <a:srgbClr val="1A2E4A"/>
                </a:solidFill>
                <a:latin typeface="Calibri" pitchFamily="34" charset="0"/>
                <a:ea typeface="Calibri" pitchFamily="34" charset="-122"/>
                <a:cs typeface="Calibri" pitchFamily="34" charset="-120"/>
              </a:rPr>
              <a:t>These factors INCREASE the risk of death (Hazard Ratio &gt; 1.0):</a:t>
            </a:r>
            <a:endParaRPr lang="en-US" sz="1200" dirty="0"/>
          </a:p>
        </p:txBody>
      </p:sp>
      <p:sp>
        <p:nvSpPr>
          <p:cNvPr id="8" name="Shape 6"/>
          <p:cNvSpPr/>
          <p:nvPr/>
        </p:nvSpPr>
        <p:spPr>
          <a:xfrm>
            <a:off x="228600" y="1078992"/>
            <a:ext cx="1920240" cy="402336"/>
          </a:xfrm>
          <a:prstGeom prst="rect">
            <a:avLst/>
          </a:prstGeom>
          <a:solidFill>
            <a:srgbClr val="1A2E4A"/>
          </a:solidFill>
          <a:ln w="12700">
            <a:solidFill>
              <a:srgbClr val="C5D5DE"/>
            </a:solidFill>
            <a:prstDash val="solid"/>
          </a:ln>
        </p:spPr>
      </p:sp>
      <p:sp>
        <p:nvSpPr>
          <p:cNvPr id="9" name="Text 7"/>
          <p:cNvSpPr/>
          <p:nvPr/>
        </p:nvSpPr>
        <p:spPr>
          <a:xfrm>
            <a:off x="292608" y="1078992"/>
            <a:ext cx="1810512" cy="40233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p>
        </p:txBody>
      </p:sp>
      <p:sp>
        <p:nvSpPr>
          <p:cNvPr id="10" name="Shape 8"/>
          <p:cNvSpPr/>
          <p:nvPr/>
        </p:nvSpPr>
        <p:spPr>
          <a:xfrm>
            <a:off x="2148840" y="1078992"/>
            <a:ext cx="502920" cy="402336"/>
          </a:xfrm>
          <a:prstGeom prst="rect">
            <a:avLst/>
          </a:prstGeom>
          <a:solidFill>
            <a:srgbClr val="1A2E4A"/>
          </a:solidFill>
          <a:ln w="12700">
            <a:solidFill>
              <a:srgbClr val="C5D5DE"/>
            </a:solidFill>
            <a:prstDash val="solid"/>
          </a:ln>
        </p:spPr>
      </p:sp>
      <p:sp>
        <p:nvSpPr>
          <p:cNvPr id="11" name="Text 9"/>
          <p:cNvSpPr/>
          <p:nvPr/>
        </p:nvSpPr>
        <p:spPr>
          <a:xfrm>
            <a:off x="2212848" y="1078992"/>
            <a:ext cx="393192" cy="40233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HR</a:t>
            </a:r>
            <a:endParaRPr lang="en-US" sz="1100" dirty="0"/>
          </a:p>
        </p:txBody>
      </p:sp>
      <p:sp>
        <p:nvSpPr>
          <p:cNvPr id="12" name="Shape 10"/>
          <p:cNvSpPr/>
          <p:nvPr/>
        </p:nvSpPr>
        <p:spPr>
          <a:xfrm>
            <a:off x="2651760" y="1078992"/>
            <a:ext cx="685800" cy="402336"/>
          </a:xfrm>
          <a:prstGeom prst="rect">
            <a:avLst/>
          </a:prstGeom>
          <a:solidFill>
            <a:srgbClr val="1A2E4A"/>
          </a:solidFill>
          <a:ln w="12700">
            <a:solidFill>
              <a:srgbClr val="C5D5DE"/>
            </a:solidFill>
            <a:prstDash val="solid"/>
          </a:ln>
        </p:spPr>
      </p:sp>
      <p:sp>
        <p:nvSpPr>
          <p:cNvPr id="13" name="Text 11"/>
          <p:cNvSpPr/>
          <p:nvPr/>
        </p:nvSpPr>
        <p:spPr>
          <a:xfrm>
            <a:off x="2715768" y="1078992"/>
            <a:ext cx="576072" cy="40233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95% CI Lower</a:t>
            </a:r>
            <a:endParaRPr lang="en-US" sz="1100" dirty="0"/>
          </a:p>
        </p:txBody>
      </p:sp>
      <p:sp>
        <p:nvSpPr>
          <p:cNvPr id="14" name="Shape 12"/>
          <p:cNvSpPr/>
          <p:nvPr/>
        </p:nvSpPr>
        <p:spPr>
          <a:xfrm>
            <a:off x="3337560" y="1078992"/>
            <a:ext cx="685800" cy="402336"/>
          </a:xfrm>
          <a:prstGeom prst="rect">
            <a:avLst/>
          </a:prstGeom>
          <a:solidFill>
            <a:srgbClr val="1A2E4A"/>
          </a:solidFill>
          <a:ln w="12700">
            <a:solidFill>
              <a:srgbClr val="C5D5DE"/>
            </a:solidFill>
            <a:prstDash val="solid"/>
          </a:ln>
        </p:spPr>
      </p:sp>
      <p:sp>
        <p:nvSpPr>
          <p:cNvPr id="15" name="Text 13"/>
          <p:cNvSpPr/>
          <p:nvPr/>
        </p:nvSpPr>
        <p:spPr>
          <a:xfrm>
            <a:off x="3401568" y="1078992"/>
            <a:ext cx="576072" cy="40233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95% CI Upper</a:t>
            </a:r>
            <a:endParaRPr lang="en-US" sz="1100" dirty="0"/>
          </a:p>
        </p:txBody>
      </p:sp>
      <p:sp>
        <p:nvSpPr>
          <p:cNvPr id="16" name="Shape 14"/>
          <p:cNvSpPr/>
          <p:nvPr/>
        </p:nvSpPr>
        <p:spPr>
          <a:xfrm>
            <a:off x="4023360" y="1078992"/>
            <a:ext cx="1188720" cy="402336"/>
          </a:xfrm>
          <a:prstGeom prst="rect">
            <a:avLst/>
          </a:prstGeom>
          <a:solidFill>
            <a:srgbClr val="1A2E4A"/>
          </a:solidFill>
          <a:ln w="12700">
            <a:solidFill>
              <a:srgbClr val="C5D5DE"/>
            </a:solidFill>
            <a:prstDash val="solid"/>
          </a:ln>
        </p:spPr>
      </p:sp>
      <p:sp>
        <p:nvSpPr>
          <p:cNvPr id="17" name="Text 15"/>
          <p:cNvSpPr/>
          <p:nvPr/>
        </p:nvSpPr>
        <p:spPr>
          <a:xfrm>
            <a:off x="4087368" y="1078992"/>
            <a:ext cx="1078992" cy="40233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p-value</a:t>
            </a:r>
            <a:endParaRPr lang="en-US" sz="1100" dirty="0"/>
          </a:p>
        </p:txBody>
      </p:sp>
      <p:sp>
        <p:nvSpPr>
          <p:cNvPr id="18" name="Shape 16"/>
          <p:cNvSpPr/>
          <p:nvPr/>
        </p:nvSpPr>
        <p:spPr>
          <a:xfrm>
            <a:off x="5212080" y="1078992"/>
            <a:ext cx="685800" cy="402336"/>
          </a:xfrm>
          <a:prstGeom prst="rect">
            <a:avLst/>
          </a:prstGeom>
          <a:solidFill>
            <a:srgbClr val="1A2E4A"/>
          </a:solidFill>
          <a:ln w="12700">
            <a:solidFill>
              <a:srgbClr val="C5D5DE"/>
            </a:solidFill>
            <a:prstDash val="solid"/>
          </a:ln>
        </p:spPr>
      </p:sp>
      <p:sp>
        <p:nvSpPr>
          <p:cNvPr id="19" name="Text 17"/>
          <p:cNvSpPr/>
          <p:nvPr/>
        </p:nvSpPr>
        <p:spPr>
          <a:xfrm>
            <a:off x="5276088" y="1078992"/>
            <a:ext cx="685800" cy="40690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Concordance</a:t>
            </a:r>
            <a:endParaRPr lang="en-US" sz="1100" dirty="0"/>
          </a:p>
        </p:txBody>
      </p:sp>
      <p:sp>
        <p:nvSpPr>
          <p:cNvPr id="20" name="Shape 18"/>
          <p:cNvSpPr/>
          <p:nvPr/>
        </p:nvSpPr>
        <p:spPr>
          <a:xfrm>
            <a:off x="5897880" y="1078992"/>
            <a:ext cx="2743200" cy="402336"/>
          </a:xfrm>
          <a:prstGeom prst="rect">
            <a:avLst/>
          </a:prstGeom>
          <a:solidFill>
            <a:srgbClr val="1A2E4A"/>
          </a:solidFill>
          <a:ln w="12700">
            <a:solidFill>
              <a:srgbClr val="C5D5DE"/>
            </a:solidFill>
            <a:prstDash val="solid"/>
          </a:ln>
        </p:spPr>
      </p:sp>
      <p:sp>
        <p:nvSpPr>
          <p:cNvPr id="21" name="Text 19"/>
          <p:cNvSpPr/>
          <p:nvPr/>
        </p:nvSpPr>
        <p:spPr>
          <a:xfrm>
            <a:off x="5961888" y="1078992"/>
            <a:ext cx="2633472" cy="402336"/>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Interpretation</a:t>
            </a:r>
            <a:endParaRPr lang="en-US" sz="1100" dirty="0"/>
          </a:p>
        </p:txBody>
      </p:sp>
      <p:sp>
        <p:nvSpPr>
          <p:cNvPr id="22" name="Shape 20"/>
          <p:cNvSpPr/>
          <p:nvPr/>
        </p:nvSpPr>
        <p:spPr>
          <a:xfrm>
            <a:off x="228600" y="1481328"/>
            <a:ext cx="1920240" cy="402336"/>
          </a:xfrm>
          <a:prstGeom prst="rect">
            <a:avLst/>
          </a:prstGeom>
          <a:solidFill>
            <a:srgbClr val="FFFFFF"/>
          </a:solidFill>
          <a:ln w="12700">
            <a:solidFill>
              <a:srgbClr val="C5D5DE"/>
            </a:solidFill>
            <a:prstDash val="solid"/>
          </a:ln>
        </p:spPr>
      </p:sp>
      <p:sp>
        <p:nvSpPr>
          <p:cNvPr id="23" name="Text 21"/>
          <p:cNvSpPr/>
          <p:nvPr/>
        </p:nvSpPr>
        <p:spPr>
          <a:xfrm>
            <a:off x="292608" y="1481328"/>
            <a:ext cx="181051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Age at Diagnosis (per year)</a:t>
            </a:r>
            <a:endParaRPr lang="en-US" sz="1050" dirty="0"/>
          </a:p>
        </p:txBody>
      </p:sp>
      <p:sp>
        <p:nvSpPr>
          <p:cNvPr id="24" name="Shape 22"/>
          <p:cNvSpPr/>
          <p:nvPr/>
        </p:nvSpPr>
        <p:spPr>
          <a:xfrm>
            <a:off x="2148840" y="1481328"/>
            <a:ext cx="502920" cy="402336"/>
          </a:xfrm>
          <a:prstGeom prst="rect">
            <a:avLst/>
          </a:prstGeom>
          <a:solidFill>
            <a:srgbClr val="FFFFFF"/>
          </a:solidFill>
          <a:ln w="12700">
            <a:solidFill>
              <a:srgbClr val="C5D5DE"/>
            </a:solidFill>
            <a:prstDash val="solid"/>
          </a:ln>
        </p:spPr>
      </p:sp>
      <p:sp>
        <p:nvSpPr>
          <p:cNvPr id="25" name="Text 23"/>
          <p:cNvSpPr/>
          <p:nvPr/>
        </p:nvSpPr>
        <p:spPr>
          <a:xfrm>
            <a:off x="2212848" y="1481328"/>
            <a:ext cx="393192" cy="402336"/>
          </a:xfrm>
          <a:prstGeom prst="rect">
            <a:avLst/>
          </a:prstGeom>
          <a:noFill/>
          <a:ln/>
        </p:spPr>
        <p:txBody>
          <a:bodyPr wrap="square" rtlCol="0" anchor="ctr"/>
          <a:lstStyle/>
          <a:p>
            <a:pPr marL="0" indent="0">
              <a:buNone/>
            </a:pPr>
            <a:r>
              <a:rPr lang="en-US" sz="1050" b="1" dirty="0">
                <a:solidFill>
                  <a:srgbClr val="B5304B"/>
                </a:solidFill>
                <a:latin typeface="Calibri" pitchFamily="34" charset="0"/>
                <a:ea typeface="Calibri" pitchFamily="34" charset="-122"/>
                <a:cs typeface="Calibri" pitchFamily="34" charset="-120"/>
              </a:rPr>
              <a:t>1.036</a:t>
            </a:r>
            <a:endParaRPr lang="en-US" sz="1050" dirty="0"/>
          </a:p>
        </p:txBody>
      </p:sp>
      <p:sp>
        <p:nvSpPr>
          <p:cNvPr id="26" name="Shape 24"/>
          <p:cNvSpPr/>
          <p:nvPr/>
        </p:nvSpPr>
        <p:spPr>
          <a:xfrm>
            <a:off x="2651760" y="1481328"/>
            <a:ext cx="685800" cy="402336"/>
          </a:xfrm>
          <a:prstGeom prst="rect">
            <a:avLst/>
          </a:prstGeom>
          <a:solidFill>
            <a:srgbClr val="FFFFFF"/>
          </a:solidFill>
          <a:ln w="12700">
            <a:solidFill>
              <a:srgbClr val="C5D5DE"/>
            </a:solidFill>
            <a:prstDash val="solid"/>
          </a:ln>
        </p:spPr>
      </p:sp>
      <p:sp>
        <p:nvSpPr>
          <p:cNvPr id="27" name="Text 25"/>
          <p:cNvSpPr/>
          <p:nvPr/>
        </p:nvSpPr>
        <p:spPr>
          <a:xfrm>
            <a:off x="2715768" y="1481328"/>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1.031</a:t>
            </a:r>
            <a:endParaRPr lang="en-US" sz="1050" dirty="0"/>
          </a:p>
        </p:txBody>
      </p:sp>
      <p:sp>
        <p:nvSpPr>
          <p:cNvPr id="28" name="Shape 26"/>
          <p:cNvSpPr/>
          <p:nvPr/>
        </p:nvSpPr>
        <p:spPr>
          <a:xfrm>
            <a:off x="3337560" y="1481328"/>
            <a:ext cx="685800" cy="402336"/>
          </a:xfrm>
          <a:prstGeom prst="rect">
            <a:avLst/>
          </a:prstGeom>
          <a:solidFill>
            <a:srgbClr val="FFFFFF"/>
          </a:solidFill>
          <a:ln w="12700">
            <a:solidFill>
              <a:srgbClr val="C5D5DE"/>
            </a:solidFill>
            <a:prstDash val="solid"/>
          </a:ln>
        </p:spPr>
      </p:sp>
      <p:sp>
        <p:nvSpPr>
          <p:cNvPr id="29" name="Text 27"/>
          <p:cNvSpPr/>
          <p:nvPr/>
        </p:nvSpPr>
        <p:spPr>
          <a:xfrm>
            <a:off x="3401568" y="1481328"/>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1.041</a:t>
            </a:r>
            <a:endParaRPr lang="en-US" sz="1050" dirty="0"/>
          </a:p>
        </p:txBody>
      </p:sp>
      <p:sp>
        <p:nvSpPr>
          <p:cNvPr id="30" name="Shape 28"/>
          <p:cNvSpPr/>
          <p:nvPr/>
        </p:nvSpPr>
        <p:spPr>
          <a:xfrm>
            <a:off x="4023360" y="1481328"/>
            <a:ext cx="1188720" cy="402336"/>
          </a:xfrm>
          <a:prstGeom prst="rect">
            <a:avLst/>
          </a:prstGeom>
          <a:solidFill>
            <a:srgbClr val="FFFFFF"/>
          </a:solidFill>
          <a:ln w="12700">
            <a:solidFill>
              <a:srgbClr val="C5D5DE"/>
            </a:solidFill>
            <a:prstDash val="solid"/>
          </a:ln>
        </p:spPr>
      </p:sp>
      <p:sp>
        <p:nvSpPr>
          <p:cNvPr id="31" name="Text 29"/>
          <p:cNvSpPr/>
          <p:nvPr/>
        </p:nvSpPr>
        <p:spPr>
          <a:xfrm>
            <a:off x="4087368" y="1481328"/>
            <a:ext cx="1078992" cy="402336"/>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&lt;2×10⁻¹⁶ ★★★</a:t>
            </a:r>
            <a:endParaRPr lang="en-US" sz="1050" dirty="0"/>
          </a:p>
        </p:txBody>
      </p:sp>
      <p:sp>
        <p:nvSpPr>
          <p:cNvPr id="32" name="Shape 30"/>
          <p:cNvSpPr/>
          <p:nvPr/>
        </p:nvSpPr>
        <p:spPr>
          <a:xfrm>
            <a:off x="5212080" y="1481328"/>
            <a:ext cx="685800" cy="402336"/>
          </a:xfrm>
          <a:prstGeom prst="rect">
            <a:avLst/>
          </a:prstGeom>
          <a:solidFill>
            <a:srgbClr val="FFFFFF"/>
          </a:solidFill>
          <a:ln w="12700">
            <a:solidFill>
              <a:srgbClr val="C5D5DE"/>
            </a:solidFill>
            <a:prstDash val="solid"/>
          </a:ln>
        </p:spPr>
      </p:sp>
      <p:sp>
        <p:nvSpPr>
          <p:cNvPr id="33" name="Text 31"/>
          <p:cNvSpPr/>
          <p:nvPr/>
        </p:nvSpPr>
        <p:spPr>
          <a:xfrm>
            <a:off x="5276088" y="1481328"/>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0.588</a:t>
            </a:r>
            <a:endParaRPr lang="en-US" sz="1050" dirty="0"/>
          </a:p>
        </p:txBody>
      </p:sp>
      <p:sp>
        <p:nvSpPr>
          <p:cNvPr id="34" name="Shape 32"/>
          <p:cNvSpPr/>
          <p:nvPr/>
        </p:nvSpPr>
        <p:spPr>
          <a:xfrm>
            <a:off x="5897880" y="1481328"/>
            <a:ext cx="2743200" cy="402336"/>
          </a:xfrm>
          <a:prstGeom prst="rect">
            <a:avLst/>
          </a:prstGeom>
          <a:solidFill>
            <a:srgbClr val="FFFFFF"/>
          </a:solidFill>
          <a:ln w="12700">
            <a:solidFill>
              <a:srgbClr val="C5D5DE"/>
            </a:solidFill>
            <a:prstDash val="solid"/>
          </a:ln>
        </p:spPr>
      </p:sp>
      <p:sp>
        <p:nvSpPr>
          <p:cNvPr id="35" name="Text 33"/>
          <p:cNvSpPr/>
          <p:nvPr/>
        </p:nvSpPr>
        <p:spPr>
          <a:xfrm>
            <a:off x="5961888" y="1481328"/>
            <a:ext cx="26334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Each additional year raises risk by 3.6%</a:t>
            </a:r>
            <a:endParaRPr lang="en-US" sz="1050" dirty="0"/>
          </a:p>
        </p:txBody>
      </p:sp>
      <p:sp>
        <p:nvSpPr>
          <p:cNvPr id="36" name="Shape 34"/>
          <p:cNvSpPr/>
          <p:nvPr/>
        </p:nvSpPr>
        <p:spPr>
          <a:xfrm>
            <a:off x="228600" y="1883664"/>
            <a:ext cx="1920240" cy="402336"/>
          </a:xfrm>
          <a:prstGeom prst="rect">
            <a:avLst/>
          </a:prstGeom>
          <a:solidFill>
            <a:srgbClr val="EDF4F6"/>
          </a:solidFill>
          <a:ln w="12700">
            <a:solidFill>
              <a:srgbClr val="C5D5DE"/>
            </a:solidFill>
            <a:prstDash val="solid"/>
          </a:ln>
        </p:spPr>
      </p:sp>
      <p:sp>
        <p:nvSpPr>
          <p:cNvPr id="37" name="Text 35"/>
          <p:cNvSpPr/>
          <p:nvPr/>
        </p:nvSpPr>
        <p:spPr>
          <a:xfrm>
            <a:off x="292608" y="1883664"/>
            <a:ext cx="181051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Tumor Size (per mm)</a:t>
            </a:r>
            <a:endParaRPr lang="en-US" sz="1050" dirty="0"/>
          </a:p>
        </p:txBody>
      </p:sp>
      <p:sp>
        <p:nvSpPr>
          <p:cNvPr id="38" name="Shape 36"/>
          <p:cNvSpPr/>
          <p:nvPr/>
        </p:nvSpPr>
        <p:spPr>
          <a:xfrm>
            <a:off x="2148840" y="1883664"/>
            <a:ext cx="502920" cy="402336"/>
          </a:xfrm>
          <a:prstGeom prst="rect">
            <a:avLst/>
          </a:prstGeom>
          <a:solidFill>
            <a:srgbClr val="EDF4F6"/>
          </a:solidFill>
          <a:ln w="12700">
            <a:solidFill>
              <a:srgbClr val="C5D5DE"/>
            </a:solidFill>
            <a:prstDash val="solid"/>
          </a:ln>
        </p:spPr>
      </p:sp>
      <p:sp>
        <p:nvSpPr>
          <p:cNvPr id="39" name="Text 37"/>
          <p:cNvSpPr/>
          <p:nvPr/>
        </p:nvSpPr>
        <p:spPr>
          <a:xfrm>
            <a:off x="2212848" y="1883664"/>
            <a:ext cx="393192" cy="402336"/>
          </a:xfrm>
          <a:prstGeom prst="rect">
            <a:avLst/>
          </a:prstGeom>
          <a:noFill/>
          <a:ln/>
        </p:spPr>
        <p:txBody>
          <a:bodyPr wrap="square" rtlCol="0" anchor="ctr"/>
          <a:lstStyle/>
          <a:p>
            <a:pPr marL="0" indent="0">
              <a:buNone/>
            </a:pPr>
            <a:r>
              <a:rPr lang="en-US" sz="1050" b="1" dirty="0">
                <a:solidFill>
                  <a:srgbClr val="B5304B"/>
                </a:solidFill>
                <a:latin typeface="Calibri" pitchFamily="34" charset="0"/>
                <a:ea typeface="Calibri" pitchFamily="34" charset="-122"/>
                <a:cs typeface="Calibri" pitchFamily="34" charset="-120"/>
              </a:rPr>
              <a:t>1.015</a:t>
            </a:r>
            <a:endParaRPr lang="en-US" sz="1050" dirty="0"/>
          </a:p>
        </p:txBody>
      </p:sp>
      <p:sp>
        <p:nvSpPr>
          <p:cNvPr id="40" name="Shape 38"/>
          <p:cNvSpPr/>
          <p:nvPr/>
        </p:nvSpPr>
        <p:spPr>
          <a:xfrm>
            <a:off x="2651760" y="1883664"/>
            <a:ext cx="685800" cy="402336"/>
          </a:xfrm>
          <a:prstGeom prst="rect">
            <a:avLst/>
          </a:prstGeom>
          <a:solidFill>
            <a:srgbClr val="EDF4F6"/>
          </a:solidFill>
          <a:ln w="12700">
            <a:solidFill>
              <a:srgbClr val="C5D5DE"/>
            </a:solidFill>
            <a:prstDash val="solid"/>
          </a:ln>
        </p:spPr>
      </p:sp>
      <p:sp>
        <p:nvSpPr>
          <p:cNvPr id="41" name="Text 39"/>
          <p:cNvSpPr/>
          <p:nvPr/>
        </p:nvSpPr>
        <p:spPr>
          <a:xfrm>
            <a:off x="2715768" y="1883664"/>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1.012</a:t>
            </a:r>
            <a:endParaRPr lang="en-US" sz="1050" dirty="0"/>
          </a:p>
        </p:txBody>
      </p:sp>
      <p:sp>
        <p:nvSpPr>
          <p:cNvPr id="42" name="Shape 40"/>
          <p:cNvSpPr/>
          <p:nvPr/>
        </p:nvSpPr>
        <p:spPr>
          <a:xfrm>
            <a:off x="3337560" y="1883664"/>
            <a:ext cx="685800" cy="402336"/>
          </a:xfrm>
          <a:prstGeom prst="rect">
            <a:avLst/>
          </a:prstGeom>
          <a:solidFill>
            <a:srgbClr val="EDF4F6"/>
          </a:solidFill>
          <a:ln w="12700">
            <a:solidFill>
              <a:srgbClr val="C5D5DE"/>
            </a:solidFill>
            <a:prstDash val="solid"/>
          </a:ln>
        </p:spPr>
      </p:sp>
      <p:sp>
        <p:nvSpPr>
          <p:cNvPr id="43" name="Text 41"/>
          <p:cNvSpPr/>
          <p:nvPr/>
        </p:nvSpPr>
        <p:spPr>
          <a:xfrm>
            <a:off x="3401568" y="1883664"/>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1.018</a:t>
            </a:r>
            <a:endParaRPr lang="en-US" sz="1050" dirty="0"/>
          </a:p>
        </p:txBody>
      </p:sp>
      <p:sp>
        <p:nvSpPr>
          <p:cNvPr id="44" name="Shape 42"/>
          <p:cNvSpPr/>
          <p:nvPr/>
        </p:nvSpPr>
        <p:spPr>
          <a:xfrm>
            <a:off x="4023360" y="1883664"/>
            <a:ext cx="1188720" cy="402336"/>
          </a:xfrm>
          <a:prstGeom prst="rect">
            <a:avLst/>
          </a:prstGeom>
          <a:solidFill>
            <a:srgbClr val="EDF4F6"/>
          </a:solidFill>
          <a:ln w="12700">
            <a:solidFill>
              <a:srgbClr val="C5D5DE"/>
            </a:solidFill>
            <a:prstDash val="solid"/>
          </a:ln>
        </p:spPr>
      </p:sp>
      <p:sp>
        <p:nvSpPr>
          <p:cNvPr id="45" name="Text 43"/>
          <p:cNvSpPr/>
          <p:nvPr/>
        </p:nvSpPr>
        <p:spPr>
          <a:xfrm>
            <a:off x="4087368" y="1883664"/>
            <a:ext cx="1078992" cy="402336"/>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&lt;2×10⁻¹⁶ ★★★</a:t>
            </a:r>
            <a:endParaRPr lang="en-US" sz="1050" dirty="0"/>
          </a:p>
        </p:txBody>
      </p:sp>
      <p:sp>
        <p:nvSpPr>
          <p:cNvPr id="46" name="Shape 44"/>
          <p:cNvSpPr/>
          <p:nvPr/>
        </p:nvSpPr>
        <p:spPr>
          <a:xfrm>
            <a:off x="5212080" y="1883664"/>
            <a:ext cx="685800" cy="402336"/>
          </a:xfrm>
          <a:prstGeom prst="rect">
            <a:avLst/>
          </a:prstGeom>
          <a:solidFill>
            <a:srgbClr val="EDF4F6"/>
          </a:solidFill>
          <a:ln w="12700">
            <a:solidFill>
              <a:srgbClr val="C5D5DE"/>
            </a:solidFill>
            <a:prstDash val="solid"/>
          </a:ln>
        </p:spPr>
      </p:sp>
      <p:sp>
        <p:nvSpPr>
          <p:cNvPr id="47" name="Text 45"/>
          <p:cNvSpPr/>
          <p:nvPr/>
        </p:nvSpPr>
        <p:spPr>
          <a:xfrm>
            <a:off x="5276088" y="1883664"/>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0.614</a:t>
            </a:r>
            <a:endParaRPr lang="en-US" sz="1050" dirty="0"/>
          </a:p>
        </p:txBody>
      </p:sp>
      <p:sp>
        <p:nvSpPr>
          <p:cNvPr id="48" name="Shape 46"/>
          <p:cNvSpPr/>
          <p:nvPr/>
        </p:nvSpPr>
        <p:spPr>
          <a:xfrm>
            <a:off x="5897880" y="1883664"/>
            <a:ext cx="2743200" cy="402336"/>
          </a:xfrm>
          <a:prstGeom prst="rect">
            <a:avLst/>
          </a:prstGeom>
          <a:solidFill>
            <a:srgbClr val="EDF4F6"/>
          </a:solidFill>
          <a:ln w="12700">
            <a:solidFill>
              <a:srgbClr val="C5D5DE"/>
            </a:solidFill>
            <a:prstDash val="solid"/>
          </a:ln>
        </p:spPr>
      </p:sp>
      <p:sp>
        <p:nvSpPr>
          <p:cNvPr id="49" name="Text 47"/>
          <p:cNvSpPr/>
          <p:nvPr/>
        </p:nvSpPr>
        <p:spPr>
          <a:xfrm>
            <a:off x="5961888" y="1883664"/>
            <a:ext cx="26334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Each mm increase raises risk by 1.5%</a:t>
            </a:r>
            <a:endParaRPr lang="en-US" sz="1050" dirty="0"/>
          </a:p>
        </p:txBody>
      </p:sp>
      <p:sp>
        <p:nvSpPr>
          <p:cNvPr id="50" name="Shape 48"/>
          <p:cNvSpPr/>
          <p:nvPr/>
        </p:nvSpPr>
        <p:spPr>
          <a:xfrm>
            <a:off x="228600" y="2286000"/>
            <a:ext cx="1920240" cy="402336"/>
          </a:xfrm>
          <a:prstGeom prst="rect">
            <a:avLst/>
          </a:prstGeom>
          <a:solidFill>
            <a:srgbClr val="FFFFFF"/>
          </a:solidFill>
          <a:ln w="12700">
            <a:solidFill>
              <a:srgbClr val="C5D5DE"/>
            </a:solidFill>
            <a:prstDash val="solid"/>
          </a:ln>
        </p:spPr>
      </p:sp>
      <p:sp>
        <p:nvSpPr>
          <p:cNvPr id="51" name="Text 49"/>
          <p:cNvSpPr/>
          <p:nvPr/>
        </p:nvSpPr>
        <p:spPr>
          <a:xfrm>
            <a:off x="292608" y="2286000"/>
            <a:ext cx="181051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Lymph Nodes +ve (per node)</a:t>
            </a:r>
            <a:endParaRPr lang="en-US" sz="1050" dirty="0"/>
          </a:p>
        </p:txBody>
      </p:sp>
      <p:sp>
        <p:nvSpPr>
          <p:cNvPr id="52" name="Shape 50"/>
          <p:cNvSpPr/>
          <p:nvPr/>
        </p:nvSpPr>
        <p:spPr>
          <a:xfrm>
            <a:off x="2148840" y="2286000"/>
            <a:ext cx="502920" cy="402336"/>
          </a:xfrm>
          <a:prstGeom prst="rect">
            <a:avLst/>
          </a:prstGeom>
          <a:solidFill>
            <a:srgbClr val="FFFFFF"/>
          </a:solidFill>
          <a:ln w="12700">
            <a:solidFill>
              <a:srgbClr val="C5D5DE"/>
            </a:solidFill>
            <a:prstDash val="solid"/>
          </a:ln>
        </p:spPr>
      </p:sp>
      <p:sp>
        <p:nvSpPr>
          <p:cNvPr id="53" name="Text 51"/>
          <p:cNvSpPr/>
          <p:nvPr/>
        </p:nvSpPr>
        <p:spPr>
          <a:xfrm>
            <a:off x="2212848" y="2286000"/>
            <a:ext cx="393192" cy="402336"/>
          </a:xfrm>
          <a:prstGeom prst="rect">
            <a:avLst/>
          </a:prstGeom>
          <a:noFill/>
          <a:ln/>
        </p:spPr>
        <p:txBody>
          <a:bodyPr wrap="square" rtlCol="0" anchor="ctr"/>
          <a:lstStyle/>
          <a:p>
            <a:pPr marL="0" indent="0">
              <a:buNone/>
            </a:pPr>
            <a:r>
              <a:rPr lang="en-US" sz="1050" b="1" dirty="0">
                <a:solidFill>
                  <a:srgbClr val="B5304B"/>
                </a:solidFill>
                <a:latin typeface="Calibri" pitchFamily="34" charset="0"/>
                <a:ea typeface="Calibri" pitchFamily="34" charset="-122"/>
                <a:cs typeface="Calibri" pitchFamily="34" charset="-120"/>
              </a:rPr>
              <a:t>1.067</a:t>
            </a:r>
            <a:endParaRPr lang="en-US" sz="1050" dirty="0"/>
          </a:p>
        </p:txBody>
      </p:sp>
      <p:sp>
        <p:nvSpPr>
          <p:cNvPr id="54" name="Shape 52"/>
          <p:cNvSpPr/>
          <p:nvPr/>
        </p:nvSpPr>
        <p:spPr>
          <a:xfrm>
            <a:off x="2651760" y="2286000"/>
            <a:ext cx="685800" cy="402336"/>
          </a:xfrm>
          <a:prstGeom prst="rect">
            <a:avLst/>
          </a:prstGeom>
          <a:solidFill>
            <a:srgbClr val="FFFFFF"/>
          </a:solidFill>
          <a:ln w="12700">
            <a:solidFill>
              <a:srgbClr val="C5D5DE"/>
            </a:solidFill>
            <a:prstDash val="solid"/>
          </a:ln>
        </p:spPr>
      </p:sp>
      <p:sp>
        <p:nvSpPr>
          <p:cNvPr id="55" name="Text 53"/>
          <p:cNvSpPr/>
          <p:nvPr/>
        </p:nvSpPr>
        <p:spPr>
          <a:xfrm>
            <a:off x="2715768" y="2286000"/>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1.057</a:t>
            </a:r>
            <a:endParaRPr lang="en-US" sz="1050" dirty="0"/>
          </a:p>
        </p:txBody>
      </p:sp>
      <p:sp>
        <p:nvSpPr>
          <p:cNvPr id="56" name="Shape 54"/>
          <p:cNvSpPr/>
          <p:nvPr/>
        </p:nvSpPr>
        <p:spPr>
          <a:xfrm>
            <a:off x="3337560" y="2286000"/>
            <a:ext cx="685800" cy="402336"/>
          </a:xfrm>
          <a:prstGeom prst="rect">
            <a:avLst/>
          </a:prstGeom>
          <a:solidFill>
            <a:srgbClr val="FFFFFF"/>
          </a:solidFill>
          <a:ln w="12700">
            <a:solidFill>
              <a:srgbClr val="C5D5DE"/>
            </a:solidFill>
            <a:prstDash val="solid"/>
          </a:ln>
        </p:spPr>
      </p:sp>
      <p:sp>
        <p:nvSpPr>
          <p:cNvPr id="57" name="Text 55"/>
          <p:cNvSpPr/>
          <p:nvPr/>
        </p:nvSpPr>
        <p:spPr>
          <a:xfrm>
            <a:off x="3401568" y="2286000"/>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1.077</a:t>
            </a:r>
            <a:endParaRPr lang="en-US" sz="1050" dirty="0"/>
          </a:p>
        </p:txBody>
      </p:sp>
      <p:sp>
        <p:nvSpPr>
          <p:cNvPr id="58" name="Shape 56"/>
          <p:cNvSpPr/>
          <p:nvPr/>
        </p:nvSpPr>
        <p:spPr>
          <a:xfrm>
            <a:off x="4023360" y="2286000"/>
            <a:ext cx="1188720" cy="402336"/>
          </a:xfrm>
          <a:prstGeom prst="rect">
            <a:avLst/>
          </a:prstGeom>
          <a:solidFill>
            <a:srgbClr val="FFFFFF"/>
          </a:solidFill>
          <a:ln w="12700">
            <a:solidFill>
              <a:srgbClr val="C5D5DE"/>
            </a:solidFill>
            <a:prstDash val="solid"/>
          </a:ln>
        </p:spPr>
      </p:sp>
      <p:sp>
        <p:nvSpPr>
          <p:cNvPr id="59" name="Text 57"/>
          <p:cNvSpPr/>
          <p:nvPr/>
        </p:nvSpPr>
        <p:spPr>
          <a:xfrm>
            <a:off x="4087368" y="2286000"/>
            <a:ext cx="1078992" cy="402336"/>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&lt;2×10⁻¹⁶ ★★★</a:t>
            </a:r>
            <a:endParaRPr lang="en-US" sz="1050" dirty="0"/>
          </a:p>
        </p:txBody>
      </p:sp>
      <p:sp>
        <p:nvSpPr>
          <p:cNvPr id="60" name="Shape 58"/>
          <p:cNvSpPr/>
          <p:nvPr/>
        </p:nvSpPr>
        <p:spPr>
          <a:xfrm>
            <a:off x="5212080" y="2286000"/>
            <a:ext cx="685800" cy="402336"/>
          </a:xfrm>
          <a:prstGeom prst="rect">
            <a:avLst/>
          </a:prstGeom>
          <a:solidFill>
            <a:srgbClr val="FFFFFF"/>
          </a:solidFill>
          <a:ln w="12700">
            <a:solidFill>
              <a:srgbClr val="C5D5DE"/>
            </a:solidFill>
            <a:prstDash val="solid"/>
          </a:ln>
        </p:spPr>
      </p:sp>
      <p:sp>
        <p:nvSpPr>
          <p:cNvPr id="61" name="Text 59"/>
          <p:cNvSpPr/>
          <p:nvPr/>
        </p:nvSpPr>
        <p:spPr>
          <a:xfrm>
            <a:off x="5276088" y="2286000"/>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0.606</a:t>
            </a:r>
            <a:endParaRPr lang="en-US" sz="1050" dirty="0"/>
          </a:p>
        </p:txBody>
      </p:sp>
      <p:sp>
        <p:nvSpPr>
          <p:cNvPr id="62" name="Shape 60"/>
          <p:cNvSpPr/>
          <p:nvPr/>
        </p:nvSpPr>
        <p:spPr>
          <a:xfrm>
            <a:off x="5897880" y="2286000"/>
            <a:ext cx="2743200" cy="402336"/>
          </a:xfrm>
          <a:prstGeom prst="rect">
            <a:avLst/>
          </a:prstGeom>
          <a:solidFill>
            <a:srgbClr val="FFFFFF"/>
          </a:solidFill>
          <a:ln w="12700">
            <a:solidFill>
              <a:srgbClr val="C5D5DE"/>
            </a:solidFill>
            <a:prstDash val="solid"/>
          </a:ln>
        </p:spPr>
      </p:sp>
      <p:sp>
        <p:nvSpPr>
          <p:cNvPr id="63" name="Text 61"/>
          <p:cNvSpPr/>
          <p:nvPr/>
        </p:nvSpPr>
        <p:spPr>
          <a:xfrm>
            <a:off x="5961888" y="2286000"/>
            <a:ext cx="26334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Each additional node raises risk by 6.7%</a:t>
            </a:r>
            <a:endParaRPr lang="en-US" sz="1050" dirty="0"/>
          </a:p>
        </p:txBody>
      </p:sp>
      <p:sp>
        <p:nvSpPr>
          <p:cNvPr id="64" name="Shape 62"/>
          <p:cNvSpPr/>
          <p:nvPr/>
        </p:nvSpPr>
        <p:spPr>
          <a:xfrm>
            <a:off x="228600" y="2688336"/>
            <a:ext cx="1920240" cy="402336"/>
          </a:xfrm>
          <a:prstGeom prst="rect">
            <a:avLst/>
          </a:prstGeom>
          <a:solidFill>
            <a:srgbClr val="EDF4F6"/>
          </a:solidFill>
          <a:ln w="12700">
            <a:solidFill>
              <a:srgbClr val="C5D5DE"/>
            </a:solidFill>
            <a:prstDash val="solid"/>
          </a:ln>
        </p:spPr>
      </p:sp>
      <p:sp>
        <p:nvSpPr>
          <p:cNvPr id="65" name="Text 63"/>
          <p:cNvSpPr/>
          <p:nvPr/>
        </p:nvSpPr>
        <p:spPr>
          <a:xfrm>
            <a:off x="292608" y="2688336"/>
            <a:ext cx="181051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HER2 Positive (vs Neg)</a:t>
            </a:r>
            <a:endParaRPr lang="en-US" sz="1050" dirty="0"/>
          </a:p>
        </p:txBody>
      </p:sp>
      <p:sp>
        <p:nvSpPr>
          <p:cNvPr id="66" name="Shape 64"/>
          <p:cNvSpPr/>
          <p:nvPr/>
        </p:nvSpPr>
        <p:spPr>
          <a:xfrm>
            <a:off x="2148840" y="2688336"/>
            <a:ext cx="502920" cy="402336"/>
          </a:xfrm>
          <a:prstGeom prst="rect">
            <a:avLst/>
          </a:prstGeom>
          <a:solidFill>
            <a:srgbClr val="EDF4F6"/>
          </a:solidFill>
          <a:ln w="12700">
            <a:solidFill>
              <a:srgbClr val="C5D5DE"/>
            </a:solidFill>
            <a:prstDash val="solid"/>
          </a:ln>
        </p:spPr>
      </p:sp>
      <p:sp>
        <p:nvSpPr>
          <p:cNvPr id="67" name="Text 65"/>
          <p:cNvSpPr/>
          <p:nvPr/>
        </p:nvSpPr>
        <p:spPr>
          <a:xfrm>
            <a:off x="2212848" y="2688336"/>
            <a:ext cx="393192" cy="402336"/>
          </a:xfrm>
          <a:prstGeom prst="rect">
            <a:avLst/>
          </a:prstGeom>
          <a:noFill/>
          <a:ln/>
        </p:spPr>
        <p:txBody>
          <a:bodyPr wrap="square" rtlCol="0" anchor="ctr"/>
          <a:lstStyle/>
          <a:p>
            <a:pPr marL="0" indent="0">
              <a:buNone/>
            </a:pPr>
            <a:r>
              <a:rPr lang="en-US" sz="1050" b="1" dirty="0">
                <a:solidFill>
                  <a:srgbClr val="B5304B"/>
                </a:solidFill>
                <a:latin typeface="Calibri" pitchFamily="34" charset="0"/>
                <a:ea typeface="Calibri" pitchFamily="34" charset="-122"/>
                <a:cs typeface="Calibri" pitchFamily="34" charset="-120"/>
              </a:rPr>
              <a:t>1.467</a:t>
            </a:r>
            <a:endParaRPr lang="en-US" sz="1050" dirty="0"/>
          </a:p>
        </p:txBody>
      </p:sp>
      <p:sp>
        <p:nvSpPr>
          <p:cNvPr id="68" name="Shape 66"/>
          <p:cNvSpPr/>
          <p:nvPr/>
        </p:nvSpPr>
        <p:spPr>
          <a:xfrm>
            <a:off x="2651760" y="2688336"/>
            <a:ext cx="685800" cy="402336"/>
          </a:xfrm>
          <a:prstGeom prst="rect">
            <a:avLst/>
          </a:prstGeom>
          <a:solidFill>
            <a:srgbClr val="EDF4F6"/>
          </a:solidFill>
          <a:ln w="12700">
            <a:solidFill>
              <a:srgbClr val="C5D5DE"/>
            </a:solidFill>
            <a:prstDash val="solid"/>
          </a:ln>
        </p:spPr>
      </p:sp>
      <p:sp>
        <p:nvSpPr>
          <p:cNvPr id="69" name="Text 67"/>
          <p:cNvSpPr/>
          <p:nvPr/>
        </p:nvSpPr>
        <p:spPr>
          <a:xfrm>
            <a:off x="2715768" y="2688336"/>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1.238</a:t>
            </a:r>
            <a:endParaRPr lang="en-US" sz="1050" dirty="0"/>
          </a:p>
        </p:txBody>
      </p:sp>
      <p:sp>
        <p:nvSpPr>
          <p:cNvPr id="70" name="Shape 68"/>
          <p:cNvSpPr/>
          <p:nvPr/>
        </p:nvSpPr>
        <p:spPr>
          <a:xfrm>
            <a:off x="3337560" y="2688336"/>
            <a:ext cx="685800" cy="402336"/>
          </a:xfrm>
          <a:prstGeom prst="rect">
            <a:avLst/>
          </a:prstGeom>
          <a:solidFill>
            <a:srgbClr val="EDF4F6"/>
          </a:solidFill>
          <a:ln w="12700">
            <a:solidFill>
              <a:srgbClr val="C5D5DE"/>
            </a:solidFill>
            <a:prstDash val="solid"/>
          </a:ln>
        </p:spPr>
      </p:sp>
      <p:sp>
        <p:nvSpPr>
          <p:cNvPr id="71" name="Text 69"/>
          <p:cNvSpPr/>
          <p:nvPr/>
        </p:nvSpPr>
        <p:spPr>
          <a:xfrm>
            <a:off x="3401568" y="2688336"/>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1.738</a:t>
            </a:r>
            <a:endParaRPr lang="en-US" sz="1050" dirty="0"/>
          </a:p>
        </p:txBody>
      </p:sp>
      <p:sp>
        <p:nvSpPr>
          <p:cNvPr id="72" name="Shape 70"/>
          <p:cNvSpPr/>
          <p:nvPr/>
        </p:nvSpPr>
        <p:spPr>
          <a:xfrm>
            <a:off x="4023360" y="2688336"/>
            <a:ext cx="1188720" cy="402336"/>
          </a:xfrm>
          <a:prstGeom prst="rect">
            <a:avLst/>
          </a:prstGeom>
          <a:solidFill>
            <a:srgbClr val="EDF4F6"/>
          </a:solidFill>
          <a:ln w="12700">
            <a:solidFill>
              <a:srgbClr val="C5D5DE"/>
            </a:solidFill>
            <a:prstDash val="solid"/>
          </a:ln>
        </p:spPr>
      </p:sp>
      <p:sp>
        <p:nvSpPr>
          <p:cNvPr id="73" name="Text 71"/>
          <p:cNvSpPr/>
          <p:nvPr/>
        </p:nvSpPr>
        <p:spPr>
          <a:xfrm>
            <a:off x="4087368" y="2688336"/>
            <a:ext cx="1078992" cy="402336"/>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9.7×10⁻⁶ ★★★</a:t>
            </a:r>
            <a:endParaRPr lang="en-US" sz="1050" dirty="0"/>
          </a:p>
        </p:txBody>
      </p:sp>
      <p:sp>
        <p:nvSpPr>
          <p:cNvPr id="74" name="Shape 72"/>
          <p:cNvSpPr/>
          <p:nvPr/>
        </p:nvSpPr>
        <p:spPr>
          <a:xfrm>
            <a:off x="5212080" y="2688336"/>
            <a:ext cx="685800" cy="402336"/>
          </a:xfrm>
          <a:prstGeom prst="rect">
            <a:avLst/>
          </a:prstGeom>
          <a:solidFill>
            <a:srgbClr val="EDF4F6"/>
          </a:solidFill>
          <a:ln w="12700">
            <a:solidFill>
              <a:srgbClr val="C5D5DE"/>
            </a:solidFill>
            <a:prstDash val="solid"/>
          </a:ln>
        </p:spPr>
      </p:sp>
      <p:sp>
        <p:nvSpPr>
          <p:cNvPr id="75" name="Text 73"/>
          <p:cNvSpPr/>
          <p:nvPr/>
        </p:nvSpPr>
        <p:spPr>
          <a:xfrm>
            <a:off x="5276088" y="2688336"/>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0.529</a:t>
            </a:r>
            <a:endParaRPr lang="en-US" sz="1050" dirty="0"/>
          </a:p>
        </p:txBody>
      </p:sp>
      <p:sp>
        <p:nvSpPr>
          <p:cNvPr id="76" name="Shape 74"/>
          <p:cNvSpPr/>
          <p:nvPr/>
        </p:nvSpPr>
        <p:spPr>
          <a:xfrm>
            <a:off x="5897880" y="2688336"/>
            <a:ext cx="2743200" cy="402336"/>
          </a:xfrm>
          <a:prstGeom prst="rect">
            <a:avLst/>
          </a:prstGeom>
          <a:solidFill>
            <a:srgbClr val="EDF4F6"/>
          </a:solidFill>
          <a:ln w="12700">
            <a:solidFill>
              <a:srgbClr val="C5D5DE"/>
            </a:solidFill>
            <a:prstDash val="solid"/>
          </a:ln>
        </p:spPr>
      </p:sp>
      <p:sp>
        <p:nvSpPr>
          <p:cNvPr id="77" name="Text 75"/>
          <p:cNvSpPr/>
          <p:nvPr/>
        </p:nvSpPr>
        <p:spPr>
          <a:xfrm>
            <a:off x="5961888" y="2688336"/>
            <a:ext cx="26334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HER2+ patients have 47% higher risk</a:t>
            </a:r>
            <a:endParaRPr lang="en-US" sz="1050" dirty="0"/>
          </a:p>
        </p:txBody>
      </p:sp>
      <p:sp>
        <p:nvSpPr>
          <p:cNvPr id="78" name="Shape 76"/>
          <p:cNvSpPr/>
          <p:nvPr/>
        </p:nvSpPr>
        <p:spPr>
          <a:xfrm>
            <a:off x="228600" y="3090672"/>
            <a:ext cx="1920240" cy="402336"/>
          </a:xfrm>
          <a:prstGeom prst="rect">
            <a:avLst/>
          </a:prstGeom>
          <a:solidFill>
            <a:srgbClr val="FFFFFF"/>
          </a:solidFill>
          <a:ln w="12700">
            <a:solidFill>
              <a:srgbClr val="C5D5DE"/>
            </a:solidFill>
            <a:prstDash val="solid"/>
          </a:ln>
        </p:spPr>
      </p:sp>
      <p:sp>
        <p:nvSpPr>
          <p:cNvPr id="79" name="Text 77"/>
          <p:cNvSpPr/>
          <p:nvPr/>
        </p:nvSpPr>
        <p:spPr>
          <a:xfrm>
            <a:off x="292608" y="3090672"/>
            <a:ext cx="181051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Tumor Stage 4 (vs 0)</a:t>
            </a:r>
            <a:endParaRPr lang="en-US" sz="1050" dirty="0"/>
          </a:p>
        </p:txBody>
      </p:sp>
      <p:sp>
        <p:nvSpPr>
          <p:cNvPr id="80" name="Shape 78"/>
          <p:cNvSpPr/>
          <p:nvPr/>
        </p:nvSpPr>
        <p:spPr>
          <a:xfrm>
            <a:off x="2148840" y="3090672"/>
            <a:ext cx="502920" cy="402336"/>
          </a:xfrm>
          <a:prstGeom prst="rect">
            <a:avLst/>
          </a:prstGeom>
          <a:solidFill>
            <a:srgbClr val="FFFFFF"/>
          </a:solidFill>
          <a:ln w="12700">
            <a:solidFill>
              <a:srgbClr val="C5D5DE"/>
            </a:solidFill>
            <a:prstDash val="solid"/>
          </a:ln>
        </p:spPr>
      </p:sp>
      <p:sp>
        <p:nvSpPr>
          <p:cNvPr id="81" name="Text 79"/>
          <p:cNvSpPr/>
          <p:nvPr/>
        </p:nvSpPr>
        <p:spPr>
          <a:xfrm>
            <a:off x="2212848" y="3090672"/>
            <a:ext cx="393192" cy="402336"/>
          </a:xfrm>
          <a:prstGeom prst="rect">
            <a:avLst/>
          </a:prstGeom>
          <a:noFill/>
          <a:ln/>
        </p:spPr>
        <p:txBody>
          <a:bodyPr wrap="square" rtlCol="0" anchor="ctr"/>
          <a:lstStyle/>
          <a:p>
            <a:pPr marL="0" indent="0">
              <a:buNone/>
            </a:pPr>
            <a:r>
              <a:rPr lang="en-US" sz="1050" b="1" dirty="0">
                <a:solidFill>
                  <a:srgbClr val="B5304B"/>
                </a:solidFill>
                <a:latin typeface="Calibri" pitchFamily="34" charset="0"/>
                <a:ea typeface="Calibri" pitchFamily="34" charset="-122"/>
                <a:cs typeface="Calibri" pitchFamily="34" charset="-120"/>
              </a:rPr>
              <a:t>10.710</a:t>
            </a:r>
            <a:endParaRPr lang="en-US" sz="1050" dirty="0"/>
          </a:p>
        </p:txBody>
      </p:sp>
      <p:sp>
        <p:nvSpPr>
          <p:cNvPr id="82" name="Shape 80"/>
          <p:cNvSpPr/>
          <p:nvPr/>
        </p:nvSpPr>
        <p:spPr>
          <a:xfrm>
            <a:off x="2651760" y="3090672"/>
            <a:ext cx="685800" cy="402336"/>
          </a:xfrm>
          <a:prstGeom prst="rect">
            <a:avLst/>
          </a:prstGeom>
          <a:solidFill>
            <a:srgbClr val="FFFFFF"/>
          </a:solidFill>
          <a:ln w="12700">
            <a:solidFill>
              <a:srgbClr val="C5D5DE"/>
            </a:solidFill>
            <a:prstDash val="solid"/>
          </a:ln>
        </p:spPr>
      </p:sp>
      <p:sp>
        <p:nvSpPr>
          <p:cNvPr id="83" name="Text 81"/>
          <p:cNvSpPr/>
          <p:nvPr/>
        </p:nvSpPr>
        <p:spPr>
          <a:xfrm>
            <a:off x="2715768" y="3090672"/>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2.313</a:t>
            </a:r>
            <a:endParaRPr lang="en-US" sz="1050" dirty="0"/>
          </a:p>
        </p:txBody>
      </p:sp>
      <p:sp>
        <p:nvSpPr>
          <p:cNvPr id="84" name="Shape 82"/>
          <p:cNvSpPr/>
          <p:nvPr/>
        </p:nvSpPr>
        <p:spPr>
          <a:xfrm>
            <a:off x="3337560" y="3090672"/>
            <a:ext cx="685800" cy="402336"/>
          </a:xfrm>
          <a:prstGeom prst="rect">
            <a:avLst/>
          </a:prstGeom>
          <a:solidFill>
            <a:srgbClr val="FFFFFF"/>
          </a:solidFill>
          <a:ln w="12700">
            <a:solidFill>
              <a:srgbClr val="C5D5DE"/>
            </a:solidFill>
            <a:prstDash val="solid"/>
          </a:ln>
        </p:spPr>
      </p:sp>
      <p:sp>
        <p:nvSpPr>
          <p:cNvPr id="85" name="Text 83"/>
          <p:cNvSpPr/>
          <p:nvPr/>
        </p:nvSpPr>
        <p:spPr>
          <a:xfrm>
            <a:off x="3401568" y="3090672"/>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49.60</a:t>
            </a:r>
            <a:endParaRPr lang="en-US" sz="1050" dirty="0"/>
          </a:p>
        </p:txBody>
      </p:sp>
      <p:sp>
        <p:nvSpPr>
          <p:cNvPr id="86" name="Shape 84"/>
          <p:cNvSpPr/>
          <p:nvPr/>
        </p:nvSpPr>
        <p:spPr>
          <a:xfrm>
            <a:off x="4023360" y="3090672"/>
            <a:ext cx="1188720" cy="402336"/>
          </a:xfrm>
          <a:prstGeom prst="rect">
            <a:avLst/>
          </a:prstGeom>
          <a:solidFill>
            <a:srgbClr val="FFFFFF"/>
          </a:solidFill>
          <a:ln w="12700">
            <a:solidFill>
              <a:srgbClr val="C5D5DE"/>
            </a:solidFill>
            <a:prstDash val="solid"/>
          </a:ln>
        </p:spPr>
      </p:sp>
      <p:sp>
        <p:nvSpPr>
          <p:cNvPr id="87" name="Text 85"/>
          <p:cNvSpPr/>
          <p:nvPr/>
        </p:nvSpPr>
        <p:spPr>
          <a:xfrm>
            <a:off x="4087368" y="3090672"/>
            <a:ext cx="107899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0.002 ★★</a:t>
            </a:r>
            <a:endParaRPr lang="en-US" sz="1050" dirty="0"/>
          </a:p>
        </p:txBody>
      </p:sp>
      <p:sp>
        <p:nvSpPr>
          <p:cNvPr id="88" name="Shape 86"/>
          <p:cNvSpPr/>
          <p:nvPr/>
        </p:nvSpPr>
        <p:spPr>
          <a:xfrm>
            <a:off x="5212080" y="3090672"/>
            <a:ext cx="685800" cy="402336"/>
          </a:xfrm>
          <a:prstGeom prst="rect">
            <a:avLst/>
          </a:prstGeom>
          <a:solidFill>
            <a:srgbClr val="FFFFFF"/>
          </a:solidFill>
          <a:ln w="12700">
            <a:solidFill>
              <a:srgbClr val="C5D5DE"/>
            </a:solidFill>
            <a:prstDash val="solid"/>
          </a:ln>
        </p:spPr>
      </p:sp>
      <p:sp>
        <p:nvSpPr>
          <p:cNvPr id="89" name="Text 87"/>
          <p:cNvSpPr/>
          <p:nvPr/>
        </p:nvSpPr>
        <p:spPr>
          <a:xfrm>
            <a:off x="5276088" y="3090672"/>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0.612</a:t>
            </a:r>
            <a:endParaRPr lang="en-US" sz="1050" dirty="0"/>
          </a:p>
        </p:txBody>
      </p:sp>
      <p:sp>
        <p:nvSpPr>
          <p:cNvPr id="90" name="Shape 88"/>
          <p:cNvSpPr/>
          <p:nvPr/>
        </p:nvSpPr>
        <p:spPr>
          <a:xfrm>
            <a:off x="5897880" y="3090672"/>
            <a:ext cx="2743200" cy="402336"/>
          </a:xfrm>
          <a:prstGeom prst="rect">
            <a:avLst/>
          </a:prstGeom>
          <a:solidFill>
            <a:srgbClr val="FFFFFF"/>
          </a:solidFill>
          <a:ln w="12700">
            <a:solidFill>
              <a:srgbClr val="C5D5DE"/>
            </a:solidFill>
            <a:prstDash val="solid"/>
          </a:ln>
        </p:spPr>
      </p:sp>
      <p:sp>
        <p:nvSpPr>
          <p:cNvPr id="91" name="Text 89"/>
          <p:cNvSpPr/>
          <p:nvPr/>
        </p:nvSpPr>
        <p:spPr>
          <a:xfrm>
            <a:off x="5961888" y="3090672"/>
            <a:ext cx="26334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Stage IV = over 10× the risk of Stage 0</a:t>
            </a:r>
            <a:endParaRPr lang="en-US" sz="1050" dirty="0"/>
          </a:p>
        </p:txBody>
      </p:sp>
      <p:sp>
        <p:nvSpPr>
          <p:cNvPr id="92" name="Shape 90"/>
          <p:cNvSpPr/>
          <p:nvPr/>
        </p:nvSpPr>
        <p:spPr>
          <a:xfrm>
            <a:off x="228600" y="3493008"/>
            <a:ext cx="1920240" cy="402336"/>
          </a:xfrm>
          <a:prstGeom prst="rect">
            <a:avLst/>
          </a:prstGeom>
          <a:solidFill>
            <a:srgbClr val="EDF4F6"/>
          </a:solidFill>
          <a:ln w="12700">
            <a:solidFill>
              <a:srgbClr val="C5D5DE"/>
            </a:solidFill>
            <a:prstDash val="solid"/>
          </a:ln>
        </p:spPr>
      </p:sp>
      <p:sp>
        <p:nvSpPr>
          <p:cNvPr id="93" name="Text 91"/>
          <p:cNvSpPr/>
          <p:nvPr/>
        </p:nvSpPr>
        <p:spPr>
          <a:xfrm>
            <a:off x="292608" y="3493008"/>
            <a:ext cx="181051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Histologic Grade 3 (vs 1)</a:t>
            </a:r>
            <a:endParaRPr lang="en-US" sz="1050" dirty="0"/>
          </a:p>
        </p:txBody>
      </p:sp>
      <p:sp>
        <p:nvSpPr>
          <p:cNvPr id="94" name="Shape 92"/>
          <p:cNvSpPr/>
          <p:nvPr/>
        </p:nvSpPr>
        <p:spPr>
          <a:xfrm>
            <a:off x="2148840" y="3493008"/>
            <a:ext cx="502920" cy="402336"/>
          </a:xfrm>
          <a:prstGeom prst="rect">
            <a:avLst/>
          </a:prstGeom>
          <a:solidFill>
            <a:srgbClr val="EDF4F6"/>
          </a:solidFill>
          <a:ln w="12700">
            <a:solidFill>
              <a:srgbClr val="C5D5DE"/>
            </a:solidFill>
            <a:prstDash val="solid"/>
          </a:ln>
        </p:spPr>
      </p:sp>
      <p:sp>
        <p:nvSpPr>
          <p:cNvPr id="95" name="Text 93"/>
          <p:cNvSpPr/>
          <p:nvPr/>
        </p:nvSpPr>
        <p:spPr>
          <a:xfrm>
            <a:off x="2212848" y="3493008"/>
            <a:ext cx="393192" cy="402336"/>
          </a:xfrm>
          <a:prstGeom prst="rect">
            <a:avLst/>
          </a:prstGeom>
          <a:noFill/>
          <a:ln/>
        </p:spPr>
        <p:txBody>
          <a:bodyPr wrap="square" rtlCol="0" anchor="ctr"/>
          <a:lstStyle/>
          <a:p>
            <a:pPr marL="0" indent="0">
              <a:buNone/>
            </a:pPr>
            <a:r>
              <a:rPr lang="en-US" sz="1050" b="1" dirty="0">
                <a:solidFill>
                  <a:srgbClr val="B5304B"/>
                </a:solidFill>
                <a:latin typeface="Calibri" pitchFamily="34" charset="0"/>
                <a:ea typeface="Calibri" pitchFamily="34" charset="-122"/>
                <a:cs typeface="Calibri" pitchFamily="34" charset="-120"/>
              </a:rPr>
              <a:t>1.644</a:t>
            </a:r>
            <a:endParaRPr lang="en-US" sz="1050" dirty="0"/>
          </a:p>
        </p:txBody>
      </p:sp>
      <p:sp>
        <p:nvSpPr>
          <p:cNvPr id="96" name="Shape 94"/>
          <p:cNvSpPr/>
          <p:nvPr/>
        </p:nvSpPr>
        <p:spPr>
          <a:xfrm>
            <a:off x="2651760" y="3493008"/>
            <a:ext cx="685800" cy="402336"/>
          </a:xfrm>
          <a:prstGeom prst="rect">
            <a:avLst/>
          </a:prstGeom>
          <a:solidFill>
            <a:srgbClr val="EDF4F6"/>
          </a:solidFill>
          <a:ln w="12700">
            <a:solidFill>
              <a:srgbClr val="C5D5DE"/>
            </a:solidFill>
            <a:prstDash val="solid"/>
          </a:ln>
        </p:spPr>
      </p:sp>
      <p:sp>
        <p:nvSpPr>
          <p:cNvPr id="97" name="Text 95"/>
          <p:cNvSpPr/>
          <p:nvPr/>
        </p:nvSpPr>
        <p:spPr>
          <a:xfrm>
            <a:off x="2715768" y="3493008"/>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1.294</a:t>
            </a:r>
            <a:endParaRPr lang="en-US" sz="1050" dirty="0"/>
          </a:p>
        </p:txBody>
      </p:sp>
      <p:sp>
        <p:nvSpPr>
          <p:cNvPr id="98" name="Shape 96"/>
          <p:cNvSpPr/>
          <p:nvPr/>
        </p:nvSpPr>
        <p:spPr>
          <a:xfrm>
            <a:off x="3337560" y="3493008"/>
            <a:ext cx="685800" cy="402336"/>
          </a:xfrm>
          <a:prstGeom prst="rect">
            <a:avLst/>
          </a:prstGeom>
          <a:solidFill>
            <a:srgbClr val="EDF4F6"/>
          </a:solidFill>
          <a:ln w="12700">
            <a:solidFill>
              <a:srgbClr val="C5D5DE"/>
            </a:solidFill>
            <a:prstDash val="solid"/>
          </a:ln>
        </p:spPr>
      </p:sp>
      <p:sp>
        <p:nvSpPr>
          <p:cNvPr id="99" name="Text 97"/>
          <p:cNvSpPr/>
          <p:nvPr/>
        </p:nvSpPr>
        <p:spPr>
          <a:xfrm>
            <a:off x="3401568" y="3493008"/>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2.089</a:t>
            </a:r>
            <a:endParaRPr lang="en-US" sz="1050" dirty="0"/>
          </a:p>
        </p:txBody>
      </p:sp>
      <p:sp>
        <p:nvSpPr>
          <p:cNvPr id="100" name="Shape 98"/>
          <p:cNvSpPr/>
          <p:nvPr/>
        </p:nvSpPr>
        <p:spPr>
          <a:xfrm>
            <a:off x="4023360" y="3493008"/>
            <a:ext cx="1188720" cy="402336"/>
          </a:xfrm>
          <a:prstGeom prst="rect">
            <a:avLst/>
          </a:prstGeom>
          <a:solidFill>
            <a:srgbClr val="EDF4F6"/>
          </a:solidFill>
          <a:ln w="12700">
            <a:solidFill>
              <a:srgbClr val="C5D5DE"/>
            </a:solidFill>
            <a:prstDash val="solid"/>
          </a:ln>
        </p:spPr>
      </p:sp>
      <p:sp>
        <p:nvSpPr>
          <p:cNvPr id="101" name="Text 99"/>
          <p:cNvSpPr/>
          <p:nvPr/>
        </p:nvSpPr>
        <p:spPr>
          <a:xfrm>
            <a:off x="4087368" y="3493008"/>
            <a:ext cx="1078992" cy="402336"/>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&lt;0.0001 ★★★</a:t>
            </a:r>
            <a:endParaRPr lang="en-US" sz="1050" dirty="0"/>
          </a:p>
        </p:txBody>
      </p:sp>
      <p:sp>
        <p:nvSpPr>
          <p:cNvPr id="102" name="Shape 100"/>
          <p:cNvSpPr/>
          <p:nvPr/>
        </p:nvSpPr>
        <p:spPr>
          <a:xfrm>
            <a:off x="5212080" y="3493008"/>
            <a:ext cx="685800" cy="402336"/>
          </a:xfrm>
          <a:prstGeom prst="rect">
            <a:avLst/>
          </a:prstGeom>
          <a:solidFill>
            <a:srgbClr val="EDF4F6"/>
          </a:solidFill>
          <a:ln w="12700">
            <a:solidFill>
              <a:srgbClr val="C5D5DE"/>
            </a:solidFill>
            <a:prstDash val="solid"/>
          </a:ln>
        </p:spPr>
      </p:sp>
      <p:sp>
        <p:nvSpPr>
          <p:cNvPr id="103" name="Text 101"/>
          <p:cNvSpPr/>
          <p:nvPr/>
        </p:nvSpPr>
        <p:spPr>
          <a:xfrm>
            <a:off x="5276088" y="3493008"/>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0.566</a:t>
            </a:r>
            <a:endParaRPr lang="en-US" sz="1050" dirty="0"/>
          </a:p>
        </p:txBody>
      </p:sp>
      <p:sp>
        <p:nvSpPr>
          <p:cNvPr id="104" name="Shape 102"/>
          <p:cNvSpPr/>
          <p:nvPr/>
        </p:nvSpPr>
        <p:spPr>
          <a:xfrm>
            <a:off x="5897880" y="3493008"/>
            <a:ext cx="2743200" cy="402336"/>
          </a:xfrm>
          <a:prstGeom prst="rect">
            <a:avLst/>
          </a:prstGeom>
          <a:solidFill>
            <a:srgbClr val="EDF4F6"/>
          </a:solidFill>
          <a:ln w="12700">
            <a:solidFill>
              <a:srgbClr val="C5D5DE"/>
            </a:solidFill>
            <a:prstDash val="solid"/>
          </a:ln>
        </p:spPr>
      </p:sp>
      <p:sp>
        <p:nvSpPr>
          <p:cNvPr id="105" name="Text 103"/>
          <p:cNvSpPr/>
          <p:nvPr/>
        </p:nvSpPr>
        <p:spPr>
          <a:xfrm>
            <a:off x="5961888" y="3493008"/>
            <a:ext cx="26334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Grade 3 tumors: 64% higher risk vs Grade 1</a:t>
            </a:r>
            <a:endParaRPr lang="en-US" sz="1050" dirty="0"/>
          </a:p>
        </p:txBody>
      </p:sp>
      <p:sp>
        <p:nvSpPr>
          <p:cNvPr id="106" name="Shape 104"/>
          <p:cNvSpPr/>
          <p:nvPr/>
        </p:nvSpPr>
        <p:spPr>
          <a:xfrm>
            <a:off x="228600" y="3895344"/>
            <a:ext cx="1920240" cy="402336"/>
          </a:xfrm>
          <a:prstGeom prst="rect">
            <a:avLst/>
          </a:prstGeom>
          <a:solidFill>
            <a:srgbClr val="FFFFFF"/>
          </a:solidFill>
          <a:ln w="12700">
            <a:solidFill>
              <a:srgbClr val="C5D5DE"/>
            </a:solidFill>
            <a:prstDash val="solid"/>
          </a:ln>
        </p:spPr>
      </p:sp>
      <p:sp>
        <p:nvSpPr>
          <p:cNvPr id="107" name="Text 105"/>
          <p:cNvSpPr/>
          <p:nvPr/>
        </p:nvSpPr>
        <p:spPr>
          <a:xfrm>
            <a:off x="292608" y="3895344"/>
            <a:ext cx="181051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Chemotherapy Yes (vs No)</a:t>
            </a:r>
            <a:endParaRPr lang="en-US" sz="1050" dirty="0"/>
          </a:p>
        </p:txBody>
      </p:sp>
      <p:sp>
        <p:nvSpPr>
          <p:cNvPr id="108" name="Shape 106"/>
          <p:cNvSpPr/>
          <p:nvPr/>
        </p:nvSpPr>
        <p:spPr>
          <a:xfrm>
            <a:off x="2148840" y="3895344"/>
            <a:ext cx="502920" cy="402336"/>
          </a:xfrm>
          <a:prstGeom prst="rect">
            <a:avLst/>
          </a:prstGeom>
          <a:solidFill>
            <a:srgbClr val="FFFFFF"/>
          </a:solidFill>
          <a:ln w="12700">
            <a:solidFill>
              <a:srgbClr val="C5D5DE"/>
            </a:solidFill>
            <a:prstDash val="solid"/>
          </a:ln>
        </p:spPr>
      </p:sp>
      <p:sp>
        <p:nvSpPr>
          <p:cNvPr id="109" name="Text 107"/>
          <p:cNvSpPr/>
          <p:nvPr/>
        </p:nvSpPr>
        <p:spPr>
          <a:xfrm>
            <a:off x="2212848" y="3895344"/>
            <a:ext cx="393192" cy="402336"/>
          </a:xfrm>
          <a:prstGeom prst="rect">
            <a:avLst/>
          </a:prstGeom>
          <a:noFill/>
          <a:ln/>
        </p:spPr>
        <p:txBody>
          <a:bodyPr wrap="square" rtlCol="0" anchor="ctr"/>
          <a:lstStyle/>
          <a:p>
            <a:pPr marL="0" indent="0">
              <a:buNone/>
            </a:pPr>
            <a:r>
              <a:rPr lang="en-US" sz="1050" b="1" dirty="0">
                <a:solidFill>
                  <a:srgbClr val="B5304B"/>
                </a:solidFill>
                <a:latin typeface="Calibri" pitchFamily="34" charset="0"/>
                <a:ea typeface="Calibri" pitchFamily="34" charset="-122"/>
                <a:cs typeface="Calibri" pitchFamily="34" charset="-120"/>
              </a:rPr>
              <a:t>1.263</a:t>
            </a:r>
            <a:endParaRPr lang="en-US" sz="1050" dirty="0"/>
          </a:p>
        </p:txBody>
      </p:sp>
      <p:sp>
        <p:nvSpPr>
          <p:cNvPr id="110" name="Shape 108"/>
          <p:cNvSpPr/>
          <p:nvPr/>
        </p:nvSpPr>
        <p:spPr>
          <a:xfrm>
            <a:off x="2651760" y="3895344"/>
            <a:ext cx="685800" cy="402336"/>
          </a:xfrm>
          <a:prstGeom prst="rect">
            <a:avLst/>
          </a:prstGeom>
          <a:solidFill>
            <a:srgbClr val="FFFFFF"/>
          </a:solidFill>
          <a:ln w="12700">
            <a:solidFill>
              <a:srgbClr val="C5D5DE"/>
            </a:solidFill>
            <a:prstDash val="solid"/>
          </a:ln>
        </p:spPr>
      </p:sp>
      <p:sp>
        <p:nvSpPr>
          <p:cNvPr id="111" name="Text 109"/>
          <p:cNvSpPr/>
          <p:nvPr/>
        </p:nvSpPr>
        <p:spPr>
          <a:xfrm>
            <a:off x="2715768" y="3895344"/>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1.090</a:t>
            </a:r>
            <a:endParaRPr lang="en-US" sz="1050" dirty="0"/>
          </a:p>
        </p:txBody>
      </p:sp>
      <p:sp>
        <p:nvSpPr>
          <p:cNvPr id="112" name="Shape 110"/>
          <p:cNvSpPr/>
          <p:nvPr/>
        </p:nvSpPr>
        <p:spPr>
          <a:xfrm>
            <a:off x="3337560" y="3895344"/>
            <a:ext cx="685800" cy="402336"/>
          </a:xfrm>
          <a:prstGeom prst="rect">
            <a:avLst/>
          </a:prstGeom>
          <a:solidFill>
            <a:srgbClr val="FFFFFF"/>
          </a:solidFill>
          <a:ln w="12700">
            <a:solidFill>
              <a:srgbClr val="C5D5DE"/>
            </a:solidFill>
            <a:prstDash val="solid"/>
          </a:ln>
        </p:spPr>
      </p:sp>
      <p:sp>
        <p:nvSpPr>
          <p:cNvPr id="113" name="Text 111"/>
          <p:cNvSpPr/>
          <p:nvPr/>
        </p:nvSpPr>
        <p:spPr>
          <a:xfrm>
            <a:off x="3401568" y="3895344"/>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1.462</a:t>
            </a:r>
            <a:endParaRPr lang="en-US" sz="1050" dirty="0"/>
          </a:p>
        </p:txBody>
      </p:sp>
      <p:sp>
        <p:nvSpPr>
          <p:cNvPr id="114" name="Shape 112"/>
          <p:cNvSpPr/>
          <p:nvPr/>
        </p:nvSpPr>
        <p:spPr>
          <a:xfrm>
            <a:off x="4023360" y="3895344"/>
            <a:ext cx="1188720" cy="402336"/>
          </a:xfrm>
          <a:prstGeom prst="rect">
            <a:avLst/>
          </a:prstGeom>
          <a:solidFill>
            <a:srgbClr val="FFFFFF"/>
          </a:solidFill>
          <a:ln w="12700">
            <a:solidFill>
              <a:srgbClr val="C5D5DE"/>
            </a:solidFill>
            <a:prstDash val="solid"/>
          </a:ln>
        </p:spPr>
      </p:sp>
      <p:sp>
        <p:nvSpPr>
          <p:cNvPr id="115" name="Text 113"/>
          <p:cNvSpPr/>
          <p:nvPr/>
        </p:nvSpPr>
        <p:spPr>
          <a:xfrm>
            <a:off x="4087368" y="3895344"/>
            <a:ext cx="107899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0.002 ★★</a:t>
            </a:r>
            <a:endParaRPr lang="en-US" sz="1050" dirty="0"/>
          </a:p>
        </p:txBody>
      </p:sp>
      <p:sp>
        <p:nvSpPr>
          <p:cNvPr id="116" name="Shape 114"/>
          <p:cNvSpPr/>
          <p:nvPr/>
        </p:nvSpPr>
        <p:spPr>
          <a:xfrm>
            <a:off x="5212080" y="3895344"/>
            <a:ext cx="685800" cy="402336"/>
          </a:xfrm>
          <a:prstGeom prst="rect">
            <a:avLst/>
          </a:prstGeom>
          <a:solidFill>
            <a:srgbClr val="FFFFFF"/>
          </a:solidFill>
          <a:ln w="12700">
            <a:solidFill>
              <a:srgbClr val="C5D5DE"/>
            </a:solidFill>
            <a:prstDash val="solid"/>
          </a:ln>
        </p:spPr>
      </p:sp>
      <p:sp>
        <p:nvSpPr>
          <p:cNvPr id="117" name="Text 115"/>
          <p:cNvSpPr/>
          <p:nvPr/>
        </p:nvSpPr>
        <p:spPr>
          <a:xfrm>
            <a:off x="5276088" y="3895344"/>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0.539</a:t>
            </a:r>
            <a:endParaRPr lang="en-US" sz="1050" dirty="0"/>
          </a:p>
        </p:txBody>
      </p:sp>
      <p:sp>
        <p:nvSpPr>
          <p:cNvPr id="118" name="Shape 116"/>
          <p:cNvSpPr/>
          <p:nvPr/>
        </p:nvSpPr>
        <p:spPr>
          <a:xfrm>
            <a:off x="5897880" y="3895344"/>
            <a:ext cx="2743200" cy="402336"/>
          </a:xfrm>
          <a:prstGeom prst="rect">
            <a:avLst/>
          </a:prstGeom>
          <a:solidFill>
            <a:srgbClr val="FFFFFF"/>
          </a:solidFill>
          <a:ln w="12700">
            <a:solidFill>
              <a:srgbClr val="C5D5DE"/>
            </a:solidFill>
            <a:prstDash val="solid"/>
          </a:ln>
        </p:spPr>
      </p:sp>
      <p:sp>
        <p:nvSpPr>
          <p:cNvPr id="119" name="Text 117"/>
          <p:cNvSpPr/>
          <p:nvPr/>
        </p:nvSpPr>
        <p:spPr>
          <a:xfrm>
            <a:off x="5961888" y="3895344"/>
            <a:ext cx="26334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Higher risk — but selection bias applies</a:t>
            </a:r>
            <a:endParaRPr lang="en-US" sz="1050" dirty="0"/>
          </a:p>
        </p:txBody>
      </p:sp>
      <p:sp>
        <p:nvSpPr>
          <p:cNvPr id="120" name="Shape 118"/>
          <p:cNvSpPr/>
          <p:nvPr/>
        </p:nvSpPr>
        <p:spPr>
          <a:xfrm>
            <a:off x="228600" y="4297680"/>
            <a:ext cx="1920240" cy="402336"/>
          </a:xfrm>
          <a:prstGeom prst="rect">
            <a:avLst/>
          </a:prstGeom>
          <a:solidFill>
            <a:srgbClr val="EDF4F6"/>
          </a:solidFill>
          <a:ln w="12700">
            <a:solidFill>
              <a:srgbClr val="C5D5DE"/>
            </a:solidFill>
            <a:prstDash val="solid"/>
          </a:ln>
        </p:spPr>
      </p:sp>
      <p:sp>
        <p:nvSpPr>
          <p:cNvPr id="121" name="Text 119"/>
          <p:cNvSpPr/>
          <p:nvPr/>
        </p:nvSpPr>
        <p:spPr>
          <a:xfrm>
            <a:off x="292608" y="4297680"/>
            <a:ext cx="181051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Hormone Therapy Yes (vs No)</a:t>
            </a:r>
            <a:endParaRPr lang="en-US" sz="1050" dirty="0"/>
          </a:p>
        </p:txBody>
      </p:sp>
      <p:sp>
        <p:nvSpPr>
          <p:cNvPr id="122" name="Shape 120"/>
          <p:cNvSpPr/>
          <p:nvPr/>
        </p:nvSpPr>
        <p:spPr>
          <a:xfrm>
            <a:off x="2148840" y="4297680"/>
            <a:ext cx="502920" cy="402336"/>
          </a:xfrm>
          <a:prstGeom prst="rect">
            <a:avLst/>
          </a:prstGeom>
          <a:solidFill>
            <a:srgbClr val="EDF4F6"/>
          </a:solidFill>
          <a:ln w="12700">
            <a:solidFill>
              <a:srgbClr val="C5D5DE"/>
            </a:solidFill>
            <a:prstDash val="solid"/>
          </a:ln>
        </p:spPr>
      </p:sp>
      <p:sp>
        <p:nvSpPr>
          <p:cNvPr id="123" name="Text 121"/>
          <p:cNvSpPr/>
          <p:nvPr/>
        </p:nvSpPr>
        <p:spPr>
          <a:xfrm>
            <a:off x="2212848" y="4297680"/>
            <a:ext cx="393192" cy="402336"/>
          </a:xfrm>
          <a:prstGeom prst="rect">
            <a:avLst/>
          </a:prstGeom>
          <a:noFill/>
          <a:ln/>
        </p:spPr>
        <p:txBody>
          <a:bodyPr wrap="square" rtlCol="0" anchor="ctr"/>
          <a:lstStyle/>
          <a:p>
            <a:pPr marL="0" indent="0">
              <a:buNone/>
            </a:pPr>
            <a:r>
              <a:rPr lang="en-US" sz="1050" b="1" dirty="0">
                <a:solidFill>
                  <a:srgbClr val="B5304B"/>
                </a:solidFill>
                <a:latin typeface="Calibri" pitchFamily="34" charset="0"/>
                <a:ea typeface="Calibri" pitchFamily="34" charset="-122"/>
                <a:cs typeface="Calibri" pitchFamily="34" charset="-120"/>
              </a:rPr>
              <a:t>1.266</a:t>
            </a:r>
            <a:endParaRPr lang="en-US" sz="1050" dirty="0"/>
          </a:p>
        </p:txBody>
      </p:sp>
      <p:sp>
        <p:nvSpPr>
          <p:cNvPr id="124" name="Shape 122"/>
          <p:cNvSpPr/>
          <p:nvPr/>
        </p:nvSpPr>
        <p:spPr>
          <a:xfrm>
            <a:off x="2651760" y="4297680"/>
            <a:ext cx="685800" cy="402336"/>
          </a:xfrm>
          <a:prstGeom prst="rect">
            <a:avLst/>
          </a:prstGeom>
          <a:solidFill>
            <a:srgbClr val="EDF4F6"/>
          </a:solidFill>
          <a:ln w="12700">
            <a:solidFill>
              <a:srgbClr val="C5D5DE"/>
            </a:solidFill>
            <a:prstDash val="solid"/>
          </a:ln>
        </p:spPr>
      </p:sp>
      <p:sp>
        <p:nvSpPr>
          <p:cNvPr id="125" name="Text 123"/>
          <p:cNvSpPr/>
          <p:nvPr/>
        </p:nvSpPr>
        <p:spPr>
          <a:xfrm>
            <a:off x="2715768" y="4297680"/>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1.121</a:t>
            </a:r>
            <a:endParaRPr lang="en-US" sz="1050" dirty="0"/>
          </a:p>
        </p:txBody>
      </p:sp>
      <p:sp>
        <p:nvSpPr>
          <p:cNvPr id="126" name="Shape 124"/>
          <p:cNvSpPr/>
          <p:nvPr/>
        </p:nvSpPr>
        <p:spPr>
          <a:xfrm>
            <a:off x="3337560" y="4297680"/>
            <a:ext cx="685800" cy="402336"/>
          </a:xfrm>
          <a:prstGeom prst="rect">
            <a:avLst/>
          </a:prstGeom>
          <a:solidFill>
            <a:srgbClr val="EDF4F6"/>
          </a:solidFill>
          <a:ln w="12700">
            <a:solidFill>
              <a:srgbClr val="C5D5DE"/>
            </a:solidFill>
            <a:prstDash val="solid"/>
          </a:ln>
        </p:spPr>
      </p:sp>
      <p:sp>
        <p:nvSpPr>
          <p:cNvPr id="127" name="Text 125"/>
          <p:cNvSpPr/>
          <p:nvPr/>
        </p:nvSpPr>
        <p:spPr>
          <a:xfrm>
            <a:off x="3401568" y="4297680"/>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1.430</a:t>
            </a:r>
            <a:endParaRPr lang="en-US" sz="1050" dirty="0"/>
          </a:p>
        </p:txBody>
      </p:sp>
      <p:sp>
        <p:nvSpPr>
          <p:cNvPr id="128" name="Shape 126"/>
          <p:cNvSpPr/>
          <p:nvPr/>
        </p:nvSpPr>
        <p:spPr>
          <a:xfrm>
            <a:off x="4023360" y="4297680"/>
            <a:ext cx="1188720" cy="402336"/>
          </a:xfrm>
          <a:prstGeom prst="rect">
            <a:avLst/>
          </a:prstGeom>
          <a:solidFill>
            <a:srgbClr val="EDF4F6"/>
          </a:solidFill>
          <a:ln w="12700">
            <a:solidFill>
              <a:srgbClr val="C5D5DE"/>
            </a:solidFill>
            <a:prstDash val="solid"/>
          </a:ln>
        </p:spPr>
      </p:sp>
      <p:sp>
        <p:nvSpPr>
          <p:cNvPr id="129" name="Text 127"/>
          <p:cNvSpPr/>
          <p:nvPr/>
        </p:nvSpPr>
        <p:spPr>
          <a:xfrm>
            <a:off x="4087368" y="4297680"/>
            <a:ext cx="1078992" cy="402336"/>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0.0001 ★★★</a:t>
            </a:r>
            <a:endParaRPr lang="en-US" sz="1050" dirty="0"/>
          </a:p>
        </p:txBody>
      </p:sp>
      <p:sp>
        <p:nvSpPr>
          <p:cNvPr id="130" name="Shape 128"/>
          <p:cNvSpPr/>
          <p:nvPr/>
        </p:nvSpPr>
        <p:spPr>
          <a:xfrm>
            <a:off x="5212080" y="4297680"/>
            <a:ext cx="685800" cy="402336"/>
          </a:xfrm>
          <a:prstGeom prst="rect">
            <a:avLst/>
          </a:prstGeom>
          <a:solidFill>
            <a:srgbClr val="EDF4F6"/>
          </a:solidFill>
          <a:ln w="12700">
            <a:solidFill>
              <a:srgbClr val="C5D5DE"/>
            </a:solidFill>
            <a:prstDash val="solid"/>
          </a:ln>
        </p:spPr>
      </p:sp>
      <p:sp>
        <p:nvSpPr>
          <p:cNvPr id="131" name="Text 129"/>
          <p:cNvSpPr/>
          <p:nvPr/>
        </p:nvSpPr>
        <p:spPr>
          <a:xfrm>
            <a:off x="5276088" y="4297680"/>
            <a:ext cx="5760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0.506</a:t>
            </a:r>
            <a:endParaRPr lang="en-US" sz="1050" dirty="0"/>
          </a:p>
        </p:txBody>
      </p:sp>
      <p:sp>
        <p:nvSpPr>
          <p:cNvPr id="132" name="Shape 130"/>
          <p:cNvSpPr/>
          <p:nvPr/>
        </p:nvSpPr>
        <p:spPr>
          <a:xfrm>
            <a:off x="5897880" y="4297680"/>
            <a:ext cx="2743200" cy="402336"/>
          </a:xfrm>
          <a:prstGeom prst="rect">
            <a:avLst/>
          </a:prstGeom>
          <a:solidFill>
            <a:srgbClr val="EDF4F6"/>
          </a:solidFill>
          <a:ln w="12700">
            <a:solidFill>
              <a:srgbClr val="C5D5DE"/>
            </a:solidFill>
            <a:prstDash val="solid"/>
          </a:ln>
        </p:spPr>
      </p:sp>
      <p:sp>
        <p:nvSpPr>
          <p:cNvPr id="133" name="Text 131"/>
          <p:cNvSpPr/>
          <p:nvPr/>
        </p:nvSpPr>
        <p:spPr>
          <a:xfrm>
            <a:off x="5961888" y="4297680"/>
            <a:ext cx="2633472" cy="402336"/>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Higher risk — selection bias applies</a:t>
            </a:r>
            <a:endParaRPr lang="en-US" sz="105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E4A"/>
          </a:solidFill>
          <a:ln w="12700">
            <a:solidFill>
              <a:srgbClr val="1A2E4A"/>
            </a:solidFill>
            <a:prstDash val="solid"/>
          </a:ln>
        </p:spPr>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Univariable Cox Regression — Protective Factors</a:t>
            </a:r>
            <a:endParaRPr lang="en-US" sz="1600" dirty="0"/>
          </a:p>
        </p:txBody>
      </p:sp>
      <p:sp>
        <p:nvSpPr>
          <p:cNvPr id="4" name="Shape 2"/>
          <p:cNvSpPr/>
          <p:nvPr/>
        </p:nvSpPr>
        <p:spPr>
          <a:xfrm>
            <a:off x="0" y="502920"/>
            <a:ext cx="9144000" cy="36576"/>
          </a:xfrm>
          <a:prstGeom prst="rect">
            <a:avLst/>
          </a:prstGeom>
          <a:solidFill>
            <a:srgbClr val="1B7A8A"/>
          </a:solidFill>
          <a:ln w="12700">
            <a:solidFill>
              <a:srgbClr val="1B7A8A"/>
            </a:solidFill>
            <a:prstDash val="solid"/>
          </a:ln>
        </p:spPr>
      </p:sp>
      <p:sp>
        <p:nvSpPr>
          <p:cNvPr id="5" name="Shape 3"/>
          <p:cNvSpPr/>
          <p:nvPr/>
        </p:nvSpPr>
        <p:spPr>
          <a:xfrm>
            <a:off x="0" y="5093208"/>
            <a:ext cx="9144000" cy="50292"/>
          </a:xfrm>
          <a:prstGeom prst="rect">
            <a:avLst/>
          </a:prstGeom>
          <a:solidFill>
            <a:srgbClr val="1B7A8A"/>
          </a:solidFill>
          <a:ln w="12700">
            <a:solidFill>
              <a:srgbClr val="1B7A8A"/>
            </a:solidFill>
            <a:prstDash val="solid"/>
          </a:ln>
        </p:spPr>
      </p:sp>
      <p:sp>
        <p:nvSpPr>
          <p:cNvPr id="6" name="Text 4"/>
          <p:cNvSpPr/>
          <p:nvPr/>
        </p:nvSpPr>
        <p:spPr>
          <a:xfrm>
            <a:off x="246888" y="534924"/>
            <a:ext cx="8229600" cy="320040"/>
          </a:xfrm>
          <a:prstGeom prst="rect">
            <a:avLst/>
          </a:prstGeom>
          <a:noFill/>
          <a:ln/>
        </p:spPr>
        <p:txBody>
          <a:bodyPr wrap="square" rtlCol="0" anchor="ctr"/>
          <a:lstStyle/>
          <a:p>
            <a:pPr marL="0" indent="0">
              <a:buNone/>
            </a:pPr>
            <a:r>
              <a:rPr lang="en-US" sz="1200" i="1" dirty="0">
                <a:solidFill>
                  <a:srgbClr val="5A6A7A"/>
                </a:solidFill>
                <a:latin typeface="Calibri" pitchFamily="34" charset="0"/>
                <a:ea typeface="Calibri" pitchFamily="34" charset="-122"/>
                <a:cs typeface="Calibri" pitchFamily="34" charset="-120"/>
              </a:rPr>
              <a:t>Variables Associated with Reduced Mortality Risk (HR &lt; 1)</a:t>
            </a:r>
            <a:endParaRPr lang="en-US" sz="1200" dirty="0"/>
          </a:p>
        </p:txBody>
      </p:sp>
      <p:sp>
        <p:nvSpPr>
          <p:cNvPr id="7" name="Text 5"/>
          <p:cNvSpPr/>
          <p:nvPr/>
        </p:nvSpPr>
        <p:spPr>
          <a:xfrm>
            <a:off x="274320" y="658368"/>
            <a:ext cx="8595360" cy="347472"/>
          </a:xfrm>
          <a:prstGeom prst="rect">
            <a:avLst/>
          </a:prstGeom>
          <a:noFill/>
          <a:ln/>
        </p:spPr>
        <p:txBody>
          <a:bodyPr wrap="square" rtlCol="0" anchor="ctr"/>
          <a:lstStyle/>
          <a:p>
            <a:pPr marL="0" indent="0">
              <a:buNone/>
            </a:pPr>
            <a:r>
              <a:rPr lang="en-US" sz="1200" b="1" dirty="0">
                <a:solidFill>
                  <a:srgbClr val="1A2E4A"/>
                </a:solidFill>
                <a:latin typeface="Calibri" pitchFamily="34" charset="0"/>
                <a:ea typeface="Calibri" pitchFamily="34" charset="-122"/>
                <a:cs typeface="Calibri" pitchFamily="34" charset="-120"/>
              </a:rPr>
              <a:t>These factors DECREASE the risk of death (Hazard Ratio &lt; 1.0):</a:t>
            </a:r>
            <a:endParaRPr lang="en-US" sz="1200" dirty="0"/>
          </a:p>
        </p:txBody>
      </p:sp>
      <p:sp>
        <p:nvSpPr>
          <p:cNvPr id="8" name="Shape 6"/>
          <p:cNvSpPr/>
          <p:nvPr/>
        </p:nvSpPr>
        <p:spPr>
          <a:xfrm>
            <a:off x="228600" y="1078992"/>
            <a:ext cx="2103120" cy="502920"/>
          </a:xfrm>
          <a:prstGeom prst="rect">
            <a:avLst/>
          </a:prstGeom>
          <a:solidFill>
            <a:srgbClr val="1A2E4A"/>
          </a:solidFill>
          <a:ln w="12700">
            <a:solidFill>
              <a:srgbClr val="C5D5DE"/>
            </a:solidFill>
            <a:prstDash val="solid"/>
          </a:ln>
        </p:spPr>
      </p:sp>
      <p:sp>
        <p:nvSpPr>
          <p:cNvPr id="9" name="Text 7"/>
          <p:cNvSpPr/>
          <p:nvPr/>
        </p:nvSpPr>
        <p:spPr>
          <a:xfrm>
            <a:off x="292608" y="1078992"/>
            <a:ext cx="1993392" cy="5029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p>
        </p:txBody>
      </p:sp>
      <p:sp>
        <p:nvSpPr>
          <p:cNvPr id="10" name="Shape 8"/>
          <p:cNvSpPr/>
          <p:nvPr/>
        </p:nvSpPr>
        <p:spPr>
          <a:xfrm>
            <a:off x="2331720" y="1078992"/>
            <a:ext cx="594360" cy="502920"/>
          </a:xfrm>
          <a:prstGeom prst="rect">
            <a:avLst/>
          </a:prstGeom>
          <a:solidFill>
            <a:srgbClr val="1A2E4A"/>
          </a:solidFill>
          <a:ln w="12700">
            <a:solidFill>
              <a:srgbClr val="C5D5DE"/>
            </a:solidFill>
            <a:prstDash val="solid"/>
          </a:ln>
        </p:spPr>
      </p:sp>
      <p:sp>
        <p:nvSpPr>
          <p:cNvPr id="11" name="Text 9"/>
          <p:cNvSpPr/>
          <p:nvPr/>
        </p:nvSpPr>
        <p:spPr>
          <a:xfrm>
            <a:off x="2395728" y="1078992"/>
            <a:ext cx="484632" cy="5029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HR</a:t>
            </a:r>
            <a:endParaRPr lang="en-US" sz="1100" dirty="0"/>
          </a:p>
        </p:txBody>
      </p:sp>
      <p:sp>
        <p:nvSpPr>
          <p:cNvPr id="12" name="Shape 10"/>
          <p:cNvSpPr/>
          <p:nvPr/>
        </p:nvSpPr>
        <p:spPr>
          <a:xfrm>
            <a:off x="2926080" y="1078992"/>
            <a:ext cx="1371600" cy="502920"/>
          </a:xfrm>
          <a:prstGeom prst="rect">
            <a:avLst/>
          </a:prstGeom>
          <a:solidFill>
            <a:srgbClr val="1A2E4A"/>
          </a:solidFill>
          <a:ln w="12700">
            <a:solidFill>
              <a:srgbClr val="C5D5DE"/>
            </a:solidFill>
            <a:prstDash val="solid"/>
          </a:ln>
        </p:spPr>
      </p:sp>
      <p:sp>
        <p:nvSpPr>
          <p:cNvPr id="13" name="Text 11"/>
          <p:cNvSpPr/>
          <p:nvPr/>
        </p:nvSpPr>
        <p:spPr>
          <a:xfrm>
            <a:off x="2990088" y="1078992"/>
            <a:ext cx="1261872" cy="5029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95% CI</a:t>
            </a:r>
            <a:endParaRPr lang="en-US" sz="1100" dirty="0"/>
          </a:p>
        </p:txBody>
      </p:sp>
      <p:sp>
        <p:nvSpPr>
          <p:cNvPr id="14" name="Shape 12"/>
          <p:cNvSpPr/>
          <p:nvPr/>
        </p:nvSpPr>
        <p:spPr>
          <a:xfrm>
            <a:off x="4297680" y="1078992"/>
            <a:ext cx="1188720" cy="502920"/>
          </a:xfrm>
          <a:prstGeom prst="rect">
            <a:avLst/>
          </a:prstGeom>
          <a:solidFill>
            <a:srgbClr val="1A2E4A"/>
          </a:solidFill>
          <a:ln w="12700">
            <a:solidFill>
              <a:srgbClr val="C5D5DE"/>
            </a:solidFill>
            <a:prstDash val="solid"/>
          </a:ln>
        </p:spPr>
      </p:sp>
      <p:sp>
        <p:nvSpPr>
          <p:cNvPr id="15" name="Text 13"/>
          <p:cNvSpPr/>
          <p:nvPr/>
        </p:nvSpPr>
        <p:spPr>
          <a:xfrm>
            <a:off x="4361688" y="1078992"/>
            <a:ext cx="1078992" cy="5029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p-value</a:t>
            </a:r>
            <a:endParaRPr lang="en-US" sz="1100" dirty="0"/>
          </a:p>
        </p:txBody>
      </p:sp>
      <p:sp>
        <p:nvSpPr>
          <p:cNvPr id="16" name="Shape 14"/>
          <p:cNvSpPr/>
          <p:nvPr/>
        </p:nvSpPr>
        <p:spPr>
          <a:xfrm>
            <a:off x="5486400" y="1078992"/>
            <a:ext cx="731520" cy="502920"/>
          </a:xfrm>
          <a:prstGeom prst="rect">
            <a:avLst/>
          </a:prstGeom>
          <a:solidFill>
            <a:srgbClr val="1A2E4A"/>
          </a:solidFill>
          <a:ln w="12700">
            <a:solidFill>
              <a:srgbClr val="C5D5DE"/>
            </a:solidFill>
            <a:prstDash val="solid"/>
          </a:ln>
        </p:spPr>
      </p:sp>
      <p:sp>
        <p:nvSpPr>
          <p:cNvPr id="17" name="Text 15"/>
          <p:cNvSpPr/>
          <p:nvPr/>
        </p:nvSpPr>
        <p:spPr>
          <a:xfrm>
            <a:off x="5550408" y="1078992"/>
            <a:ext cx="621792" cy="5029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Concordance</a:t>
            </a:r>
            <a:endParaRPr lang="en-US" sz="1100" dirty="0"/>
          </a:p>
        </p:txBody>
      </p:sp>
      <p:sp>
        <p:nvSpPr>
          <p:cNvPr id="18" name="Shape 16"/>
          <p:cNvSpPr/>
          <p:nvPr/>
        </p:nvSpPr>
        <p:spPr>
          <a:xfrm>
            <a:off x="6217920" y="1078992"/>
            <a:ext cx="2926080" cy="502920"/>
          </a:xfrm>
          <a:prstGeom prst="rect">
            <a:avLst/>
          </a:prstGeom>
          <a:solidFill>
            <a:srgbClr val="1A2E4A"/>
          </a:solidFill>
          <a:ln w="12700">
            <a:solidFill>
              <a:srgbClr val="C5D5DE"/>
            </a:solidFill>
            <a:prstDash val="solid"/>
          </a:ln>
        </p:spPr>
      </p:sp>
      <p:sp>
        <p:nvSpPr>
          <p:cNvPr id="19" name="Text 17"/>
          <p:cNvSpPr/>
          <p:nvPr/>
        </p:nvSpPr>
        <p:spPr>
          <a:xfrm>
            <a:off x="6281928" y="1078992"/>
            <a:ext cx="2816352" cy="5029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Clinical Interpretation</a:t>
            </a:r>
            <a:endParaRPr lang="en-US" sz="1100" dirty="0"/>
          </a:p>
        </p:txBody>
      </p:sp>
      <p:sp>
        <p:nvSpPr>
          <p:cNvPr id="20" name="Shape 18"/>
          <p:cNvSpPr/>
          <p:nvPr/>
        </p:nvSpPr>
        <p:spPr>
          <a:xfrm>
            <a:off x="228600" y="1581912"/>
            <a:ext cx="2103120" cy="502920"/>
          </a:xfrm>
          <a:prstGeom prst="rect">
            <a:avLst/>
          </a:prstGeom>
          <a:solidFill>
            <a:srgbClr val="FFFFFF"/>
          </a:solidFill>
          <a:ln w="12700">
            <a:solidFill>
              <a:srgbClr val="C5D5DE"/>
            </a:solidFill>
            <a:prstDash val="solid"/>
          </a:ln>
        </p:spPr>
      </p:sp>
      <p:sp>
        <p:nvSpPr>
          <p:cNvPr id="21" name="Text 19"/>
          <p:cNvSpPr/>
          <p:nvPr/>
        </p:nvSpPr>
        <p:spPr>
          <a:xfrm>
            <a:off x="292608" y="1581912"/>
            <a:ext cx="1993392" cy="5029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ER Positive (vs Negative)</a:t>
            </a:r>
            <a:endParaRPr lang="en-US" sz="1050" dirty="0"/>
          </a:p>
        </p:txBody>
      </p:sp>
      <p:sp>
        <p:nvSpPr>
          <p:cNvPr id="22" name="Shape 20"/>
          <p:cNvSpPr/>
          <p:nvPr/>
        </p:nvSpPr>
        <p:spPr>
          <a:xfrm>
            <a:off x="2331720" y="1581912"/>
            <a:ext cx="594360" cy="502920"/>
          </a:xfrm>
          <a:prstGeom prst="rect">
            <a:avLst/>
          </a:prstGeom>
          <a:solidFill>
            <a:srgbClr val="FFFFFF"/>
          </a:solidFill>
          <a:ln w="12700">
            <a:solidFill>
              <a:srgbClr val="C5D5DE"/>
            </a:solidFill>
            <a:prstDash val="solid"/>
          </a:ln>
        </p:spPr>
      </p:sp>
      <p:sp>
        <p:nvSpPr>
          <p:cNvPr id="23" name="Text 21"/>
          <p:cNvSpPr/>
          <p:nvPr/>
        </p:nvSpPr>
        <p:spPr>
          <a:xfrm>
            <a:off x="2395728" y="1581912"/>
            <a:ext cx="484632" cy="502920"/>
          </a:xfrm>
          <a:prstGeom prst="rect">
            <a:avLst/>
          </a:prstGeom>
          <a:noFill/>
          <a:ln/>
        </p:spPr>
        <p:txBody>
          <a:bodyPr wrap="square" rtlCol="0" anchor="ctr"/>
          <a:lstStyle/>
          <a:p>
            <a:pPr marL="0" indent="0">
              <a:buNone/>
            </a:pPr>
            <a:r>
              <a:rPr lang="en-US" sz="1050" b="1" dirty="0">
                <a:solidFill>
                  <a:srgbClr val="1E6B3C"/>
                </a:solidFill>
                <a:latin typeface="Calibri" pitchFamily="34" charset="0"/>
                <a:ea typeface="Calibri" pitchFamily="34" charset="-122"/>
                <a:cs typeface="Calibri" pitchFamily="34" charset="-120"/>
              </a:rPr>
              <a:t>0.862</a:t>
            </a:r>
            <a:endParaRPr lang="en-US" sz="1050" dirty="0"/>
          </a:p>
        </p:txBody>
      </p:sp>
      <p:sp>
        <p:nvSpPr>
          <p:cNvPr id="24" name="Shape 22"/>
          <p:cNvSpPr/>
          <p:nvPr/>
        </p:nvSpPr>
        <p:spPr>
          <a:xfrm>
            <a:off x="2926080" y="1581912"/>
            <a:ext cx="1371600" cy="502920"/>
          </a:xfrm>
          <a:prstGeom prst="rect">
            <a:avLst/>
          </a:prstGeom>
          <a:solidFill>
            <a:srgbClr val="FFFFFF"/>
          </a:solidFill>
          <a:ln w="12700">
            <a:solidFill>
              <a:srgbClr val="C5D5DE"/>
            </a:solidFill>
            <a:prstDash val="solid"/>
          </a:ln>
        </p:spPr>
      </p:sp>
      <p:sp>
        <p:nvSpPr>
          <p:cNvPr id="25" name="Text 23"/>
          <p:cNvSpPr/>
          <p:nvPr/>
        </p:nvSpPr>
        <p:spPr>
          <a:xfrm>
            <a:off x="2990088" y="1581912"/>
            <a:ext cx="1261872" cy="5029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0.751–0.990</a:t>
            </a:r>
            <a:endParaRPr lang="en-US" sz="1050" dirty="0"/>
          </a:p>
        </p:txBody>
      </p:sp>
      <p:sp>
        <p:nvSpPr>
          <p:cNvPr id="26" name="Shape 24"/>
          <p:cNvSpPr/>
          <p:nvPr/>
        </p:nvSpPr>
        <p:spPr>
          <a:xfrm>
            <a:off x="4297680" y="1581912"/>
            <a:ext cx="1188720" cy="502920"/>
          </a:xfrm>
          <a:prstGeom prst="rect">
            <a:avLst/>
          </a:prstGeom>
          <a:solidFill>
            <a:srgbClr val="FFFFFF"/>
          </a:solidFill>
          <a:ln w="12700">
            <a:solidFill>
              <a:srgbClr val="C5D5DE"/>
            </a:solidFill>
            <a:prstDash val="solid"/>
          </a:ln>
        </p:spPr>
      </p:sp>
      <p:sp>
        <p:nvSpPr>
          <p:cNvPr id="27" name="Text 25"/>
          <p:cNvSpPr/>
          <p:nvPr/>
        </p:nvSpPr>
        <p:spPr>
          <a:xfrm>
            <a:off x="4361688" y="1581912"/>
            <a:ext cx="1078992" cy="5029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0.035 ★</a:t>
            </a:r>
            <a:endParaRPr lang="en-US" sz="1050" dirty="0"/>
          </a:p>
        </p:txBody>
      </p:sp>
      <p:sp>
        <p:nvSpPr>
          <p:cNvPr id="28" name="Shape 26"/>
          <p:cNvSpPr/>
          <p:nvPr/>
        </p:nvSpPr>
        <p:spPr>
          <a:xfrm>
            <a:off x="5486400" y="1581912"/>
            <a:ext cx="731520" cy="502920"/>
          </a:xfrm>
          <a:prstGeom prst="rect">
            <a:avLst/>
          </a:prstGeom>
          <a:solidFill>
            <a:srgbClr val="FFFFFF"/>
          </a:solidFill>
          <a:ln w="12700">
            <a:solidFill>
              <a:srgbClr val="C5D5DE"/>
            </a:solidFill>
            <a:prstDash val="solid"/>
          </a:ln>
        </p:spPr>
      </p:sp>
      <p:sp>
        <p:nvSpPr>
          <p:cNvPr id="29" name="Text 27"/>
          <p:cNvSpPr/>
          <p:nvPr/>
        </p:nvSpPr>
        <p:spPr>
          <a:xfrm>
            <a:off x="5550408" y="1581912"/>
            <a:ext cx="621792" cy="5029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0.540</a:t>
            </a:r>
            <a:endParaRPr lang="en-US" sz="1050" dirty="0"/>
          </a:p>
        </p:txBody>
      </p:sp>
      <p:sp>
        <p:nvSpPr>
          <p:cNvPr id="30" name="Shape 28"/>
          <p:cNvSpPr/>
          <p:nvPr/>
        </p:nvSpPr>
        <p:spPr>
          <a:xfrm>
            <a:off x="6217920" y="1581912"/>
            <a:ext cx="2926080" cy="502920"/>
          </a:xfrm>
          <a:prstGeom prst="rect">
            <a:avLst/>
          </a:prstGeom>
          <a:solidFill>
            <a:srgbClr val="FFFFFF"/>
          </a:solidFill>
          <a:ln w="12700">
            <a:solidFill>
              <a:srgbClr val="C5D5DE"/>
            </a:solidFill>
            <a:prstDash val="solid"/>
          </a:ln>
        </p:spPr>
      </p:sp>
      <p:sp>
        <p:nvSpPr>
          <p:cNvPr id="31" name="Text 29"/>
          <p:cNvSpPr/>
          <p:nvPr/>
        </p:nvSpPr>
        <p:spPr>
          <a:xfrm>
            <a:off x="6281928" y="1581912"/>
            <a:ext cx="2816352" cy="5029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ER+ patients have 14% lower risk — respond to hormone therapy</a:t>
            </a:r>
            <a:endParaRPr lang="en-US" sz="1050" dirty="0"/>
          </a:p>
        </p:txBody>
      </p:sp>
      <p:sp>
        <p:nvSpPr>
          <p:cNvPr id="32" name="Shape 30"/>
          <p:cNvSpPr/>
          <p:nvPr/>
        </p:nvSpPr>
        <p:spPr>
          <a:xfrm>
            <a:off x="228600" y="2084832"/>
            <a:ext cx="2103120" cy="502920"/>
          </a:xfrm>
          <a:prstGeom prst="rect">
            <a:avLst/>
          </a:prstGeom>
          <a:solidFill>
            <a:srgbClr val="FFFFFF"/>
          </a:solidFill>
          <a:ln w="12700">
            <a:solidFill>
              <a:srgbClr val="C5D5DE"/>
            </a:solidFill>
            <a:prstDash val="solid"/>
          </a:ln>
        </p:spPr>
      </p:sp>
      <p:sp>
        <p:nvSpPr>
          <p:cNvPr id="33" name="Text 31"/>
          <p:cNvSpPr/>
          <p:nvPr/>
        </p:nvSpPr>
        <p:spPr>
          <a:xfrm>
            <a:off x="292608" y="2084832"/>
            <a:ext cx="1993392" cy="5029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PR Positive (vs Negative)</a:t>
            </a:r>
            <a:endParaRPr lang="en-US" sz="1050" dirty="0"/>
          </a:p>
        </p:txBody>
      </p:sp>
      <p:sp>
        <p:nvSpPr>
          <p:cNvPr id="34" name="Shape 32"/>
          <p:cNvSpPr/>
          <p:nvPr/>
        </p:nvSpPr>
        <p:spPr>
          <a:xfrm>
            <a:off x="2331720" y="2084832"/>
            <a:ext cx="594360" cy="502920"/>
          </a:xfrm>
          <a:prstGeom prst="rect">
            <a:avLst/>
          </a:prstGeom>
          <a:solidFill>
            <a:srgbClr val="FFFFFF"/>
          </a:solidFill>
          <a:ln w="12700">
            <a:solidFill>
              <a:srgbClr val="C5D5DE"/>
            </a:solidFill>
            <a:prstDash val="solid"/>
          </a:ln>
        </p:spPr>
      </p:sp>
      <p:sp>
        <p:nvSpPr>
          <p:cNvPr id="35" name="Text 33"/>
          <p:cNvSpPr/>
          <p:nvPr/>
        </p:nvSpPr>
        <p:spPr>
          <a:xfrm>
            <a:off x="2395728" y="2084832"/>
            <a:ext cx="484632" cy="502920"/>
          </a:xfrm>
          <a:prstGeom prst="rect">
            <a:avLst/>
          </a:prstGeom>
          <a:noFill/>
          <a:ln/>
        </p:spPr>
        <p:txBody>
          <a:bodyPr wrap="square" rtlCol="0" anchor="ctr"/>
          <a:lstStyle/>
          <a:p>
            <a:pPr marL="0" indent="0">
              <a:buNone/>
            </a:pPr>
            <a:r>
              <a:rPr lang="en-US" sz="1050" b="1" dirty="0">
                <a:solidFill>
                  <a:srgbClr val="1E6B3C"/>
                </a:solidFill>
                <a:latin typeface="Calibri" pitchFamily="34" charset="0"/>
                <a:ea typeface="Calibri" pitchFamily="34" charset="-122"/>
                <a:cs typeface="Calibri" pitchFamily="34" charset="-120"/>
              </a:rPr>
              <a:t>0.792</a:t>
            </a:r>
            <a:endParaRPr lang="en-US" sz="1050" dirty="0"/>
          </a:p>
        </p:txBody>
      </p:sp>
      <p:sp>
        <p:nvSpPr>
          <p:cNvPr id="36" name="Shape 34"/>
          <p:cNvSpPr/>
          <p:nvPr/>
        </p:nvSpPr>
        <p:spPr>
          <a:xfrm>
            <a:off x="2926080" y="2084832"/>
            <a:ext cx="1371600" cy="502920"/>
          </a:xfrm>
          <a:prstGeom prst="rect">
            <a:avLst/>
          </a:prstGeom>
          <a:solidFill>
            <a:srgbClr val="FFFFFF"/>
          </a:solidFill>
          <a:ln w="12700">
            <a:solidFill>
              <a:srgbClr val="C5D5DE"/>
            </a:solidFill>
            <a:prstDash val="solid"/>
          </a:ln>
        </p:spPr>
      </p:sp>
      <p:sp>
        <p:nvSpPr>
          <p:cNvPr id="37" name="Text 35"/>
          <p:cNvSpPr/>
          <p:nvPr/>
        </p:nvSpPr>
        <p:spPr>
          <a:xfrm>
            <a:off x="2990088" y="2084832"/>
            <a:ext cx="1261872" cy="5029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0.705–0.890</a:t>
            </a:r>
            <a:endParaRPr lang="en-US" sz="1050" dirty="0"/>
          </a:p>
        </p:txBody>
      </p:sp>
      <p:sp>
        <p:nvSpPr>
          <p:cNvPr id="38" name="Shape 36"/>
          <p:cNvSpPr/>
          <p:nvPr/>
        </p:nvSpPr>
        <p:spPr>
          <a:xfrm>
            <a:off x="4297680" y="2084832"/>
            <a:ext cx="1188720" cy="502920"/>
          </a:xfrm>
          <a:prstGeom prst="rect">
            <a:avLst/>
          </a:prstGeom>
          <a:solidFill>
            <a:srgbClr val="FFFFFF"/>
          </a:solidFill>
          <a:ln w="12700">
            <a:solidFill>
              <a:srgbClr val="C5D5DE"/>
            </a:solidFill>
            <a:prstDash val="solid"/>
          </a:ln>
        </p:spPr>
      </p:sp>
      <p:sp>
        <p:nvSpPr>
          <p:cNvPr id="39" name="Text 37"/>
          <p:cNvSpPr/>
          <p:nvPr/>
        </p:nvSpPr>
        <p:spPr>
          <a:xfrm>
            <a:off x="4361688" y="2084832"/>
            <a:ext cx="1078992" cy="5029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8.6×10⁻⁵ ★★★</a:t>
            </a:r>
            <a:endParaRPr lang="en-US" sz="1050" dirty="0"/>
          </a:p>
        </p:txBody>
      </p:sp>
      <p:sp>
        <p:nvSpPr>
          <p:cNvPr id="40" name="Shape 38"/>
          <p:cNvSpPr/>
          <p:nvPr/>
        </p:nvSpPr>
        <p:spPr>
          <a:xfrm>
            <a:off x="5486400" y="2084832"/>
            <a:ext cx="731520" cy="502920"/>
          </a:xfrm>
          <a:prstGeom prst="rect">
            <a:avLst/>
          </a:prstGeom>
          <a:solidFill>
            <a:srgbClr val="FFFFFF"/>
          </a:solidFill>
          <a:ln w="12700">
            <a:solidFill>
              <a:srgbClr val="C5D5DE"/>
            </a:solidFill>
            <a:prstDash val="solid"/>
          </a:ln>
        </p:spPr>
      </p:sp>
      <p:sp>
        <p:nvSpPr>
          <p:cNvPr id="41" name="Text 39"/>
          <p:cNvSpPr/>
          <p:nvPr/>
        </p:nvSpPr>
        <p:spPr>
          <a:xfrm>
            <a:off x="5550408" y="2084832"/>
            <a:ext cx="621792" cy="5029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0.554</a:t>
            </a:r>
            <a:endParaRPr lang="en-US" sz="1050" dirty="0"/>
          </a:p>
        </p:txBody>
      </p:sp>
      <p:sp>
        <p:nvSpPr>
          <p:cNvPr id="42" name="Shape 40"/>
          <p:cNvSpPr/>
          <p:nvPr/>
        </p:nvSpPr>
        <p:spPr>
          <a:xfrm>
            <a:off x="6217920" y="2084832"/>
            <a:ext cx="2926080" cy="502920"/>
          </a:xfrm>
          <a:prstGeom prst="rect">
            <a:avLst/>
          </a:prstGeom>
          <a:solidFill>
            <a:srgbClr val="FFFFFF"/>
          </a:solidFill>
          <a:ln w="12700">
            <a:solidFill>
              <a:srgbClr val="C5D5DE"/>
            </a:solidFill>
            <a:prstDash val="solid"/>
          </a:ln>
        </p:spPr>
      </p:sp>
      <p:sp>
        <p:nvSpPr>
          <p:cNvPr id="43" name="Text 41"/>
          <p:cNvSpPr/>
          <p:nvPr/>
        </p:nvSpPr>
        <p:spPr>
          <a:xfrm>
            <a:off x="6281928" y="2084832"/>
            <a:ext cx="2816352" cy="5029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PR+ patients have 21% lower risk — strongly protective</a:t>
            </a:r>
            <a:endParaRPr lang="en-US" sz="1050" dirty="0"/>
          </a:p>
        </p:txBody>
      </p:sp>
      <p:sp>
        <p:nvSpPr>
          <p:cNvPr id="44" name="Shape 42"/>
          <p:cNvSpPr/>
          <p:nvPr/>
        </p:nvSpPr>
        <p:spPr>
          <a:xfrm>
            <a:off x="228600" y="2587752"/>
            <a:ext cx="2103120" cy="502920"/>
          </a:xfrm>
          <a:prstGeom prst="rect">
            <a:avLst/>
          </a:prstGeom>
          <a:solidFill>
            <a:srgbClr val="FFFFFF"/>
          </a:solidFill>
          <a:ln w="12700">
            <a:solidFill>
              <a:srgbClr val="C5D5DE"/>
            </a:solidFill>
            <a:prstDash val="solid"/>
          </a:ln>
        </p:spPr>
      </p:sp>
      <p:sp>
        <p:nvSpPr>
          <p:cNvPr id="45" name="Text 43"/>
          <p:cNvSpPr/>
          <p:nvPr/>
        </p:nvSpPr>
        <p:spPr>
          <a:xfrm>
            <a:off x="292608" y="2587752"/>
            <a:ext cx="1993392" cy="5029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Radiotherapy Yes (vs No)</a:t>
            </a:r>
            <a:endParaRPr lang="en-US" sz="1050" dirty="0"/>
          </a:p>
        </p:txBody>
      </p:sp>
      <p:sp>
        <p:nvSpPr>
          <p:cNvPr id="46" name="Shape 44"/>
          <p:cNvSpPr/>
          <p:nvPr/>
        </p:nvSpPr>
        <p:spPr>
          <a:xfrm>
            <a:off x="2331720" y="2587752"/>
            <a:ext cx="594360" cy="502920"/>
          </a:xfrm>
          <a:prstGeom prst="rect">
            <a:avLst/>
          </a:prstGeom>
          <a:solidFill>
            <a:srgbClr val="FFFFFF"/>
          </a:solidFill>
          <a:ln w="12700">
            <a:solidFill>
              <a:srgbClr val="C5D5DE"/>
            </a:solidFill>
            <a:prstDash val="solid"/>
          </a:ln>
        </p:spPr>
      </p:sp>
      <p:sp>
        <p:nvSpPr>
          <p:cNvPr id="47" name="Text 45"/>
          <p:cNvSpPr/>
          <p:nvPr/>
        </p:nvSpPr>
        <p:spPr>
          <a:xfrm>
            <a:off x="2395728" y="2587752"/>
            <a:ext cx="484632" cy="502920"/>
          </a:xfrm>
          <a:prstGeom prst="rect">
            <a:avLst/>
          </a:prstGeom>
          <a:noFill/>
          <a:ln/>
        </p:spPr>
        <p:txBody>
          <a:bodyPr wrap="square" rtlCol="0" anchor="ctr"/>
          <a:lstStyle/>
          <a:p>
            <a:pPr marL="0" indent="0">
              <a:buNone/>
            </a:pPr>
            <a:r>
              <a:rPr lang="en-US" sz="1050" b="1" dirty="0">
                <a:solidFill>
                  <a:srgbClr val="1E6B3C"/>
                </a:solidFill>
                <a:latin typeface="Calibri" pitchFamily="34" charset="0"/>
                <a:ea typeface="Calibri" pitchFamily="34" charset="-122"/>
                <a:cs typeface="Calibri" pitchFamily="34" charset="-120"/>
              </a:rPr>
              <a:t>0.851</a:t>
            </a:r>
            <a:endParaRPr lang="en-US" sz="1050" dirty="0"/>
          </a:p>
        </p:txBody>
      </p:sp>
      <p:sp>
        <p:nvSpPr>
          <p:cNvPr id="48" name="Shape 46"/>
          <p:cNvSpPr/>
          <p:nvPr/>
        </p:nvSpPr>
        <p:spPr>
          <a:xfrm>
            <a:off x="2926080" y="2587752"/>
            <a:ext cx="1371600" cy="502920"/>
          </a:xfrm>
          <a:prstGeom prst="rect">
            <a:avLst/>
          </a:prstGeom>
          <a:solidFill>
            <a:srgbClr val="FFFFFF"/>
          </a:solidFill>
          <a:ln w="12700">
            <a:solidFill>
              <a:srgbClr val="C5D5DE"/>
            </a:solidFill>
            <a:prstDash val="solid"/>
          </a:ln>
        </p:spPr>
      </p:sp>
      <p:sp>
        <p:nvSpPr>
          <p:cNvPr id="49" name="Text 47"/>
          <p:cNvSpPr/>
          <p:nvPr/>
        </p:nvSpPr>
        <p:spPr>
          <a:xfrm>
            <a:off x="2990088" y="2587752"/>
            <a:ext cx="1261872" cy="5029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0.757–0.956</a:t>
            </a:r>
            <a:endParaRPr lang="en-US" sz="1050" dirty="0"/>
          </a:p>
        </p:txBody>
      </p:sp>
      <p:sp>
        <p:nvSpPr>
          <p:cNvPr id="50" name="Shape 48"/>
          <p:cNvSpPr/>
          <p:nvPr/>
        </p:nvSpPr>
        <p:spPr>
          <a:xfrm>
            <a:off x="4297680" y="2587752"/>
            <a:ext cx="1188720" cy="502920"/>
          </a:xfrm>
          <a:prstGeom prst="rect">
            <a:avLst/>
          </a:prstGeom>
          <a:solidFill>
            <a:srgbClr val="FFFFFF"/>
          </a:solidFill>
          <a:ln w="12700">
            <a:solidFill>
              <a:srgbClr val="C5D5DE"/>
            </a:solidFill>
            <a:prstDash val="solid"/>
          </a:ln>
        </p:spPr>
      </p:sp>
      <p:sp>
        <p:nvSpPr>
          <p:cNvPr id="51" name="Text 49"/>
          <p:cNvSpPr/>
          <p:nvPr/>
        </p:nvSpPr>
        <p:spPr>
          <a:xfrm>
            <a:off x="4361688" y="2587752"/>
            <a:ext cx="1078992" cy="5029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0.007 ★★</a:t>
            </a:r>
            <a:endParaRPr lang="en-US" sz="1050" dirty="0"/>
          </a:p>
        </p:txBody>
      </p:sp>
      <p:sp>
        <p:nvSpPr>
          <p:cNvPr id="52" name="Shape 50"/>
          <p:cNvSpPr/>
          <p:nvPr/>
        </p:nvSpPr>
        <p:spPr>
          <a:xfrm>
            <a:off x="5486400" y="2587752"/>
            <a:ext cx="731520" cy="502920"/>
          </a:xfrm>
          <a:prstGeom prst="rect">
            <a:avLst/>
          </a:prstGeom>
          <a:solidFill>
            <a:srgbClr val="FFFFFF"/>
          </a:solidFill>
          <a:ln w="12700">
            <a:solidFill>
              <a:srgbClr val="C5D5DE"/>
            </a:solidFill>
            <a:prstDash val="solid"/>
          </a:ln>
        </p:spPr>
      </p:sp>
      <p:sp>
        <p:nvSpPr>
          <p:cNvPr id="53" name="Text 51"/>
          <p:cNvSpPr/>
          <p:nvPr/>
        </p:nvSpPr>
        <p:spPr>
          <a:xfrm>
            <a:off x="5550408" y="2587752"/>
            <a:ext cx="621792" cy="5029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0.515</a:t>
            </a:r>
            <a:endParaRPr lang="en-US" sz="1050" dirty="0"/>
          </a:p>
        </p:txBody>
      </p:sp>
      <p:sp>
        <p:nvSpPr>
          <p:cNvPr id="54" name="Shape 52"/>
          <p:cNvSpPr/>
          <p:nvPr/>
        </p:nvSpPr>
        <p:spPr>
          <a:xfrm>
            <a:off x="6217920" y="2587752"/>
            <a:ext cx="2926080" cy="502920"/>
          </a:xfrm>
          <a:prstGeom prst="rect">
            <a:avLst/>
          </a:prstGeom>
          <a:solidFill>
            <a:srgbClr val="FFFFFF"/>
          </a:solidFill>
          <a:ln w="12700">
            <a:solidFill>
              <a:srgbClr val="C5D5DE"/>
            </a:solidFill>
            <a:prstDash val="solid"/>
          </a:ln>
        </p:spPr>
      </p:sp>
      <p:sp>
        <p:nvSpPr>
          <p:cNvPr id="55" name="Text 53"/>
          <p:cNvSpPr/>
          <p:nvPr/>
        </p:nvSpPr>
        <p:spPr>
          <a:xfrm>
            <a:off x="6281928" y="2587752"/>
            <a:ext cx="2816352" cy="502920"/>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Radiotherapy associated with 15% lower mortality risk</a:t>
            </a:r>
            <a:endParaRPr lang="en-US" sz="1050" dirty="0"/>
          </a:p>
        </p:txBody>
      </p:sp>
      <p:pic>
        <p:nvPicPr>
          <p:cNvPr id="56" name="Image 0" descr="preencoded.png"/>
          <p:cNvPicPr>
            <a:picLocks noChangeAspect="1"/>
          </p:cNvPicPr>
          <p:nvPr/>
        </p:nvPicPr>
        <p:blipFill>
          <a:blip r:embed="rId3"/>
          <a:stretch>
            <a:fillRect/>
          </a:stretch>
        </p:blipFill>
        <p:spPr>
          <a:xfrm>
            <a:off x="800099" y="3189914"/>
            <a:ext cx="2839385" cy="1721755"/>
          </a:xfrm>
          <a:prstGeom prst="rect">
            <a:avLst/>
          </a:prstGeom>
        </p:spPr>
      </p:pic>
      <p:pic>
        <p:nvPicPr>
          <p:cNvPr id="57" name="Image 1" descr="preencoded.png"/>
          <p:cNvPicPr>
            <a:picLocks noChangeAspect="1"/>
          </p:cNvPicPr>
          <p:nvPr/>
        </p:nvPicPr>
        <p:blipFill>
          <a:blip r:embed="rId4"/>
          <a:stretch>
            <a:fillRect/>
          </a:stretch>
        </p:blipFill>
        <p:spPr>
          <a:xfrm>
            <a:off x="5442458" y="3197026"/>
            <a:ext cx="2536257" cy="1554480"/>
          </a:xfrm>
          <a:prstGeom prst="rect">
            <a:avLst/>
          </a:prstGeom>
        </p:spPr>
      </p:pic>
      <p:sp>
        <p:nvSpPr>
          <p:cNvPr id="58" name="Text 54"/>
          <p:cNvSpPr/>
          <p:nvPr/>
        </p:nvSpPr>
        <p:spPr>
          <a:xfrm>
            <a:off x="160020" y="4907026"/>
            <a:ext cx="4297680" cy="182880"/>
          </a:xfrm>
          <a:prstGeom prst="rect">
            <a:avLst/>
          </a:prstGeom>
          <a:noFill/>
          <a:ln/>
        </p:spPr>
        <p:txBody>
          <a:bodyPr wrap="square" rtlCol="0" anchor="ctr"/>
          <a:lstStyle/>
          <a:p>
            <a:pPr marL="0" indent="0" algn="ctr">
              <a:buNone/>
            </a:pPr>
            <a:r>
              <a:rPr lang="en-US" sz="900" i="1" dirty="0">
                <a:solidFill>
                  <a:srgbClr val="5A6A7A"/>
                </a:solidFill>
                <a:latin typeface="Calibri" pitchFamily="34" charset="0"/>
                <a:ea typeface="Calibri" pitchFamily="34" charset="-122"/>
                <a:cs typeface="Calibri" pitchFamily="34" charset="-120"/>
              </a:rPr>
              <a:t>PR Status KM Curve (p=8×10⁻⁵)</a:t>
            </a:r>
            <a:endParaRPr lang="en-US" sz="900" dirty="0"/>
          </a:p>
        </p:txBody>
      </p:sp>
      <p:sp>
        <p:nvSpPr>
          <p:cNvPr id="59" name="Text 55"/>
          <p:cNvSpPr/>
          <p:nvPr/>
        </p:nvSpPr>
        <p:spPr>
          <a:xfrm>
            <a:off x="4663439" y="4820229"/>
            <a:ext cx="4251960" cy="182880"/>
          </a:xfrm>
          <a:prstGeom prst="rect">
            <a:avLst/>
          </a:prstGeom>
          <a:noFill/>
          <a:ln/>
        </p:spPr>
        <p:txBody>
          <a:bodyPr wrap="square" rtlCol="0" anchor="ctr"/>
          <a:lstStyle/>
          <a:p>
            <a:pPr marL="0" indent="0" algn="ctr">
              <a:buNone/>
            </a:pPr>
            <a:r>
              <a:rPr lang="en-US" sz="900" i="1" dirty="0">
                <a:solidFill>
                  <a:srgbClr val="5A6A7A"/>
                </a:solidFill>
                <a:latin typeface="Calibri" pitchFamily="34" charset="0"/>
                <a:ea typeface="Calibri" pitchFamily="34" charset="-122"/>
                <a:cs typeface="Calibri" pitchFamily="34" charset="-120"/>
              </a:rPr>
              <a:t>Radiotherapy KM Curve (p=0.007)</a:t>
            </a:r>
            <a:endParaRPr lang="en-US" sz="9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E4A"/>
          </a:solidFill>
          <a:ln w="12700">
            <a:solidFill>
              <a:srgbClr val="1A2E4A"/>
            </a:solidFill>
            <a:prstDash val="solid"/>
          </a:ln>
        </p:spPr>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Proportional Hazards Assumption Test</a:t>
            </a:r>
            <a:endParaRPr lang="en-US" sz="1600" dirty="0"/>
          </a:p>
        </p:txBody>
      </p:sp>
      <p:sp>
        <p:nvSpPr>
          <p:cNvPr id="4" name="Shape 2"/>
          <p:cNvSpPr/>
          <p:nvPr/>
        </p:nvSpPr>
        <p:spPr>
          <a:xfrm>
            <a:off x="0" y="502920"/>
            <a:ext cx="9144000" cy="36576"/>
          </a:xfrm>
          <a:prstGeom prst="rect">
            <a:avLst/>
          </a:prstGeom>
          <a:solidFill>
            <a:srgbClr val="1B7A8A"/>
          </a:solidFill>
          <a:ln w="12700">
            <a:solidFill>
              <a:srgbClr val="1B7A8A"/>
            </a:solidFill>
            <a:prstDash val="solid"/>
          </a:ln>
        </p:spPr>
      </p:sp>
      <p:sp>
        <p:nvSpPr>
          <p:cNvPr id="5" name="Shape 3"/>
          <p:cNvSpPr/>
          <p:nvPr/>
        </p:nvSpPr>
        <p:spPr>
          <a:xfrm>
            <a:off x="0" y="5093208"/>
            <a:ext cx="9144000" cy="50292"/>
          </a:xfrm>
          <a:prstGeom prst="rect">
            <a:avLst/>
          </a:prstGeom>
          <a:solidFill>
            <a:srgbClr val="1B7A8A"/>
          </a:solidFill>
          <a:ln w="12700">
            <a:solidFill>
              <a:srgbClr val="1B7A8A"/>
            </a:solidFill>
            <a:prstDash val="solid"/>
          </a:ln>
        </p:spPr>
      </p:sp>
      <p:sp>
        <p:nvSpPr>
          <p:cNvPr id="6" name="Text 4"/>
          <p:cNvSpPr/>
          <p:nvPr/>
        </p:nvSpPr>
        <p:spPr>
          <a:xfrm>
            <a:off x="320040" y="576072"/>
            <a:ext cx="8229600" cy="320040"/>
          </a:xfrm>
          <a:prstGeom prst="rect">
            <a:avLst/>
          </a:prstGeom>
          <a:noFill/>
          <a:ln/>
        </p:spPr>
        <p:txBody>
          <a:bodyPr wrap="square" rtlCol="0" anchor="ctr"/>
          <a:lstStyle/>
          <a:p>
            <a:pPr marL="0" indent="0">
              <a:buNone/>
            </a:pPr>
            <a:r>
              <a:rPr lang="en-US" sz="1200" i="1" dirty="0">
                <a:solidFill>
                  <a:srgbClr val="5A6A7A"/>
                </a:solidFill>
                <a:latin typeface="Calibri" pitchFamily="34" charset="0"/>
                <a:ea typeface="Calibri" pitchFamily="34" charset="-122"/>
                <a:cs typeface="Calibri" pitchFamily="34" charset="-120"/>
              </a:rPr>
              <a:t>Schoenfeld Residuals — cox.zph() in R</a:t>
            </a:r>
            <a:endParaRPr lang="en-US" sz="1200" dirty="0"/>
          </a:p>
        </p:txBody>
      </p:sp>
      <p:sp>
        <p:nvSpPr>
          <p:cNvPr id="7" name="Shape 5"/>
          <p:cNvSpPr/>
          <p:nvPr/>
        </p:nvSpPr>
        <p:spPr>
          <a:xfrm>
            <a:off x="228600" y="658368"/>
            <a:ext cx="8686800" cy="594360"/>
          </a:xfrm>
          <a:prstGeom prst="rect">
            <a:avLst/>
          </a:prstGeom>
          <a:solidFill>
            <a:srgbClr val="1A2E4A"/>
          </a:solidFill>
          <a:ln w="12700">
            <a:solidFill>
              <a:srgbClr val="1A2E4A"/>
            </a:solidFill>
            <a:prstDash val="solid"/>
          </a:ln>
        </p:spPr>
      </p:sp>
      <p:sp>
        <p:nvSpPr>
          <p:cNvPr id="8" name="Text 6"/>
          <p:cNvSpPr/>
          <p:nvPr/>
        </p:nvSpPr>
        <p:spPr>
          <a:xfrm>
            <a:off x="347472" y="658368"/>
            <a:ext cx="8458200" cy="594360"/>
          </a:xfrm>
          <a:prstGeom prst="rect">
            <a:avLst/>
          </a:prstGeom>
          <a:noFill/>
          <a:ln/>
        </p:spPr>
        <p:txBody>
          <a:bodyPr wrap="square" rtlCol="0" anchor="ctr"/>
          <a:lstStyle/>
          <a:p>
            <a:pPr marL="0" indent="0">
              <a:buNone/>
            </a:pPr>
            <a:r>
              <a:rPr lang="en-US" sz="1100" dirty="0">
                <a:solidFill>
                  <a:srgbClr val="C8DDE8"/>
                </a:solidFill>
                <a:latin typeface="Calibri" pitchFamily="34" charset="0"/>
                <a:ea typeface="Calibri" pitchFamily="34" charset="-122"/>
                <a:cs typeface="Calibri" pitchFamily="34" charset="-120"/>
              </a:rPr>
              <a:t>What is the PH Assumption? The Cox model assumes that the Hazard Ratio for each variable stays CONSTANT over time — the relative risk between groups does not change as time progresses.</a:t>
            </a:r>
            <a:endParaRPr lang="en-US" sz="1100" dirty="0"/>
          </a:p>
        </p:txBody>
      </p:sp>
      <p:sp>
        <p:nvSpPr>
          <p:cNvPr id="9" name="Text 7"/>
          <p:cNvSpPr/>
          <p:nvPr/>
        </p:nvSpPr>
        <p:spPr>
          <a:xfrm>
            <a:off x="228600" y="1353312"/>
            <a:ext cx="5029200" cy="320040"/>
          </a:xfrm>
          <a:prstGeom prst="rect">
            <a:avLst/>
          </a:prstGeom>
          <a:noFill/>
          <a:ln/>
        </p:spPr>
        <p:txBody>
          <a:bodyPr wrap="square" rtlCol="0" anchor="ctr"/>
          <a:lstStyle/>
          <a:p>
            <a:pPr marL="0" indent="0">
              <a:buNone/>
            </a:pPr>
            <a:r>
              <a:rPr lang="en-US" sz="1200" b="1" dirty="0">
                <a:solidFill>
                  <a:srgbClr val="1A2E4A"/>
                </a:solidFill>
                <a:latin typeface="Calibri" pitchFamily="34" charset="0"/>
                <a:ea typeface="Calibri" pitchFamily="34" charset="-122"/>
                <a:cs typeface="Calibri" pitchFamily="34" charset="-120"/>
              </a:rPr>
              <a:t>cox.zph() Test Results — Schoenfeld Residuals:</a:t>
            </a:r>
            <a:endParaRPr lang="en-US" sz="1200" dirty="0"/>
          </a:p>
        </p:txBody>
      </p:sp>
      <p:sp>
        <p:nvSpPr>
          <p:cNvPr id="10" name="Shape 8"/>
          <p:cNvSpPr/>
          <p:nvPr/>
        </p:nvSpPr>
        <p:spPr>
          <a:xfrm>
            <a:off x="228600" y="1719072"/>
            <a:ext cx="2103120" cy="301752"/>
          </a:xfrm>
          <a:prstGeom prst="rect">
            <a:avLst/>
          </a:prstGeom>
          <a:solidFill>
            <a:srgbClr val="1A2E4A"/>
          </a:solidFill>
          <a:ln w="12700">
            <a:solidFill>
              <a:srgbClr val="C5D5DE"/>
            </a:solidFill>
            <a:prstDash val="solid"/>
          </a:ln>
        </p:spPr>
      </p:sp>
      <p:sp>
        <p:nvSpPr>
          <p:cNvPr id="11" name="Text 9"/>
          <p:cNvSpPr/>
          <p:nvPr/>
        </p:nvSpPr>
        <p:spPr>
          <a:xfrm>
            <a:off x="292608" y="1719072"/>
            <a:ext cx="1993392" cy="30175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Variable</a:t>
            </a:r>
            <a:endParaRPr lang="en-US" sz="1100" dirty="0"/>
          </a:p>
        </p:txBody>
      </p:sp>
      <p:sp>
        <p:nvSpPr>
          <p:cNvPr id="12" name="Shape 10"/>
          <p:cNvSpPr/>
          <p:nvPr/>
        </p:nvSpPr>
        <p:spPr>
          <a:xfrm>
            <a:off x="2331720" y="1719072"/>
            <a:ext cx="640080" cy="301752"/>
          </a:xfrm>
          <a:prstGeom prst="rect">
            <a:avLst/>
          </a:prstGeom>
          <a:solidFill>
            <a:srgbClr val="1A2E4A"/>
          </a:solidFill>
          <a:ln w="12700">
            <a:solidFill>
              <a:srgbClr val="C5D5DE"/>
            </a:solidFill>
            <a:prstDash val="solid"/>
          </a:ln>
        </p:spPr>
      </p:sp>
      <p:sp>
        <p:nvSpPr>
          <p:cNvPr id="13" name="Text 11"/>
          <p:cNvSpPr/>
          <p:nvPr/>
        </p:nvSpPr>
        <p:spPr>
          <a:xfrm>
            <a:off x="2395728" y="1719072"/>
            <a:ext cx="530352" cy="30175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χ²</a:t>
            </a:r>
            <a:endParaRPr lang="en-US" sz="1100" dirty="0"/>
          </a:p>
        </p:txBody>
      </p:sp>
      <p:sp>
        <p:nvSpPr>
          <p:cNvPr id="14" name="Shape 12"/>
          <p:cNvSpPr/>
          <p:nvPr/>
        </p:nvSpPr>
        <p:spPr>
          <a:xfrm>
            <a:off x="2971800" y="1719072"/>
            <a:ext cx="365760" cy="301752"/>
          </a:xfrm>
          <a:prstGeom prst="rect">
            <a:avLst/>
          </a:prstGeom>
          <a:solidFill>
            <a:srgbClr val="1A2E4A"/>
          </a:solidFill>
          <a:ln w="12700">
            <a:solidFill>
              <a:srgbClr val="C5D5DE"/>
            </a:solidFill>
            <a:prstDash val="solid"/>
          </a:ln>
        </p:spPr>
      </p:sp>
      <p:sp>
        <p:nvSpPr>
          <p:cNvPr id="15" name="Text 13"/>
          <p:cNvSpPr/>
          <p:nvPr/>
        </p:nvSpPr>
        <p:spPr>
          <a:xfrm>
            <a:off x="3035808" y="1719072"/>
            <a:ext cx="256032" cy="30175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df</a:t>
            </a:r>
            <a:endParaRPr lang="en-US" sz="1100" dirty="0"/>
          </a:p>
        </p:txBody>
      </p:sp>
      <p:sp>
        <p:nvSpPr>
          <p:cNvPr id="16" name="Shape 14"/>
          <p:cNvSpPr/>
          <p:nvPr/>
        </p:nvSpPr>
        <p:spPr>
          <a:xfrm>
            <a:off x="3337560" y="1719072"/>
            <a:ext cx="1554480" cy="301752"/>
          </a:xfrm>
          <a:prstGeom prst="rect">
            <a:avLst/>
          </a:prstGeom>
          <a:solidFill>
            <a:srgbClr val="1A2E4A"/>
          </a:solidFill>
          <a:ln w="12700">
            <a:solidFill>
              <a:srgbClr val="C5D5DE"/>
            </a:solidFill>
            <a:prstDash val="solid"/>
          </a:ln>
        </p:spPr>
      </p:sp>
      <p:sp>
        <p:nvSpPr>
          <p:cNvPr id="17" name="Text 15"/>
          <p:cNvSpPr/>
          <p:nvPr/>
        </p:nvSpPr>
        <p:spPr>
          <a:xfrm>
            <a:off x="3401568" y="1719072"/>
            <a:ext cx="1444752" cy="30175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p-value</a:t>
            </a:r>
            <a:endParaRPr lang="en-US" sz="1100" dirty="0"/>
          </a:p>
        </p:txBody>
      </p:sp>
      <p:sp>
        <p:nvSpPr>
          <p:cNvPr id="18" name="Shape 16"/>
          <p:cNvSpPr/>
          <p:nvPr/>
        </p:nvSpPr>
        <p:spPr>
          <a:xfrm>
            <a:off x="4892040" y="1719072"/>
            <a:ext cx="1600200" cy="301752"/>
          </a:xfrm>
          <a:prstGeom prst="rect">
            <a:avLst/>
          </a:prstGeom>
          <a:solidFill>
            <a:srgbClr val="1A2E4A"/>
          </a:solidFill>
          <a:ln w="12700">
            <a:solidFill>
              <a:srgbClr val="C5D5DE"/>
            </a:solidFill>
            <a:prstDash val="solid"/>
          </a:ln>
        </p:spPr>
      </p:sp>
      <p:sp>
        <p:nvSpPr>
          <p:cNvPr id="19" name="Text 17"/>
          <p:cNvSpPr/>
          <p:nvPr/>
        </p:nvSpPr>
        <p:spPr>
          <a:xfrm>
            <a:off x="4956048" y="1719072"/>
            <a:ext cx="1490472" cy="301752"/>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PH Assumption</a:t>
            </a:r>
            <a:endParaRPr lang="en-US" sz="1100" dirty="0"/>
          </a:p>
        </p:txBody>
      </p:sp>
      <p:sp>
        <p:nvSpPr>
          <p:cNvPr id="20" name="Shape 18"/>
          <p:cNvSpPr/>
          <p:nvPr/>
        </p:nvSpPr>
        <p:spPr>
          <a:xfrm>
            <a:off x="228600" y="2020824"/>
            <a:ext cx="2103120" cy="301752"/>
          </a:xfrm>
          <a:prstGeom prst="rect">
            <a:avLst/>
          </a:prstGeom>
          <a:solidFill>
            <a:srgbClr val="FFFFFF"/>
          </a:solidFill>
          <a:ln w="12700">
            <a:solidFill>
              <a:srgbClr val="C5D5DE"/>
            </a:solidFill>
            <a:prstDash val="solid"/>
          </a:ln>
        </p:spPr>
      </p:sp>
      <p:sp>
        <p:nvSpPr>
          <p:cNvPr id="21" name="Text 19"/>
          <p:cNvSpPr/>
          <p:nvPr/>
        </p:nvSpPr>
        <p:spPr>
          <a:xfrm>
            <a:off x="292608" y="2020824"/>
            <a:ext cx="199339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Age at Diagnosis</a:t>
            </a:r>
            <a:endParaRPr lang="en-US" sz="1050" dirty="0"/>
          </a:p>
        </p:txBody>
      </p:sp>
      <p:sp>
        <p:nvSpPr>
          <p:cNvPr id="22" name="Shape 20"/>
          <p:cNvSpPr/>
          <p:nvPr/>
        </p:nvSpPr>
        <p:spPr>
          <a:xfrm>
            <a:off x="2331720" y="2020824"/>
            <a:ext cx="640080" cy="301752"/>
          </a:xfrm>
          <a:prstGeom prst="rect">
            <a:avLst/>
          </a:prstGeom>
          <a:solidFill>
            <a:srgbClr val="FFFFFF"/>
          </a:solidFill>
          <a:ln w="12700">
            <a:solidFill>
              <a:srgbClr val="C5D5DE"/>
            </a:solidFill>
            <a:prstDash val="solid"/>
          </a:ln>
        </p:spPr>
      </p:sp>
      <p:sp>
        <p:nvSpPr>
          <p:cNvPr id="23" name="Text 21"/>
          <p:cNvSpPr/>
          <p:nvPr/>
        </p:nvSpPr>
        <p:spPr>
          <a:xfrm>
            <a:off x="2395728" y="2020824"/>
            <a:ext cx="53035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59.50</a:t>
            </a:r>
            <a:endParaRPr lang="en-US" sz="1050" dirty="0"/>
          </a:p>
        </p:txBody>
      </p:sp>
      <p:sp>
        <p:nvSpPr>
          <p:cNvPr id="24" name="Shape 22"/>
          <p:cNvSpPr/>
          <p:nvPr/>
        </p:nvSpPr>
        <p:spPr>
          <a:xfrm>
            <a:off x="2971800" y="2020824"/>
            <a:ext cx="365760" cy="301752"/>
          </a:xfrm>
          <a:prstGeom prst="rect">
            <a:avLst/>
          </a:prstGeom>
          <a:solidFill>
            <a:srgbClr val="FFFFFF"/>
          </a:solidFill>
          <a:ln w="12700">
            <a:solidFill>
              <a:srgbClr val="C5D5DE"/>
            </a:solidFill>
            <a:prstDash val="solid"/>
          </a:ln>
        </p:spPr>
      </p:sp>
      <p:sp>
        <p:nvSpPr>
          <p:cNvPr id="25" name="Text 23"/>
          <p:cNvSpPr/>
          <p:nvPr/>
        </p:nvSpPr>
        <p:spPr>
          <a:xfrm>
            <a:off x="3035808" y="2020824"/>
            <a:ext cx="25603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a:t>
            </a:r>
            <a:endParaRPr lang="en-US" sz="1050" dirty="0"/>
          </a:p>
        </p:txBody>
      </p:sp>
      <p:sp>
        <p:nvSpPr>
          <p:cNvPr id="26" name="Shape 24"/>
          <p:cNvSpPr/>
          <p:nvPr/>
        </p:nvSpPr>
        <p:spPr>
          <a:xfrm>
            <a:off x="3337560" y="2020824"/>
            <a:ext cx="1554480" cy="301752"/>
          </a:xfrm>
          <a:prstGeom prst="rect">
            <a:avLst/>
          </a:prstGeom>
          <a:solidFill>
            <a:srgbClr val="FFFFFF"/>
          </a:solidFill>
          <a:ln w="12700">
            <a:solidFill>
              <a:srgbClr val="C5D5DE"/>
            </a:solidFill>
            <a:prstDash val="solid"/>
          </a:ln>
        </p:spPr>
      </p:sp>
      <p:sp>
        <p:nvSpPr>
          <p:cNvPr id="27" name="Text 25"/>
          <p:cNvSpPr/>
          <p:nvPr/>
        </p:nvSpPr>
        <p:spPr>
          <a:xfrm>
            <a:off x="3401568" y="2020824"/>
            <a:ext cx="1444752" cy="301752"/>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1.2×10⁻¹⁴ ★★★</a:t>
            </a:r>
            <a:endParaRPr lang="en-US" sz="1050" dirty="0"/>
          </a:p>
        </p:txBody>
      </p:sp>
      <p:sp>
        <p:nvSpPr>
          <p:cNvPr id="28" name="Shape 26"/>
          <p:cNvSpPr/>
          <p:nvPr/>
        </p:nvSpPr>
        <p:spPr>
          <a:xfrm>
            <a:off x="4892040" y="2020824"/>
            <a:ext cx="1600200" cy="301752"/>
          </a:xfrm>
          <a:prstGeom prst="rect">
            <a:avLst/>
          </a:prstGeom>
          <a:solidFill>
            <a:srgbClr val="FFFFFF"/>
          </a:solidFill>
          <a:ln w="12700">
            <a:solidFill>
              <a:srgbClr val="C5D5DE"/>
            </a:solidFill>
            <a:prstDash val="solid"/>
          </a:ln>
        </p:spPr>
      </p:sp>
      <p:sp>
        <p:nvSpPr>
          <p:cNvPr id="29" name="Text 27"/>
          <p:cNvSpPr/>
          <p:nvPr/>
        </p:nvSpPr>
        <p:spPr>
          <a:xfrm>
            <a:off x="4956048" y="2020824"/>
            <a:ext cx="1490472" cy="301752"/>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VIOLATED ✗</a:t>
            </a:r>
            <a:endParaRPr lang="en-US" sz="1050" dirty="0"/>
          </a:p>
        </p:txBody>
      </p:sp>
      <p:sp>
        <p:nvSpPr>
          <p:cNvPr id="30" name="Shape 28"/>
          <p:cNvSpPr/>
          <p:nvPr/>
        </p:nvSpPr>
        <p:spPr>
          <a:xfrm>
            <a:off x="228600" y="2322576"/>
            <a:ext cx="2103120" cy="301752"/>
          </a:xfrm>
          <a:prstGeom prst="rect">
            <a:avLst/>
          </a:prstGeom>
          <a:solidFill>
            <a:srgbClr val="EDF4F6"/>
          </a:solidFill>
          <a:ln w="12700">
            <a:solidFill>
              <a:srgbClr val="C5D5DE"/>
            </a:solidFill>
            <a:prstDash val="solid"/>
          </a:ln>
        </p:spPr>
      </p:sp>
      <p:sp>
        <p:nvSpPr>
          <p:cNvPr id="31" name="Text 29"/>
          <p:cNvSpPr/>
          <p:nvPr/>
        </p:nvSpPr>
        <p:spPr>
          <a:xfrm>
            <a:off x="292608" y="2322576"/>
            <a:ext cx="199339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Tumor Size</a:t>
            </a:r>
            <a:endParaRPr lang="en-US" sz="1050" dirty="0"/>
          </a:p>
        </p:txBody>
      </p:sp>
      <p:sp>
        <p:nvSpPr>
          <p:cNvPr id="32" name="Shape 30"/>
          <p:cNvSpPr/>
          <p:nvPr/>
        </p:nvSpPr>
        <p:spPr>
          <a:xfrm>
            <a:off x="2331720" y="2322576"/>
            <a:ext cx="640080" cy="301752"/>
          </a:xfrm>
          <a:prstGeom prst="rect">
            <a:avLst/>
          </a:prstGeom>
          <a:solidFill>
            <a:srgbClr val="EDF4F6"/>
          </a:solidFill>
          <a:ln w="12700">
            <a:solidFill>
              <a:srgbClr val="C5D5DE"/>
            </a:solidFill>
            <a:prstDash val="solid"/>
          </a:ln>
        </p:spPr>
      </p:sp>
      <p:sp>
        <p:nvSpPr>
          <p:cNvPr id="33" name="Text 31"/>
          <p:cNvSpPr/>
          <p:nvPr/>
        </p:nvSpPr>
        <p:spPr>
          <a:xfrm>
            <a:off x="2395728" y="2322576"/>
            <a:ext cx="53035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0.272</a:t>
            </a:r>
            <a:endParaRPr lang="en-US" sz="1050" dirty="0"/>
          </a:p>
        </p:txBody>
      </p:sp>
      <p:sp>
        <p:nvSpPr>
          <p:cNvPr id="34" name="Shape 32"/>
          <p:cNvSpPr/>
          <p:nvPr/>
        </p:nvSpPr>
        <p:spPr>
          <a:xfrm>
            <a:off x="2971800" y="2322576"/>
            <a:ext cx="365760" cy="301752"/>
          </a:xfrm>
          <a:prstGeom prst="rect">
            <a:avLst/>
          </a:prstGeom>
          <a:solidFill>
            <a:srgbClr val="EDF4F6"/>
          </a:solidFill>
          <a:ln w="12700">
            <a:solidFill>
              <a:srgbClr val="C5D5DE"/>
            </a:solidFill>
            <a:prstDash val="solid"/>
          </a:ln>
        </p:spPr>
      </p:sp>
      <p:sp>
        <p:nvSpPr>
          <p:cNvPr id="35" name="Text 33"/>
          <p:cNvSpPr/>
          <p:nvPr/>
        </p:nvSpPr>
        <p:spPr>
          <a:xfrm>
            <a:off x="3035808" y="2322576"/>
            <a:ext cx="25603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a:t>
            </a:r>
            <a:endParaRPr lang="en-US" sz="1050" dirty="0"/>
          </a:p>
        </p:txBody>
      </p:sp>
      <p:sp>
        <p:nvSpPr>
          <p:cNvPr id="36" name="Shape 34"/>
          <p:cNvSpPr/>
          <p:nvPr/>
        </p:nvSpPr>
        <p:spPr>
          <a:xfrm>
            <a:off x="3337560" y="2322576"/>
            <a:ext cx="1554480" cy="301752"/>
          </a:xfrm>
          <a:prstGeom prst="rect">
            <a:avLst/>
          </a:prstGeom>
          <a:solidFill>
            <a:srgbClr val="EDF4F6"/>
          </a:solidFill>
          <a:ln w="12700">
            <a:solidFill>
              <a:srgbClr val="C5D5DE"/>
            </a:solidFill>
            <a:prstDash val="solid"/>
          </a:ln>
        </p:spPr>
      </p:sp>
      <p:sp>
        <p:nvSpPr>
          <p:cNvPr id="37" name="Text 35"/>
          <p:cNvSpPr/>
          <p:nvPr/>
        </p:nvSpPr>
        <p:spPr>
          <a:xfrm>
            <a:off x="3401568" y="2322576"/>
            <a:ext cx="1444752" cy="301752"/>
          </a:xfrm>
          <a:prstGeom prst="rect">
            <a:avLst/>
          </a:prstGeom>
          <a:noFill/>
          <a:ln/>
        </p:spPr>
        <p:txBody>
          <a:bodyPr wrap="square" rtlCol="0" anchor="ctr"/>
          <a:lstStyle/>
          <a:p>
            <a:pPr marL="0" indent="0">
              <a:buNone/>
            </a:pPr>
            <a:r>
              <a:rPr lang="en-US" sz="1050" dirty="0">
                <a:solidFill>
                  <a:srgbClr val="1E6B3C"/>
                </a:solidFill>
                <a:latin typeface="Calibri" pitchFamily="34" charset="0"/>
                <a:ea typeface="Calibri" pitchFamily="34" charset="-122"/>
                <a:cs typeface="Calibri" pitchFamily="34" charset="-120"/>
              </a:rPr>
              <a:t>0.602 ✓</a:t>
            </a:r>
            <a:endParaRPr lang="en-US" sz="1050" dirty="0"/>
          </a:p>
        </p:txBody>
      </p:sp>
      <p:sp>
        <p:nvSpPr>
          <p:cNvPr id="38" name="Shape 36"/>
          <p:cNvSpPr/>
          <p:nvPr/>
        </p:nvSpPr>
        <p:spPr>
          <a:xfrm>
            <a:off x="4892040" y="2322576"/>
            <a:ext cx="1600200" cy="301752"/>
          </a:xfrm>
          <a:prstGeom prst="rect">
            <a:avLst/>
          </a:prstGeom>
          <a:solidFill>
            <a:srgbClr val="EDF4F6"/>
          </a:solidFill>
          <a:ln w="12700">
            <a:solidFill>
              <a:srgbClr val="C5D5DE"/>
            </a:solidFill>
            <a:prstDash val="solid"/>
          </a:ln>
        </p:spPr>
      </p:sp>
      <p:sp>
        <p:nvSpPr>
          <p:cNvPr id="39" name="Text 37"/>
          <p:cNvSpPr/>
          <p:nvPr/>
        </p:nvSpPr>
        <p:spPr>
          <a:xfrm>
            <a:off x="4956048" y="2322576"/>
            <a:ext cx="1490472" cy="301752"/>
          </a:xfrm>
          <a:prstGeom prst="rect">
            <a:avLst/>
          </a:prstGeom>
          <a:noFill/>
          <a:ln/>
        </p:spPr>
        <p:txBody>
          <a:bodyPr wrap="square" rtlCol="0" anchor="ctr"/>
          <a:lstStyle/>
          <a:p>
            <a:pPr marL="0" indent="0">
              <a:buNone/>
            </a:pPr>
            <a:r>
              <a:rPr lang="en-US" sz="1050" dirty="0">
                <a:solidFill>
                  <a:srgbClr val="1E6B3C"/>
                </a:solidFill>
                <a:latin typeface="Calibri" pitchFamily="34" charset="0"/>
                <a:ea typeface="Calibri" pitchFamily="34" charset="-122"/>
                <a:cs typeface="Calibri" pitchFamily="34" charset="-120"/>
              </a:rPr>
              <a:t>Met ✓</a:t>
            </a:r>
            <a:endParaRPr lang="en-US" sz="1050" dirty="0"/>
          </a:p>
        </p:txBody>
      </p:sp>
      <p:sp>
        <p:nvSpPr>
          <p:cNvPr id="40" name="Shape 38"/>
          <p:cNvSpPr/>
          <p:nvPr/>
        </p:nvSpPr>
        <p:spPr>
          <a:xfrm>
            <a:off x="228600" y="2624328"/>
            <a:ext cx="2103120" cy="301752"/>
          </a:xfrm>
          <a:prstGeom prst="rect">
            <a:avLst/>
          </a:prstGeom>
          <a:solidFill>
            <a:srgbClr val="FFFFFF"/>
          </a:solidFill>
          <a:ln w="12700">
            <a:solidFill>
              <a:srgbClr val="C5D5DE"/>
            </a:solidFill>
            <a:prstDash val="solid"/>
          </a:ln>
        </p:spPr>
      </p:sp>
      <p:sp>
        <p:nvSpPr>
          <p:cNvPr id="41" name="Text 39"/>
          <p:cNvSpPr/>
          <p:nvPr/>
        </p:nvSpPr>
        <p:spPr>
          <a:xfrm>
            <a:off x="292608" y="2624328"/>
            <a:ext cx="199339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Lymph Nodes</a:t>
            </a:r>
            <a:endParaRPr lang="en-US" sz="1050" dirty="0"/>
          </a:p>
        </p:txBody>
      </p:sp>
      <p:sp>
        <p:nvSpPr>
          <p:cNvPr id="42" name="Shape 40"/>
          <p:cNvSpPr/>
          <p:nvPr/>
        </p:nvSpPr>
        <p:spPr>
          <a:xfrm>
            <a:off x="2331720" y="2624328"/>
            <a:ext cx="640080" cy="301752"/>
          </a:xfrm>
          <a:prstGeom prst="rect">
            <a:avLst/>
          </a:prstGeom>
          <a:solidFill>
            <a:srgbClr val="FFFFFF"/>
          </a:solidFill>
          <a:ln w="12700">
            <a:solidFill>
              <a:srgbClr val="C5D5DE"/>
            </a:solidFill>
            <a:prstDash val="solid"/>
          </a:ln>
        </p:spPr>
      </p:sp>
      <p:sp>
        <p:nvSpPr>
          <p:cNvPr id="43" name="Text 41"/>
          <p:cNvSpPr/>
          <p:nvPr/>
        </p:nvSpPr>
        <p:spPr>
          <a:xfrm>
            <a:off x="2395728" y="2624328"/>
            <a:ext cx="53035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3.718</a:t>
            </a:r>
            <a:endParaRPr lang="en-US" sz="1050" dirty="0"/>
          </a:p>
        </p:txBody>
      </p:sp>
      <p:sp>
        <p:nvSpPr>
          <p:cNvPr id="44" name="Shape 42"/>
          <p:cNvSpPr/>
          <p:nvPr/>
        </p:nvSpPr>
        <p:spPr>
          <a:xfrm>
            <a:off x="2971800" y="2624328"/>
            <a:ext cx="365760" cy="301752"/>
          </a:xfrm>
          <a:prstGeom prst="rect">
            <a:avLst/>
          </a:prstGeom>
          <a:solidFill>
            <a:srgbClr val="FFFFFF"/>
          </a:solidFill>
          <a:ln w="12700">
            <a:solidFill>
              <a:srgbClr val="C5D5DE"/>
            </a:solidFill>
            <a:prstDash val="solid"/>
          </a:ln>
        </p:spPr>
      </p:sp>
      <p:sp>
        <p:nvSpPr>
          <p:cNvPr id="45" name="Text 43"/>
          <p:cNvSpPr/>
          <p:nvPr/>
        </p:nvSpPr>
        <p:spPr>
          <a:xfrm>
            <a:off x="3035808" y="2624328"/>
            <a:ext cx="25603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a:t>
            </a:r>
            <a:endParaRPr lang="en-US" sz="1050" dirty="0"/>
          </a:p>
        </p:txBody>
      </p:sp>
      <p:sp>
        <p:nvSpPr>
          <p:cNvPr id="46" name="Shape 44"/>
          <p:cNvSpPr/>
          <p:nvPr/>
        </p:nvSpPr>
        <p:spPr>
          <a:xfrm>
            <a:off x="3337560" y="2624328"/>
            <a:ext cx="1554480" cy="301752"/>
          </a:xfrm>
          <a:prstGeom prst="rect">
            <a:avLst/>
          </a:prstGeom>
          <a:solidFill>
            <a:srgbClr val="FFFFFF"/>
          </a:solidFill>
          <a:ln w="12700">
            <a:solidFill>
              <a:srgbClr val="C5D5DE"/>
            </a:solidFill>
            <a:prstDash val="solid"/>
          </a:ln>
        </p:spPr>
      </p:sp>
      <p:sp>
        <p:nvSpPr>
          <p:cNvPr id="47" name="Text 45"/>
          <p:cNvSpPr/>
          <p:nvPr/>
        </p:nvSpPr>
        <p:spPr>
          <a:xfrm>
            <a:off x="3401568" y="2624328"/>
            <a:ext cx="1444752" cy="301752"/>
          </a:xfrm>
          <a:prstGeom prst="rect">
            <a:avLst/>
          </a:prstGeom>
          <a:noFill/>
          <a:ln/>
        </p:spPr>
        <p:txBody>
          <a:bodyPr wrap="square" rtlCol="0" anchor="ctr"/>
          <a:lstStyle/>
          <a:p>
            <a:pPr marL="0" indent="0">
              <a:buNone/>
            </a:pPr>
            <a:r>
              <a:rPr lang="en-US" sz="1050" dirty="0">
                <a:solidFill>
                  <a:srgbClr val="D4870A"/>
                </a:solidFill>
                <a:latin typeface="Calibri" pitchFamily="34" charset="0"/>
                <a:ea typeface="Calibri" pitchFamily="34" charset="-122"/>
                <a:cs typeface="Calibri" pitchFamily="34" charset="-120"/>
              </a:rPr>
              <a:t>0.054</a:t>
            </a:r>
            <a:endParaRPr lang="en-US" sz="1050" dirty="0"/>
          </a:p>
        </p:txBody>
      </p:sp>
      <p:sp>
        <p:nvSpPr>
          <p:cNvPr id="48" name="Shape 46"/>
          <p:cNvSpPr/>
          <p:nvPr/>
        </p:nvSpPr>
        <p:spPr>
          <a:xfrm>
            <a:off x="4892040" y="2624328"/>
            <a:ext cx="1600200" cy="301752"/>
          </a:xfrm>
          <a:prstGeom prst="rect">
            <a:avLst/>
          </a:prstGeom>
          <a:solidFill>
            <a:srgbClr val="FFFFFF"/>
          </a:solidFill>
          <a:ln w="12700">
            <a:solidFill>
              <a:srgbClr val="C5D5DE"/>
            </a:solidFill>
            <a:prstDash val="solid"/>
          </a:ln>
        </p:spPr>
      </p:sp>
      <p:sp>
        <p:nvSpPr>
          <p:cNvPr id="49" name="Text 47"/>
          <p:cNvSpPr/>
          <p:nvPr/>
        </p:nvSpPr>
        <p:spPr>
          <a:xfrm>
            <a:off x="4956048" y="2624328"/>
            <a:ext cx="1490472" cy="301752"/>
          </a:xfrm>
          <a:prstGeom prst="rect">
            <a:avLst/>
          </a:prstGeom>
          <a:noFill/>
          <a:ln/>
        </p:spPr>
        <p:txBody>
          <a:bodyPr wrap="square" rtlCol="0" anchor="ctr"/>
          <a:lstStyle/>
          <a:p>
            <a:pPr marL="0" indent="0">
              <a:buNone/>
            </a:pPr>
            <a:r>
              <a:rPr lang="en-US" sz="1050" dirty="0">
                <a:solidFill>
                  <a:srgbClr val="D4870A"/>
                </a:solidFill>
                <a:latin typeface="Calibri" pitchFamily="34" charset="0"/>
                <a:ea typeface="Calibri" pitchFamily="34" charset="-122"/>
                <a:cs typeface="Calibri" pitchFamily="34" charset="-120"/>
              </a:rPr>
              <a:t>Borderline</a:t>
            </a:r>
            <a:endParaRPr lang="en-US" sz="1050" dirty="0"/>
          </a:p>
        </p:txBody>
      </p:sp>
      <p:sp>
        <p:nvSpPr>
          <p:cNvPr id="50" name="Shape 48"/>
          <p:cNvSpPr/>
          <p:nvPr/>
        </p:nvSpPr>
        <p:spPr>
          <a:xfrm>
            <a:off x="228600" y="2926080"/>
            <a:ext cx="2103120" cy="301752"/>
          </a:xfrm>
          <a:prstGeom prst="rect">
            <a:avLst/>
          </a:prstGeom>
          <a:solidFill>
            <a:srgbClr val="EDF4F6"/>
          </a:solidFill>
          <a:ln w="12700">
            <a:solidFill>
              <a:srgbClr val="C5D5DE"/>
            </a:solidFill>
            <a:prstDash val="solid"/>
          </a:ln>
        </p:spPr>
      </p:sp>
      <p:sp>
        <p:nvSpPr>
          <p:cNvPr id="51" name="Text 49"/>
          <p:cNvSpPr/>
          <p:nvPr/>
        </p:nvSpPr>
        <p:spPr>
          <a:xfrm>
            <a:off x="292608" y="2926080"/>
            <a:ext cx="199339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Histologic Grade</a:t>
            </a:r>
            <a:endParaRPr lang="en-US" sz="1050" dirty="0"/>
          </a:p>
        </p:txBody>
      </p:sp>
      <p:sp>
        <p:nvSpPr>
          <p:cNvPr id="52" name="Shape 50"/>
          <p:cNvSpPr/>
          <p:nvPr/>
        </p:nvSpPr>
        <p:spPr>
          <a:xfrm>
            <a:off x="2331720" y="2926080"/>
            <a:ext cx="640080" cy="301752"/>
          </a:xfrm>
          <a:prstGeom prst="rect">
            <a:avLst/>
          </a:prstGeom>
          <a:solidFill>
            <a:srgbClr val="EDF4F6"/>
          </a:solidFill>
          <a:ln w="12700">
            <a:solidFill>
              <a:srgbClr val="C5D5DE"/>
            </a:solidFill>
            <a:prstDash val="solid"/>
          </a:ln>
        </p:spPr>
      </p:sp>
      <p:sp>
        <p:nvSpPr>
          <p:cNvPr id="53" name="Text 51"/>
          <p:cNvSpPr/>
          <p:nvPr/>
        </p:nvSpPr>
        <p:spPr>
          <a:xfrm>
            <a:off x="2395728" y="2926080"/>
            <a:ext cx="53035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34.16</a:t>
            </a:r>
            <a:endParaRPr lang="en-US" sz="1050" dirty="0"/>
          </a:p>
        </p:txBody>
      </p:sp>
      <p:sp>
        <p:nvSpPr>
          <p:cNvPr id="54" name="Shape 52"/>
          <p:cNvSpPr/>
          <p:nvPr/>
        </p:nvSpPr>
        <p:spPr>
          <a:xfrm>
            <a:off x="2971800" y="2926080"/>
            <a:ext cx="365760" cy="301752"/>
          </a:xfrm>
          <a:prstGeom prst="rect">
            <a:avLst/>
          </a:prstGeom>
          <a:solidFill>
            <a:srgbClr val="EDF4F6"/>
          </a:solidFill>
          <a:ln w="12700">
            <a:solidFill>
              <a:srgbClr val="C5D5DE"/>
            </a:solidFill>
            <a:prstDash val="solid"/>
          </a:ln>
        </p:spPr>
      </p:sp>
      <p:sp>
        <p:nvSpPr>
          <p:cNvPr id="55" name="Text 53"/>
          <p:cNvSpPr/>
          <p:nvPr/>
        </p:nvSpPr>
        <p:spPr>
          <a:xfrm>
            <a:off x="3035808" y="2926080"/>
            <a:ext cx="25603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2</a:t>
            </a:r>
            <a:endParaRPr lang="en-US" sz="1050" dirty="0"/>
          </a:p>
        </p:txBody>
      </p:sp>
      <p:sp>
        <p:nvSpPr>
          <p:cNvPr id="56" name="Shape 54"/>
          <p:cNvSpPr/>
          <p:nvPr/>
        </p:nvSpPr>
        <p:spPr>
          <a:xfrm>
            <a:off x="3337560" y="2926080"/>
            <a:ext cx="1554480" cy="301752"/>
          </a:xfrm>
          <a:prstGeom prst="rect">
            <a:avLst/>
          </a:prstGeom>
          <a:solidFill>
            <a:srgbClr val="EDF4F6"/>
          </a:solidFill>
          <a:ln w="12700">
            <a:solidFill>
              <a:srgbClr val="C5D5DE"/>
            </a:solidFill>
            <a:prstDash val="solid"/>
          </a:ln>
        </p:spPr>
      </p:sp>
      <p:sp>
        <p:nvSpPr>
          <p:cNvPr id="57" name="Text 55"/>
          <p:cNvSpPr/>
          <p:nvPr/>
        </p:nvSpPr>
        <p:spPr>
          <a:xfrm>
            <a:off x="3401568" y="2926080"/>
            <a:ext cx="1444752" cy="301752"/>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3.8×10⁻⁸ ★★★</a:t>
            </a:r>
            <a:endParaRPr lang="en-US" sz="1050" dirty="0"/>
          </a:p>
        </p:txBody>
      </p:sp>
      <p:sp>
        <p:nvSpPr>
          <p:cNvPr id="58" name="Shape 56"/>
          <p:cNvSpPr/>
          <p:nvPr/>
        </p:nvSpPr>
        <p:spPr>
          <a:xfrm>
            <a:off x="4892040" y="2926080"/>
            <a:ext cx="1600200" cy="301752"/>
          </a:xfrm>
          <a:prstGeom prst="rect">
            <a:avLst/>
          </a:prstGeom>
          <a:solidFill>
            <a:srgbClr val="EDF4F6"/>
          </a:solidFill>
          <a:ln w="12700">
            <a:solidFill>
              <a:srgbClr val="C5D5DE"/>
            </a:solidFill>
            <a:prstDash val="solid"/>
          </a:ln>
        </p:spPr>
      </p:sp>
      <p:sp>
        <p:nvSpPr>
          <p:cNvPr id="59" name="Text 57"/>
          <p:cNvSpPr/>
          <p:nvPr/>
        </p:nvSpPr>
        <p:spPr>
          <a:xfrm>
            <a:off x="4956048" y="2926080"/>
            <a:ext cx="1490472" cy="301752"/>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VIOLATED ✗</a:t>
            </a:r>
            <a:endParaRPr lang="en-US" sz="1050" dirty="0"/>
          </a:p>
        </p:txBody>
      </p:sp>
      <p:sp>
        <p:nvSpPr>
          <p:cNvPr id="60" name="Shape 58"/>
          <p:cNvSpPr/>
          <p:nvPr/>
        </p:nvSpPr>
        <p:spPr>
          <a:xfrm>
            <a:off x="228600" y="3227832"/>
            <a:ext cx="2103120" cy="301752"/>
          </a:xfrm>
          <a:prstGeom prst="rect">
            <a:avLst/>
          </a:prstGeom>
          <a:solidFill>
            <a:srgbClr val="FFFFFF"/>
          </a:solidFill>
          <a:ln w="12700">
            <a:solidFill>
              <a:srgbClr val="C5D5DE"/>
            </a:solidFill>
            <a:prstDash val="solid"/>
          </a:ln>
        </p:spPr>
      </p:sp>
      <p:sp>
        <p:nvSpPr>
          <p:cNvPr id="61" name="Text 59"/>
          <p:cNvSpPr/>
          <p:nvPr/>
        </p:nvSpPr>
        <p:spPr>
          <a:xfrm>
            <a:off x="292608" y="3227832"/>
            <a:ext cx="199339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Tumor Stage</a:t>
            </a:r>
            <a:endParaRPr lang="en-US" sz="1050" dirty="0"/>
          </a:p>
        </p:txBody>
      </p:sp>
      <p:sp>
        <p:nvSpPr>
          <p:cNvPr id="62" name="Shape 60"/>
          <p:cNvSpPr/>
          <p:nvPr/>
        </p:nvSpPr>
        <p:spPr>
          <a:xfrm>
            <a:off x="2331720" y="3227832"/>
            <a:ext cx="640080" cy="301752"/>
          </a:xfrm>
          <a:prstGeom prst="rect">
            <a:avLst/>
          </a:prstGeom>
          <a:solidFill>
            <a:srgbClr val="FFFFFF"/>
          </a:solidFill>
          <a:ln w="12700">
            <a:solidFill>
              <a:srgbClr val="C5D5DE"/>
            </a:solidFill>
            <a:prstDash val="solid"/>
          </a:ln>
        </p:spPr>
      </p:sp>
      <p:sp>
        <p:nvSpPr>
          <p:cNvPr id="63" name="Text 61"/>
          <p:cNvSpPr/>
          <p:nvPr/>
        </p:nvSpPr>
        <p:spPr>
          <a:xfrm>
            <a:off x="2395728" y="3227832"/>
            <a:ext cx="53035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18.17</a:t>
            </a:r>
            <a:endParaRPr lang="en-US" sz="1050" dirty="0"/>
          </a:p>
        </p:txBody>
      </p:sp>
      <p:sp>
        <p:nvSpPr>
          <p:cNvPr id="64" name="Shape 62"/>
          <p:cNvSpPr/>
          <p:nvPr/>
        </p:nvSpPr>
        <p:spPr>
          <a:xfrm>
            <a:off x="2971800" y="3227832"/>
            <a:ext cx="365760" cy="301752"/>
          </a:xfrm>
          <a:prstGeom prst="rect">
            <a:avLst/>
          </a:prstGeom>
          <a:solidFill>
            <a:srgbClr val="FFFFFF"/>
          </a:solidFill>
          <a:ln w="12700">
            <a:solidFill>
              <a:srgbClr val="C5D5DE"/>
            </a:solidFill>
            <a:prstDash val="solid"/>
          </a:ln>
        </p:spPr>
      </p:sp>
      <p:sp>
        <p:nvSpPr>
          <p:cNvPr id="65" name="Text 63"/>
          <p:cNvSpPr/>
          <p:nvPr/>
        </p:nvSpPr>
        <p:spPr>
          <a:xfrm>
            <a:off x="3035808" y="3227832"/>
            <a:ext cx="25603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4</a:t>
            </a:r>
            <a:endParaRPr lang="en-US" sz="1050" dirty="0"/>
          </a:p>
        </p:txBody>
      </p:sp>
      <p:sp>
        <p:nvSpPr>
          <p:cNvPr id="66" name="Shape 64"/>
          <p:cNvSpPr/>
          <p:nvPr/>
        </p:nvSpPr>
        <p:spPr>
          <a:xfrm>
            <a:off x="3337560" y="3227832"/>
            <a:ext cx="1554480" cy="301752"/>
          </a:xfrm>
          <a:prstGeom prst="rect">
            <a:avLst/>
          </a:prstGeom>
          <a:solidFill>
            <a:srgbClr val="FFFFFF"/>
          </a:solidFill>
          <a:ln w="12700">
            <a:solidFill>
              <a:srgbClr val="C5D5DE"/>
            </a:solidFill>
            <a:prstDash val="solid"/>
          </a:ln>
        </p:spPr>
      </p:sp>
      <p:sp>
        <p:nvSpPr>
          <p:cNvPr id="67" name="Text 65"/>
          <p:cNvSpPr/>
          <p:nvPr/>
        </p:nvSpPr>
        <p:spPr>
          <a:xfrm>
            <a:off x="3401568" y="3227832"/>
            <a:ext cx="1444752" cy="301752"/>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0.001 ★★★</a:t>
            </a:r>
            <a:endParaRPr lang="en-US" sz="1050" dirty="0"/>
          </a:p>
        </p:txBody>
      </p:sp>
      <p:sp>
        <p:nvSpPr>
          <p:cNvPr id="68" name="Shape 66"/>
          <p:cNvSpPr/>
          <p:nvPr/>
        </p:nvSpPr>
        <p:spPr>
          <a:xfrm>
            <a:off x="4892040" y="3227832"/>
            <a:ext cx="1600200" cy="301752"/>
          </a:xfrm>
          <a:prstGeom prst="rect">
            <a:avLst/>
          </a:prstGeom>
          <a:solidFill>
            <a:srgbClr val="FFFFFF"/>
          </a:solidFill>
          <a:ln w="12700">
            <a:solidFill>
              <a:srgbClr val="C5D5DE"/>
            </a:solidFill>
            <a:prstDash val="solid"/>
          </a:ln>
        </p:spPr>
      </p:sp>
      <p:sp>
        <p:nvSpPr>
          <p:cNvPr id="69" name="Text 67"/>
          <p:cNvSpPr/>
          <p:nvPr/>
        </p:nvSpPr>
        <p:spPr>
          <a:xfrm>
            <a:off x="4956048" y="3227832"/>
            <a:ext cx="1490472" cy="301752"/>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VIOLATED ✗</a:t>
            </a:r>
            <a:endParaRPr lang="en-US" sz="1050" dirty="0"/>
          </a:p>
        </p:txBody>
      </p:sp>
      <p:sp>
        <p:nvSpPr>
          <p:cNvPr id="70" name="Shape 68"/>
          <p:cNvSpPr/>
          <p:nvPr/>
        </p:nvSpPr>
        <p:spPr>
          <a:xfrm>
            <a:off x="228600" y="3529584"/>
            <a:ext cx="2103120" cy="301752"/>
          </a:xfrm>
          <a:prstGeom prst="rect">
            <a:avLst/>
          </a:prstGeom>
          <a:solidFill>
            <a:srgbClr val="EDF4F6"/>
          </a:solidFill>
          <a:ln w="12700">
            <a:solidFill>
              <a:srgbClr val="C5D5DE"/>
            </a:solidFill>
            <a:prstDash val="solid"/>
          </a:ln>
        </p:spPr>
      </p:sp>
      <p:sp>
        <p:nvSpPr>
          <p:cNvPr id="71" name="Text 69"/>
          <p:cNvSpPr/>
          <p:nvPr/>
        </p:nvSpPr>
        <p:spPr>
          <a:xfrm>
            <a:off x="292608" y="3529584"/>
            <a:ext cx="199339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ER Status</a:t>
            </a:r>
            <a:endParaRPr lang="en-US" sz="1050" dirty="0"/>
          </a:p>
        </p:txBody>
      </p:sp>
      <p:sp>
        <p:nvSpPr>
          <p:cNvPr id="72" name="Shape 70"/>
          <p:cNvSpPr/>
          <p:nvPr/>
        </p:nvSpPr>
        <p:spPr>
          <a:xfrm>
            <a:off x="2331720" y="3529584"/>
            <a:ext cx="640080" cy="301752"/>
          </a:xfrm>
          <a:prstGeom prst="rect">
            <a:avLst/>
          </a:prstGeom>
          <a:solidFill>
            <a:srgbClr val="EDF4F6"/>
          </a:solidFill>
          <a:ln w="12700">
            <a:solidFill>
              <a:srgbClr val="C5D5DE"/>
            </a:solidFill>
            <a:prstDash val="solid"/>
          </a:ln>
        </p:spPr>
      </p:sp>
      <p:sp>
        <p:nvSpPr>
          <p:cNvPr id="73" name="Text 71"/>
          <p:cNvSpPr/>
          <p:nvPr/>
        </p:nvSpPr>
        <p:spPr>
          <a:xfrm>
            <a:off x="2395728" y="3529584"/>
            <a:ext cx="53035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57.08</a:t>
            </a:r>
            <a:endParaRPr lang="en-US" sz="1050" dirty="0"/>
          </a:p>
        </p:txBody>
      </p:sp>
      <p:sp>
        <p:nvSpPr>
          <p:cNvPr id="74" name="Shape 72"/>
          <p:cNvSpPr/>
          <p:nvPr/>
        </p:nvSpPr>
        <p:spPr>
          <a:xfrm>
            <a:off x="2971800" y="3529584"/>
            <a:ext cx="365760" cy="301752"/>
          </a:xfrm>
          <a:prstGeom prst="rect">
            <a:avLst/>
          </a:prstGeom>
          <a:solidFill>
            <a:srgbClr val="EDF4F6"/>
          </a:solidFill>
          <a:ln w="12700">
            <a:solidFill>
              <a:srgbClr val="C5D5DE"/>
            </a:solidFill>
            <a:prstDash val="solid"/>
          </a:ln>
        </p:spPr>
      </p:sp>
      <p:sp>
        <p:nvSpPr>
          <p:cNvPr id="75" name="Text 73"/>
          <p:cNvSpPr/>
          <p:nvPr/>
        </p:nvSpPr>
        <p:spPr>
          <a:xfrm>
            <a:off x="3035808" y="3529584"/>
            <a:ext cx="25603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a:t>
            </a:r>
            <a:endParaRPr lang="en-US" sz="1050" dirty="0"/>
          </a:p>
        </p:txBody>
      </p:sp>
      <p:sp>
        <p:nvSpPr>
          <p:cNvPr id="76" name="Shape 74"/>
          <p:cNvSpPr/>
          <p:nvPr/>
        </p:nvSpPr>
        <p:spPr>
          <a:xfrm>
            <a:off x="3337560" y="3529584"/>
            <a:ext cx="1554480" cy="301752"/>
          </a:xfrm>
          <a:prstGeom prst="rect">
            <a:avLst/>
          </a:prstGeom>
          <a:solidFill>
            <a:srgbClr val="EDF4F6"/>
          </a:solidFill>
          <a:ln w="12700">
            <a:solidFill>
              <a:srgbClr val="C5D5DE"/>
            </a:solidFill>
            <a:prstDash val="solid"/>
          </a:ln>
        </p:spPr>
      </p:sp>
      <p:sp>
        <p:nvSpPr>
          <p:cNvPr id="77" name="Text 75"/>
          <p:cNvSpPr/>
          <p:nvPr/>
        </p:nvSpPr>
        <p:spPr>
          <a:xfrm>
            <a:off x="3401568" y="3529584"/>
            <a:ext cx="1444752" cy="301752"/>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4.2×10⁻¹⁴ ★★★</a:t>
            </a:r>
            <a:endParaRPr lang="en-US" sz="1050" dirty="0"/>
          </a:p>
        </p:txBody>
      </p:sp>
      <p:sp>
        <p:nvSpPr>
          <p:cNvPr id="78" name="Shape 76"/>
          <p:cNvSpPr/>
          <p:nvPr/>
        </p:nvSpPr>
        <p:spPr>
          <a:xfrm>
            <a:off x="4892040" y="3529584"/>
            <a:ext cx="1600200" cy="301752"/>
          </a:xfrm>
          <a:prstGeom prst="rect">
            <a:avLst/>
          </a:prstGeom>
          <a:solidFill>
            <a:srgbClr val="EDF4F6"/>
          </a:solidFill>
          <a:ln w="12700">
            <a:solidFill>
              <a:srgbClr val="C5D5DE"/>
            </a:solidFill>
            <a:prstDash val="solid"/>
          </a:ln>
        </p:spPr>
      </p:sp>
      <p:sp>
        <p:nvSpPr>
          <p:cNvPr id="79" name="Text 77"/>
          <p:cNvSpPr/>
          <p:nvPr/>
        </p:nvSpPr>
        <p:spPr>
          <a:xfrm>
            <a:off x="4956048" y="3529584"/>
            <a:ext cx="1490472" cy="301752"/>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VIOLATED ✗</a:t>
            </a:r>
            <a:endParaRPr lang="en-US" sz="1050" dirty="0"/>
          </a:p>
        </p:txBody>
      </p:sp>
      <p:sp>
        <p:nvSpPr>
          <p:cNvPr id="80" name="Shape 78"/>
          <p:cNvSpPr/>
          <p:nvPr/>
        </p:nvSpPr>
        <p:spPr>
          <a:xfrm>
            <a:off x="228600" y="3831336"/>
            <a:ext cx="2103120" cy="301752"/>
          </a:xfrm>
          <a:prstGeom prst="rect">
            <a:avLst/>
          </a:prstGeom>
          <a:solidFill>
            <a:srgbClr val="FFFFFF"/>
          </a:solidFill>
          <a:ln w="12700">
            <a:solidFill>
              <a:srgbClr val="C5D5DE"/>
            </a:solidFill>
            <a:prstDash val="solid"/>
          </a:ln>
        </p:spPr>
      </p:sp>
      <p:sp>
        <p:nvSpPr>
          <p:cNvPr id="81" name="Text 79"/>
          <p:cNvSpPr/>
          <p:nvPr/>
        </p:nvSpPr>
        <p:spPr>
          <a:xfrm>
            <a:off x="292608" y="3831336"/>
            <a:ext cx="199339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PR Status</a:t>
            </a:r>
            <a:endParaRPr lang="en-US" sz="1050" dirty="0"/>
          </a:p>
        </p:txBody>
      </p:sp>
      <p:sp>
        <p:nvSpPr>
          <p:cNvPr id="82" name="Shape 80"/>
          <p:cNvSpPr/>
          <p:nvPr/>
        </p:nvSpPr>
        <p:spPr>
          <a:xfrm>
            <a:off x="2331720" y="3831336"/>
            <a:ext cx="640080" cy="301752"/>
          </a:xfrm>
          <a:prstGeom prst="rect">
            <a:avLst/>
          </a:prstGeom>
          <a:solidFill>
            <a:srgbClr val="FFFFFF"/>
          </a:solidFill>
          <a:ln w="12700">
            <a:solidFill>
              <a:srgbClr val="C5D5DE"/>
            </a:solidFill>
            <a:prstDash val="solid"/>
          </a:ln>
        </p:spPr>
      </p:sp>
      <p:sp>
        <p:nvSpPr>
          <p:cNvPr id="83" name="Text 81"/>
          <p:cNvSpPr/>
          <p:nvPr/>
        </p:nvSpPr>
        <p:spPr>
          <a:xfrm>
            <a:off x="2395728" y="3831336"/>
            <a:ext cx="53035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28.29</a:t>
            </a:r>
            <a:endParaRPr lang="en-US" sz="1050" dirty="0"/>
          </a:p>
        </p:txBody>
      </p:sp>
      <p:sp>
        <p:nvSpPr>
          <p:cNvPr id="84" name="Shape 82"/>
          <p:cNvSpPr/>
          <p:nvPr/>
        </p:nvSpPr>
        <p:spPr>
          <a:xfrm>
            <a:off x="2971800" y="3831336"/>
            <a:ext cx="365760" cy="301752"/>
          </a:xfrm>
          <a:prstGeom prst="rect">
            <a:avLst/>
          </a:prstGeom>
          <a:solidFill>
            <a:srgbClr val="FFFFFF"/>
          </a:solidFill>
          <a:ln w="12700">
            <a:solidFill>
              <a:srgbClr val="C5D5DE"/>
            </a:solidFill>
            <a:prstDash val="solid"/>
          </a:ln>
        </p:spPr>
      </p:sp>
      <p:sp>
        <p:nvSpPr>
          <p:cNvPr id="85" name="Text 83"/>
          <p:cNvSpPr/>
          <p:nvPr/>
        </p:nvSpPr>
        <p:spPr>
          <a:xfrm>
            <a:off x="3035808" y="3831336"/>
            <a:ext cx="25603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a:t>
            </a:r>
            <a:endParaRPr lang="en-US" sz="1050" dirty="0"/>
          </a:p>
        </p:txBody>
      </p:sp>
      <p:sp>
        <p:nvSpPr>
          <p:cNvPr id="86" name="Shape 84"/>
          <p:cNvSpPr/>
          <p:nvPr/>
        </p:nvSpPr>
        <p:spPr>
          <a:xfrm>
            <a:off x="3337560" y="3831336"/>
            <a:ext cx="1554480" cy="301752"/>
          </a:xfrm>
          <a:prstGeom prst="rect">
            <a:avLst/>
          </a:prstGeom>
          <a:solidFill>
            <a:srgbClr val="FFFFFF"/>
          </a:solidFill>
          <a:ln w="12700">
            <a:solidFill>
              <a:srgbClr val="C5D5DE"/>
            </a:solidFill>
            <a:prstDash val="solid"/>
          </a:ln>
        </p:spPr>
      </p:sp>
      <p:sp>
        <p:nvSpPr>
          <p:cNvPr id="87" name="Text 85"/>
          <p:cNvSpPr/>
          <p:nvPr/>
        </p:nvSpPr>
        <p:spPr>
          <a:xfrm>
            <a:off x="3401568" y="3831336"/>
            <a:ext cx="1444752" cy="301752"/>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1.0×10⁻⁷ ★★★</a:t>
            </a:r>
            <a:endParaRPr lang="en-US" sz="1050" dirty="0"/>
          </a:p>
        </p:txBody>
      </p:sp>
      <p:sp>
        <p:nvSpPr>
          <p:cNvPr id="88" name="Shape 86"/>
          <p:cNvSpPr/>
          <p:nvPr/>
        </p:nvSpPr>
        <p:spPr>
          <a:xfrm>
            <a:off x="4892040" y="3831336"/>
            <a:ext cx="1600200" cy="301752"/>
          </a:xfrm>
          <a:prstGeom prst="rect">
            <a:avLst/>
          </a:prstGeom>
          <a:solidFill>
            <a:srgbClr val="FFFFFF"/>
          </a:solidFill>
          <a:ln w="12700">
            <a:solidFill>
              <a:srgbClr val="C5D5DE"/>
            </a:solidFill>
            <a:prstDash val="solid"/>
          </a:ln>
        </p:spPr>
      </p:sp>
      <p:sp>
        <p:nvSpPr>
          <p:cNvPr id="89" name="Text 87"/>
          <p:cNvSpPr/>
          <p:nvPr/>
        </p:nvSpPr>
        <p:spPr>
          <a:xfrm>
            <a:off x="4956048" y="3831336"/>
            <a:ext cx="1490472" cy="301752"/>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VIOLATED ✗</a:t>
            </a:r>
            <a:endParaRPr lang="en-US" sz="1050" dirty="0"/>
          </a:p>
        </p:txBody>
      </p:sp>
      <p:sp>
        <p:nvSpPr>
          <p:cNvPr id="90" name="Shape 88"/>
          <p:cNvSpPr/>
          <p:nvPr/>
        </p:nvSpPr>
        <p:spPr>
          <a:xfrm>
            <a:off x="228600" y="4133088"/>
            <a:ext cx="2103120" cy="301752"/>
          </a:xfrm>
          <a:prstGeom prst="rect">
            <a:avLst/>
          </a:prstGeom>
          <a:solidFill>
            <a:srgbClr val="EDF4F6"/>
          </a:solidFill>
          <a:ln w="12700">
            <a:solidFill>
              <a:srgbClr val="C5D5DE"/>
            </a:solidFill>
            <a:prstDash val="solid"/>
          </a:ln>
        </p:spPr>
      </p:sp>
      <p:sp>
        <p:nvSpPr>
          <p:cNvPr id="91" name="Text 89"/>
          <p:cNvSpPr/>
          <p:nvPr/>
        </p:nvSpPr>
        <p:spPr>
          <a:xfrm>
            <a:off x="292608" y="4133088"/>
            <a:ext cx="199339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HER2 Status</a:t>
            </a:r>
            <a:endParaRPr lang="en-US" sz="1050" dirty="0"/>
          </a:p>
        </p:txBody>
      </p:sp>
      <p:sp>
        <p:nvSpPr>
          <p:cNvPr id="92" name="Shape 90"/>
          <p:cNvSpPr/>
          <p:nvPr/>
        </p:nvSpPr>
        <p:spPr>
          <a:xfrm>
            <a:off x="2331720" y="4133088"/>
            <a:ext cx="640080" cy="301752"/>
          </a:xfrm>
          <a:prstGeom prst="rect">
            <a:avLst/>
          </a:prstGeom>
          <a:solidFill>
            <a:srgbClr val="EDF4F6"/>
          </a:solidFill>
          <a:ln w="12700">
            <a:solidFill>
              <a:srgbClr val="C5D5DE"/>
            </a:solidFill>
            <a:prstDash val="solid"/>
          </a:ln>
        </p:spPr>
      </p:sp>
      <p:sp>
        <p:nvSpPr>
          <p:cNvPr id="93" name="Text 91"/>
          <p:cNvSpPr/>
          <p:nvPr/>
        </p:nvSpPr>
        <p:spPr>
          <a:xfrm>
            <a:off x="2395728" y="4133088"/>
            <a:ext cx="53035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9.070</a:t>
            </a:r>
            <a:endParaRPr lang="en-US" sz="1050" dirty="0"/>
          </a:p>
        </p:txBody>
      </p:sp>
      <p:sp>
        <p:nvSpPr>
          <p:cNvPr id="94" name="Shape 92"/>
          <p:cNvSpPr/>
          <p:nvPr/>
        </p:nvSpPr>
        <p:spPr>
          <a:xfrm>
            <a:off x="2971800" y="4133088"/>
            <a:ext cx="365760" cy="301752"/>
          </a:xfrm>
          <a:prstGeom prst="rect">
            <a:avLst/>
          </a:prstGeom>
          <a:solidFill>
            <a:srgbClr val="EDF4F6"/>
          </a:solidFill>
          <a:ln w="12700">
            <a:solidFill>
              <a:srgbClr val="C5D5DE"/>
            </a:solidFill>
            <a:prstDash val="solid"/>
          </a:ln>
        </p:spPr>
      </p:sp>
      <p:sp>
        <p:nvSpPr>
          <p:cNvPr id="95" name="Text 93"/>
          <p:cNvSpPr/>
          <p:nvPr/>
        </p:nvSpPr>
        <p:spPr>
          <a:xfrm>
            <a:off x="3035808" y="4133088"/>
            <a:ext cx="25603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a:t>
            </a:r>
            <a:endParaRPr lang="en-US" sz="1050" dirty="0"/>
          </a:p>
        </p:txBody>
      </p:sp>
      <p:sp>
        <p:nvSpPr>
          <p:cNvPr id="96" name="Shape 94"/>
          <p:cNvSpPr/>
          <p:nvPr/>
        </p:nvSpPr>
        <p:spPr>
          <a:xfrm>
            <a:off x="3337560" y="4133088"/>
            <a:ext cx="1554480" cy="301752"/>
          </a:xfrm>
          <a:prstGeom prst="rect">
            <a:avLst/>
          </a:prstGeom>
          <a:solidFill>
            <a:srgbClr val="EDF4F6"/>
          </a:solidFill>
          <a:ln w="12700">
            <a:solidFill>
              <a:srgbClr val="C5D5DE"/>
            </a:solidFill>
            <a:prstDash val="solid"/>
          </a:ln>
        </p:spPr>
      </p:sp>
      <p:sp>
        <p:nvSpPr>
          <p:cNvPr id="97" name="Text 95"/>
          <p:cNvSpPr/>
          <p:nvPr/>
        </p:nvSpPr>
        <p:spPr>
          <a:xfrm>
            <a:off x="3401568" y="4133088"/>
            <a:ext cx="1444752" cy="301752"/>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0.003 ★★</a:t>
            </a:r>
            <a:endParaRPr lang="en-US" sz="1050" dirty="0"/>
          </a:p>
        </p:txBody>
      </p:sp>
      <p:sp>
        <p:nvSpPr>
          <p:cNvPr id="98" name="Shape 96"/>
          <p:cNvSpPr/>
          <p:nvPr/>
        </p:nvSpPr>
        <p:spPr>
          <a:xfrm>
            <a:off x="4892040" y="4133088"/>
            <a:ext cx="1600200" cy="301752"/>
          </a:xfrm>
          <a:prstGeom prst="rect">
            <a:avLst/>
          </a:prstGeom>
          <a:solidFill>
            <a:srgbClr val="EDF4F6"/>
          </a:solidFill>
          <a:ln w="12700">
            <a:solidFill>
              <a:srgbClr val="C5D5DE"/>
            </a:solidFill>
            <a:prstDash val="solid"/>
          </a:ln>
        </p:spPr>
      </p:sp>
      <p:sp>
        <p:nvSpPr>
          <p:cNvPr id="99" name="Text 97"/>
          <p:cNvSpPr/>
          <p:nvPr/>
        </p:nvSpPr>
        <p:spPr>
          <a:xfrm>
            <a:off x="4956048" y="4133088"/>
            <a:ext cx="1490472" cy="301752"/>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VIOLATED ✗</a:t>
            </a:r>
            <a:endParaRPr lang="en-US" sz="1050" dirty="0"/>
          </a:p>
        </p:txBody>
      </p:sp>
      <p:sp>
        <p:nvSpPr>
          <p:cNvPr id="100" name="Shape 98"/>
          <p:cNvSpPr/>
          <p:nvPr/>
        </p:nvSpPr>
        <p:spPr>
          <a:xfrm>
            <a:off x="228600" y="4434840"/>
            <a:ext cx="2103120" cy="301752"/>
          </a:xfrm>
          <a:prstGeom prst="rect">
            <a:avLst/>
          </a:prstGeom>
          <a:solidFill>
            <a:srgbClr val="FFFFFF"/>
          </a:solidFill>
          <a:ln w="12700">
            <a:solidFill>
              <a:srgbClr val="C5D5DE"/>
            </a:solidFill>
            <a:prstDash val="solid"/>
          </a:ln>
        </p:spPr>
      </p:sp>
      <p:sp>
        <p:nvSpPr>
          <p:cNvPr id="101" name="Text 99"/>
          <p:cNvSpPr/>
          <p:nvPr/>
        </p:nvSpPr>
        <p:spPr>
          <a:xfrm>
            <a:off x="292608" y="4434840"/>
            <a:ext cx="199339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Radiotherapy</a:t>
            </a:r>
            <a:endParaRPr lang="en-US" sz="1050" dirty="0"/>
          </a:p>
        </p:txBody>
      </p:sp>
      <p:sp>
        <p:nvSpPr>
          <p:cNvPr id="102" name="Shape 100"/>
          <p:cNvSpPr/>
          <p:nvPr/>
        </p:nvSpPr>
        <p:spPr>
          <a:xfrm>
            <a:off x="2331720" y="4434840"/>
            <a:ext cx="640080" cy="301752"/>
          </a:xfrm>
          <a:prstGeom prst="rect">
            <a:avLst/>
          </a:prstGeom>
          <a:solidFill>
            <a:srgbClr val="FFFFFF"/>
          </a:solidFill>
          <a:ln w="12700">
            <a:solidFill>
              <a:srgbClr val="C5D5DE"/>
            </a:solidFill>
            <a:prstDash val="solid"/>
          </a:ln>
        </p:spPr>
      </p:sp>
      <p:sp>
        <p:nvSpPr>
          <p:cNvPr id="103" name="Text 101"/>
          <p:cNvSpPr/>
          <p:nvPr/>
        </p:nvSpPr>
        <p:spPr>
          <a:xfrm>
            <a:off x="2395728" y="4434840"/>
            <a:ext cx="53035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1.199</a:t>
            </a:r>
            <a:endParaRPr lang="en-US" sz="1050" dirty="0"/>
          </a:p>
        </p:txBody>
      </p:sp>
      <p:sp>
        <p:nvSpPr>
          <p:cNvPr id="104" name="Shape 102"/>
          <p:cNvSpPr/>
          <p:nvPr/>
        </p:nvSpPr>
        <p:spPr>
          <a:xfrm>
            <a:off x="2971800" y="4434840"/>
            <a:ext cx="365760" cy="301752"/>
          </a:xfrm>
          <a:prstGeom prst="rect">
            <a:avLst/>
          </a:prstGeom>
          <a:solidFill>
            <a:srgbClr val="FFFFFF"/>
          </a:solidFill>
          <a:ln w="12700">
            <a:solidFill>
              <a:srgbClr val="C5D5DE"/>
            </a:solidFill>
            <a:prstDash val="solid"/>
          </a:ln>
        </p:spPr>
      </p:sp>
      <p:sp>
        <p:nvSpPr>
          <p:cNvPr id="105" name="Text 103"/>
          <p:cNvSpPr/>
          <p:nvPr/>
        </p:nvSpPr>
        <p:spPr>
          <a:xfrm>
            <a:off x="3035808" y="4434840"/>
            <a:ext cx="25603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a:t>
            </a:r>
            <a:endParaRPr lang="en-US" sz="1050" dirty="0"/>
          </a:p>
        </p:txBody>
      </p:sp>
      <p:sp>
        <p:nvSpPr>
          <p:cNvPr id="106" name="Shape 104"/>
          <p:cNvSpPr/>
          <p:nvPr/>
        </p:nvSpPr>
        <p:spPr>
          <a:xfrm>
            <a:off x="3337560" y="4434840"/>
            <a:ext cx="1554480" cy="301752"/>
          </a:xfrm>
          <a:prstGeom prst="rect">
            <a:avLst/>
          </a:prstGeom>
          <a:solidFill>
            <a:srgbClr val="FFFFFF"/>
          </a:solidFill>
          <a:ln w="12700">
            <a:solidFill>
              <a:srgbClr val="C5D5DE"/>
            </a:solidFill>
            <a:prstDash val="solid"/>
          </a:ln>
        </p:spPr>
      </p:sp>
      <p:sp>
        <p:nvSpPr>
          <p:cNvPr id="107" name="Text 105"/>
          <p:cNvSpPr/>
          <p:nvPr/>
        </p:nvSpPr>
        <p:spPr>
          <a:xfrm>
            <a:off x="3401568" y="4434840"/>
            <a:ext cx="1444752" cy="301752"/>
          </a:xfrm>
          <a:prstGeom prst="rect">
            <a:avLst/>
          </a:prstGeom>
          <a:noFill/>
          <a:ln/>
        </p:spPr>
        <p:txBody>
          <a:bodyPr wrap="square" rtlCol="0" anchor="ctr"/>
          <a:lstStyle/>
          <a:p>
            <a:pPr marL="0" indent="0">
              <a:buNone/>
            </a:pPr>
            <a:r>
              <a:rPr lang="en-US" sz="1050" dirty="0">
                <a:solidFill>
                  <a:srgbClr val="1E6B3C"/>
                </a:solidFill>
                <a:latin typeface="Calibri" pitchFamily="34" charset="0"/>
                <a:ea typeface="Calibri" pitchFamily="34" charset="-122"/>
                <a:cs typeface="Calibri" pitchFamily="34" charset="-120"/>
              </a:rPr>
              <a:t>0.274 ✓</a:t>
            </a:r>
            <a:endParaRPr lang="en-US" sz="1050" dirty="0"/>
          </a:p>
        </p:txBody>
      </p:sp>
      <p:sp>
        <p:nvSpPr>
          <p:cNvPr id="108" name="Shape 106"/>
          <p:cNvSpPr/>
          <p:nvPr/>
        </p:nvSpPr>
        <p:spPr>
          <a:xfrm>
            <a:off x="4892040" y="4434840"/>
            <a:ext cx="1600200" cy="301752"/>
          </a:xfrm>
          <a:prstGeom prst="rect">
            <a:avLst/>
          </a:prstGeom>
          <a:solidFill>
            <a:srgbClr val="FFFFFF"/>
          </a:solidFill>
          <a:ln w="12700">
            <a:solidFill>
              <a:srgbClr val="C5D5DE"/>
            </a:solidFill>
            <a:prstDash val="solid"/>
          </a:ln>
        </p:spPr>
      </p:sp>
      <p:sp>
        <p:nvSpPr>
          <p:cNvPr id="109" name="Text 107"/>
          <p:cNvSpPr/>
          <p:nvPr/>
        </p:nvSpPr>
        <p:spPr>
          <a:xfrm>
            <a:off x="4956048" y="4434840"/>
            <a:ext cx="1490472" cy="301752"/>
          </a:xfrm>
          <a:prstGeom prst="rect">
            <a:avLst/>
          </a:prstGeom>
          <a:noFill/>
          <a:ln/>
        </p:spPr>
        <p:txBody>
          <a:bodyPr wrap="square" rtlCol="0" anchor="ctr"/>
          <a:lstStyle/>
          <a:p>
            <a:pPr marL="0" indent="0">
              <a:buNone/>
            </a:pPr>
            <a:r>
              <a:rPr lang="en-US" sz="1050" dirty="0">
                <a:solidFill>
                  <a:srgbClr val="1E6B3C"/>
                </a:solidFill>
                <a:latin typeface="Calibri" pitchFamily="34" charset="0"/>
                <a:ea typeface="Calibri" pitchFamily="34" charset="-122"/>
                <a:cs typeface="Calibri" pitchFamily="34" charset="-120"/>
              </a:rPr>
              <a:t>Met ✓</a:t>
            </a:r>
            <a:endParaRPr lang="en-US" sz="1050" dirty="0"/>
          </a:p>
        </p:txBody>
      </p:sp>
      <p:sp>
        <p:nvSpPr>
          <p:cNvPr id="110" name="Shape 108"/>
          <p:cNvSpPr/>
          <p:nvPr/>
        </p:nvSpPr>
        <p:spPr>
          <a:xfrm>
            <a:off x="228600" y="4736592"/>
            <a:ext cx="2103120" cy="301752"/>
          </a:xfrm>
          <a:prstGeom prst="rect">
            <a:avLst/>
          </a:prstGeom>
          <a:solidFill>
            <a:srgbClr val="EDF4F6"/>
          </a:solidFill>
          <a:ln w="12700">
            <a:solidFill>
              <a:srgbClr val="C5D5DE"/>
            </a:solidFill>
            <a:prstDash val="solid"/>
          </a:ln>
        </p:spPr>
      </p:sp>
      <p:sp>
        <p:nvSpPr>
          <p:cNvPr id="111" name="Text 109"/>
          <p:cNvSpPr/>
          <p:nvPr/>
        </p:nvSpPr>
        <p:spPr>
          <a:xfrm>
            <a:off x="292608" y="4736592"/>
            <a:ext cx="199339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GLOBAL TEST</a:t>
            </a:r>
            <a:endParaRPr lang="en-US" sz="1050" dirty="0"/>
          </a:p>
        </p:txBody>
      </p:sp>
      <p:sp>
        <p:nvSpPr>
          <p:cNvPr id="112" name="Shape 110"/>
          <p:cNvSpPr/>
          <p:nvPr/>
        </p:nvSpPr>
        <p:spPr>
          <a:xfrm>
            <a:off x="2331720" y="4736592"/>
            <a:ext cx="640080" cy="301752"/>
          </a:xfrm>
          <a:prstGeom prst="rect">
            <a:avLst/>
          </a:prstGeom>
          <a:solidFill>
            <a:srgbClr val="EDF4F6"/>
          </a:solidFill>
          <a:ln w="12700">
            <a:solidFill>
              <a:srgbClr val="C5D5DE"/>
            </a:solidFill>
            <a:prstDash val="solid"/>
          </a:ln>
        </p:spPr>
      </p:sp>
      <p:sp>
        <p:nvSpPr>
          <p:cNvPr id="113" name="Text 111"/>
          <p:cNvSpPr/>
          <p:nvPr/>
        </p:nvSpPr>
        <p:spPr>
          <a:xfrm>
            <a:off x="2395728" y="4736592"/>
            <a:ext cx="53035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133.77</a:t>
            </a:r>
            <a:endParaRPr lang="en-US" sz="1050" dirty="0"/>
          </a:p>
        </p:txBody>
      </p:sp>
      <p:sp>
        <p:nvSpPr>
          <p:cNvPr id="114" name="Shape 112"/>
          <p:cNvSpPr/>
          <p:nvPr/>
        </p:nvSpPr>
        <p:spPr>
          <a:xfrm>
            <a:off x="2971800" y="4736592"/>
            <a:ext cx="365760" cy="301752"/>
          </a:xfrm>
          <a:prstGeom prst="rect">
            <a:avLst/>
          </a:prstGeom>
          <a:solidFill>
            <a:srgbClr val="EDF4F6"/>
          </a:solidFill>
          <a:ln w="12700">
            <a:solidFill>
              <a:srgbClr val="C5D5DE"/>
            </a:solidFill>
            <a:prstDash val="solid"/>
          </a:ln>
        </p:spPr>
      </p:sp>
      <p:sp>
        <p:nvSpPr>
          <p:cNvPr id="115" name="Text 113"/>
          <p:cNvSpPr/>
          <p:nvPr/>
        </p:nvSpPr>
        <p:spPr>
          <a:xfrm>
            <a:off x="3035808" y="4736592"/>
            <a:ext cx="256032" cy="301752"/>
          </a:xfrm>
          <a:prstGeom prst="rect">
            <a:avLst/>
          </a:prstGeom>
          <a:noFill/>
          <a:ln/>
        </p:spPr>
        <p:txBody>
          <a:bodyPr wrap="square" rtlCol="0" anchor="ctr"/>
          <a:lstStyle/>
          <a:p>
            <a:pPr marL="0" indent="0">
              <a:buNone/>
            </a:pPr>
            <a:r>
              <a:rPr lang="en-US" sz="1050" dirty="0">
                <a:solidFill>
                  <a:srgbClr val="1A2E4A"/>
                </a:solidFill>
                <a:latin typeface="Calibri" pitchFamily="34" charset="0"/>
                <a:ea typeface="Calibri" pitchFamily="34" charset="-122"/>
                <a:cs typeface="Calibri" pitchFamily="34" charset="-120"/>
              </a:rPr>
              <a:t>15</a:t>
            </a:r>
            <a:endParaRPr lang="en-US" sz="1050" dirty="0"/>
          </a:p>
        </p:txBody>
      </p:sp>
      <p:sp>
        <p:nvSpPr>
          <p:cNvPr id="116" name="Shape 114"/>
          <p:cNvSpPr/>
          <p:nvPr/>
        </p:nvSpPr>
        <p:spPr>
          <a:xfrm>
            <a:off x="3337560" y="4736592"/>
            <a:ext cx="1554480" cy="301752"/>
          </a:xfrm>
          <a:prstGeom prst="rect">
            <a:avLst/>
          </a:prstGeom>
          <a:solidFill>
            <a:srgbClr val="EDF4F6"/>
          </a:solidFill>
          <a:ln w="12700">
            <a:solidFill>
              <a:srgbClr val="C5D5DE"/>
            </a:solidFill>
            <a:prstDash val="solid"/>
          </a:ln>
        </p:spPr>
      </p:sp>
      <p:sp>
        <p:nvSpPr>
          <p:cNvPr id="117" name="Text 115"/>
          <p:cNvSpPr/>
          <p:nvPr/>
        </p:nvSpPr>
        <p:spPr>
          <a:xfrm>
            <a:off x="3401568" y="4736592"/>
            <a:ext cx="1444752" cy="301752"/>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&lt; 2×10⁻¹⁶ ★★★</a:t>
            </a:r>
            <a:endParaRPr lang="en-US" sz="1050" dirty="0"/>
          </a:p>
        </p:txBody>
      </p:sp>
      <p:sp>
        <p:nvSpPr>
          <p:cNvPr id="118" name="Shape 116"/>
          <p:cNvSpPr/>
          <p:nvPr/>
        </p:nvSpPr>
        <p:spPr>
          <a:xfrm>
            <a:off x="4892040" y="4736592"/>
            <a:ext cx="1600200" cy="301752"/>
          </a:xfrm>
          <a:prstGeom prst="rect">
            <a:avLst/>
          </a:prstGeom>
          <a:solidFill>
            <a:srgbClr val="EDF4F6"/>
          </a:solidFill>
          <a:ln w="12700">
            <a:solidFill>
              <a:srgbClr val="C5D5DE"/>
            </a:solidFill>
            <a:prstDash val="solid"/>
          </a:ln>
        </p:spPr>
      </p:sp>
      <p:sp>
        <p:nvSpPr>
          <p:cNvPr id="119" name="Text 117"/>
          <p:cNvSpPr/>
          <p:nvPr/>
        </p:nvSpPr>
        <p:spPr>
          <a:xfrm>
            <a:off x="4956048" y="4736592"/>
            <a:ext cx="1490472" cy="301752"/>
          </a:xfrm>
          <a:prstGeom prst="rect">
            <a:avLst/>
          </a:prstGeom>
          <a:noFill/>
          <a:ln/>
        </p:spPr>
        <p:txBody>
          <a:bodyPr wrap="square" rtlCol="0" anchor="ctr"/>
          <a:lstStyle/>
          <a:p>
            <a:pPr marL="0" indent="0">
              <a:buNone/>
            </a:pPr>
            <a:r>
              <a:rPr lang="en-US" sz="1050" dirty="0">
                <a:solidFill>
                  <a:srgbClr val="B5304B"/>
                </a:solidFill>
                <a:latin typeface="Calibri" pitchFamily="34" charset="0"/>
                <a:ea typeface="Calibri" pitchFamily="34" charset="-122"/>
                <a:cs typeface="Calibri" pitchFamily="34" charset="-120"/>
              </a:rPr>
              <a:t>OVERALL VIOLATED</a:t>
            </a:r>
            <a:endParaRPr lang="en-US" sz="1050" dirty="0"/>
          </a:p>
        </p:txBody>
      </p:sp>
      <p:sp>
        <p:nvSpPr>
          <p:cNvPr id="120" name="Shape 118"/>
          <p:cNvSpPr/>
          <p:nvPr/>
        </p:nvSpPr>
        <p:spPr>
          <a:xfrm>
            <a:off x="6355080" y="1353312"/>
            <a:ext cx="2560320" cy="3456432"/>
          </a:xfrm>
          <a:prstGeom prst="rect">
            <a:avLst/>
          </a:prstGeom>
          <a:solidFill>
            <a:srgbClr val="FFFFFF"/>
          </a:solidFill>
          <a:ln w="12700">
            <a:solidFill>
              <a:srgbClr val="C5D5DE"/>
            </a:solidFill>
            <a:prstDash val="solid"/>
          </a:ln>
          <a:effectLst>
            <a:outerShdw blurRad="50800" dist="25400" dir="8100000" algn="bl" rotWithShape="0">
              <a:srgbClr val="000000">
                <a:alpha val="8000"/>
              </a:srgbClr>
            </a:outerShdw>
          </a:effectLst>
        </p:spPr>
      </p:sp>
      <p:sp>
        <p:nvSpPr>
          <p:cNvPr id="121" name="Shape 119"/>
          <p:cNvSpPr/>
          <p:nvPr/>
        </p:nvSpPr>
        <p:spPr>
          <a:xfrm>
            <a:off x="6355080" y="1353312"/>
            <a:ext cx="54864" cy="3456432"/>
          </a:xfrm>
          <a:prstGeom prst="rect">
            <a:avLst/>
          </a:prstGeom>
          <a:solidFill>
            <a:srgbClr val="B5304B"/>
          </a:solidFill>
          <a:ln w="12700">
            <a:solidFill>
              <a:srgbClr val="B5304B"/>
            </a:solidFill>
            <a:prstDash val="solid"/>
          </a:ln>
        </p:spPr>
      </p:sp>
      <p:sp>
        <p:nvSpPr>
          <p:cNvPr id="122" name="Text 120"/>
          <p:cNvSpPr/>
          <p:nvPr/>
        </p:nvSpPr>
        <p:spPr>
          <a:xfrm>
            <a:off x="6492240" y="1426464"/>
            <a:ext cx="2331720" cy="347472"/>
          </a:xfrm>
          <a:prstGeom prst="rect">
            <a:avLst/>
          </a:prstGeom>
          <a:noFill/>
          <a:ln/>
        </p:spPr>
        <p:txBody>
          <a:bodyPr wrap="square" rtlCol="0" anchor="ctr"/>
          <a:lstStyle/>
          <a:p>
            <a:pPr marL="0" indent="0">
              <a:buNone/>
            </a:pPr>
            <a:r>
              <a:rPr lang="en-US" sz="1200" b="1" dirty="0">
                <a:solidFill>
                  <a:srgbClr val="1A2E4A"/>
                </a:solidFill>
                <a:latin typeface="Calibri" pitchFamily="34" charset="0"/>
                <a:ea typeface="Calibri" pitchFamily="34" charset="-122"/>
                <a:cs typeface="Calibri" pitchFamily="34" charset="-120"/>
              </a:rPr>
              <a:t>Why Does This Matter?</a:t>
            </a:r>
            <a:endParaRPr lang="en-US" sz="1200" dirty="0"/>
          </a:p>
        </p:txBody>
      </p:sp>
      <p:sp>
        <p:nvSpPr>
          <p:cNvPr id="123" name="Text 121"/>
          <p:cNvSpPr/>
          <p:nvPr/>
        </p:nvSpPr>
        <p:spPr>
          <a:xfrm>
            <a:off x="6492240" y="1874520"/>
            <a:ext cx="2377440" cy="347472"/>
          </a:xfrm>
          <a:prstGeom prst="rect">
            <a:avLst/>
          </a:prstGeom>
          <a:noFill/>
          <a:ln/>
        </p:spPr>
        <p:txBody>
          <a:bodyPr wrap="square" rtlCol="0" anchor="ctr"/>
          <a:lstStyle/>
          <a:p>
            <a:pPr marL="0" indent="0">
              <a:buNone/>
            </a:pPr>
            <a:r>
              <a:rPr lang="en-US" sz="1000" dirty="0">
                <a:solidFill>
                  <a:srgbClr val="1A2E4A"/>
                </a:solidFill>
                <a:latin typeface="Calibri" pitchFamily="34" charset="0"/>
                <a:ea typeface="Calibri" pitchFamily="34" charset="-122"/>
                <a:cs typeface="Calibri" pitchFamily="34" charset="-120"/>
              </a:rPr>
              <a:t>▸  Most variables violate the PH assumption</a:t>
            </a:r>
            <a:endParaRPr lang="en-US" sz="1000" dirty="0"/>
          </a:p>
        </p:txBody>
      </p:sp>
      <p:sp>
        <p:nvSpPr>
          <p:cNvPr id="124" name="Text 122"/>
          <p:cNvSpPr/>
          <p:nvPr/>
        </p:nvSpPr>
        <p:spPr>
          <a:xfrm>
            <a:off x="6492240" y="2276856"/>
            <a:ext cx="2377440" cy="347472"/>
          </a:xfrm>
          <a:prstGeom prst="rect">
            <a:avLst/>
          </a:prstGeom>
          <a:noFill/>
          <a:ln/>
        </p:spPr>
        <p:txBody>
          <a:bodyPr wrap="square" rtlCol="0" anchor="ctr"/>
          <a:lstStyle/>
          <a:p>
            <a:pPr marL="0" indent="0">
              <a:buNone/>
            </a:pPr>
            <a:r>
              <a:rPr lang="en-US" sz="1000" dirty="0">
                <a:solidFill>
                  <a:srgbClr val="1A2E4A"/>
                </a:solidFill>
                <a:latin typeface="Calibri" pitchFamily="34" charset="0"/>
                <a:ea typeface="Calibri" pitchFamily="34" charset="-122"/>
                <a:cs typeface="Calibri" pitchFamily="34" charset="-120"/>
              </a:rPr>
              <a:t>▸  This means HR changes over time</a:t>
            </a:r>
            <a:endParaRPr lang="en-US" sz="1000" dirty="0"/>
          </a:p>
        </p:txBody>
      </p:sp>
      <p:sp>
        <p:nvSpPr>
          <p:cNvPr id="125" name="Text 123"/>
          <p:cNvSpPr/>
          <p:nvPr/>
        </p:nvSpPr>
        <p:spPr>
          <a:xfrm>
            <a:off x="6517640" y="2660904"/>
            <a:ext cx="2377440" cy="347472"/>
          </a:xfrm>
          <a:prstGeom prst="rect">
            <a:avLst/>
          </a:prstGeom>
          <a:noFill/>
          <a:ln/>
        </p:spPr>
        <p:txBody>
          <a:bodyPr wrap="square" rtlCol="0" anchor="ctr"/>
          <a:lstStyle/>
          <a:p>
            <a:pPr marL="0" indent="0">
              <a:buNone/>
            </a:pPr>
            <a:r>
              <a:rPr lang="en-US" sz="1000" dirty="0">
                <a:solidFill>
                  <a:srgbClr val="1A2E4A"/>
                </a:solidFill>
                <a:latin typeface="Calibri" pitchFamily="34" charset="0"/>
                <a:ea typeface="Calibri" pitchFamily="34" charset="-122"/>
                <a:cs typeface="Calibri" pitchFamily="34" charset="-120"/>
              </a:rPr>
              <a:t>▸  Full multivariate model results are unreliable for these variables</a:t>
            </a:r>
            <a:endParaRPr lang="en-US" sz="1000" dirty="0"/>
          </a:p>
        </p:txBody>
      </p:sp>
      <p:sp>
        <p:nvSpPr>
          <p:cNvPr id="126" name="Text 124"/>
          <p:cNvSpPr/>
          <p:nvPr/>
        </p:nvSpPr>
        <p:spPr>
          <a:xfrm>
            <a:off x="6526530" y="3134360"/>
            <a:ext cx="2377440" cy="347472"/>
          </a:xfrm>
          <a:prstGeom prst="rect">
            <a:avLst/>
          </a:prstGeom>
          <a:noFill/>
          <a:ln/>
        </p:spPr>
        <p:txBody>
          <a:bodyPr wrap="square" rtlCol="0" anchor="ctr"/>
          <a:lstStyle/>
          <a:p>
            <a:pPr marL="0" indent="0">
              <a:buNone/>
            </a:pPr>
            <a:r>
              <a:rPr lang="en-US" sz="1000" dirty="0">
                <a:solidFill>
                  <a:srgbClr val="1A2E4A"/>
                </a:solidFill>
                <a:latin typeface="Calibri" pitchFamily="34" charset="0"/>
                <a:ea typeface="Calibri" pitchFamily="34" charset="-122"/>
                <a:cs typeface="Calibri" pitchFamily="34" charset="-120"/>
              </a:rPr>
              <a:t>▸  Therefore I interpret univariable Cox results individually</a:t>
            </a:r>
            <a:endParaRPr lang="en-US" sz="1000" dirty="0"/>
          </a:p>
        </p:txBody>
      </p:sp>
      <p:sp>
        <p:nvSpPr>
          <p:cNvPr id="127" name="Text 125"/>
          <p:cNvSpPr/>
          <p:nvPr/>
        </p:nvSpPr>
        <p:spPr>
          <a:xfrm>
            <a:off x="6537960" y="3478022"/>
            <a:ext cx="2377440" cy="1344168"/>
          </a:xfrm>
          <a:prstGeom prst="rect">
            <a:avLst/>
          </a:prstGeom>
          <a:noFill/>
          <a:ln/>
        </p:spPr>
        <p:txBody>
          <a:bodyPr wrap="square" rtlCol="0" anchor="ctr"/>
          <a:lstStyle/>
          <a:p>
            <a:r>
              <a:rPr lang="en-US" sz="1000" dirty="0">
                <a:solidFill>
                  <a:srgbClr val="1A2E4A"/>
                </a:solidFill>
                <a:latin typeface="Calibri" pitchFamily="34" charset="0"/>
                <a:ea typeface="Calibri" pitchFamily="34" charset="-122"/>
                <a:cs typeface="Calibri" pitchFamily="34" charset="-120"/>
              </a:rPr>
              <a:t>▸ In </a:t>
            </a:r>
            <a:r>
              <a:rPr lang="en-US" sz="1000" dirty="0" err="1">
                <a:solidFill>
                  <a:srgbClr val="1A2E4A"/>
                </a:solidFill>
                <a:latin typeface="Calibri" pitchFamily="34" charset="0"/>
                <a:ea typeface="Calibri" pitchFamily="34" charset="-122"/>
                <a:cs typeface="Calibri" pitchFamily="34" charset="-120"/>
              </a:rPr>
              <a:t>univariable</a:t>
            </a:r>
            <a:r>
              <a:rPr lang="en-US" sz="1000" dirty="0">
                <a:solidFill>
                  <a:srgbClr val="1A2E4A"/>
                </a:solidFill>
                <a:latin typeface="Calibri" pitchFamily="34" charset="0"/>
                <a:ea typeface="Calibri" pitchFamily="34" charset="-122"/>
                <a:cs typeface="Calibri" pitchFamily="34" charset="-120"/>
              </a:rPr>
              <a:t> analysis, hormone therapy appears associated with higher mortality, likely due to selection bias. However, in multivariable analysis, hormone therapy shows a protective effect, suggesting confounding in </a:t>
            </a:r>
            <a:r>
              <a:rPr lang="en-US" sz="1000" dirty="0" err="1">
                <a:solidFill>
                  <a:srgbClr val="1A2E4A"/>
                </a:solidFill>
                <a:latin typeface="Calibri" pitchFamily="34" charset="0"/>
                <a:ea typeface="Calibri" pitchFamily="34" charset="-122"/>
                <a:cs typeface="Calibri" pitchFamily="34" charset="-120"/>
              </a:rPr>
              <a:t>univariable</a:t>
            </a:r>
            <a:r>
              <a:rPr lang="en-US" sz="1000" dirty="0">
                <a:solidFill>
                  <a:srgbClr val="1A2E4A"/>
                </a:solidFill>
                <a:latin typeface="Calibri" pitchFamily="34" charset="0"/>
                <a:ea typeface="Calibri" pitchFamily="34" charset="-122"/>
                <a:cs typeface="Calibri" pitchFamily="34" charset="-120"/>
              </a:rPr>
              <a:t> results.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E4A"/>
          </a:solidFill>
          <a:ln w="12700">
            <a:solidFill>
              <a:srgbClr val="1A2E4A"/>
            </a:solidFill>
            <a:prstDash val="solid"/>
          </a:ln>
        </p:spPr>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Key Findings &amp; Conclusions</a:t>
            </a:r>
            <a:endParaRPr lang="en-US" sz="1600" dirty="0"/>
          </a:p>
        </p:txBody>
      </p:sp>
      <p:sp>
        <p:nvSpPr>
          <p:cNvPr id="4" name="Shape 2"/>
          <p:cNvSpPr/>
          <p:nvPr/>
        </p:nvSpPr>
        <p:spPr>
          <a:xfrm>
            <a:off x="0" y="502920"/>
            <a:ext cx="9144000" cy="36576"/>
          </a:xfrm>
          <a:prstGeom prst="rect">
            <a:avLst/>
          </a:prstGeom>
          <a:solidFill>
            <a:srgbClr val="1B7A8A"/>
          </a:solidFill>
          <a:ln w="12700">
            <a:solidFill>
              <a:srgbClr val="1B7A8A"/>
            </a:solidFill>
            <a:prstDash val="solid"/>
          </a:ln>
        </p:spPr>
      </p:sp>
      <p:sp>
        <p:nvSpPr>
          <p:cNvPr id="5" name="Shape 3"/>
          <p:cNvSpPr/>
          <p:nvPr/>
        </p:nvSpPr>
        <p:spPr>
          <a:xfrm>
            <a:off x="0" y="5093208"/>
            <a:ext cx="9144000" cy="50292"/>
          </a:xfrm>
          <a:prstGeom prst="rect">
            <a:avLst/>
          </a:prstGeom>
          <a:solidFill>
            <a:srgbClr val="1B7A8A"/>
          </a:solidFill>
          <a:ln w="12700">
            <a:solidFill>
              <a:srgbClr val="1B7A8A"/>
            </a:solidFill>
            <a:prstDash val="solid"/>
          </a:ln>
        </p:spPr>
      </p:sp>
      <p:sp>
        <p:nvSpPr>
          <p:cNvPr id="7" name="Shape 5"/>
          <p:cNvSpPr/>
          <p:nvPr/>
        </p:nvSpPr>
        <p:spPr>
          <a:xfrm>
            <a:off x="365760" y="1188720"/>
            <a:ext cx="2816352" cy="1993392"/>
          </a:xfrm>
          <a:prstGeom prst="rect">
            <a:avLst/>
          </a:prstGeom>
          <a:solidFill>
            <a:srgbClr val="FFFFFF"/>
          </a:solidFill>
          <a:ln w="12700">
            <a:solidFill>
              <a:srgbClr val="C5D5DE"/>
            </a:solidFill>
            <a:prstDash val="solid"/>
          </a:ln>
          <a:effectLst>
            <a:outerShdw blurRad="50800" dist="25400" dir="8100000" algn="bl" rotWithShape="0">
              <a:srgbClr val="000000">
                <a:alpha val="8000"/>
              </a:srgbClr>
            </a:outerShdw>
          </a:effectLst>
        </p:spPr>
      </p:sp>
      <p:sp>
        <p:nvSpPr>
          <p:cNvPr id="8" name="Shape 6"/>
          <p:cNvSpPr/>
          <p:nvPr/>
        </p:nvSpPr>
        <p:spPr>
          <a:xfrm>
            <a:off x="228600" y="713232"/>
            <a:ext cx="54864" cy="1993392"/>
          </a:xfrm>
          <a:prstGeom prst="rect">
            <a:avLst/>
          </a:prstGeom>
          <a:solidFill>
            <a:srgbClr val="B5304B"/>
          </a:solidFill>
          <a:ln w="12700">
            <a:solidFill>
              <a:srgbClr val="B5304B"/>
            </a:solidFill>
            <a:prstDash val="solid"/>
          </a:ln>
        </p:spPr>
      </p:sp>
      <p:sp>
        <p:nvSpPr>
          <p:cNvPr id="9" name="Shape 7"/>
          <p:cNvSpPr/>
          <p:nvPr/>
        </p:nvSpPr>
        <p:spPr>
          <a:xfrm>
            <a:off x="306324" y="713232"/>
            <a:ext cx="2816352" cy="475488"/>
          </a:xfrm>
          <a:prstGeom prst="rect">
            <a:avLst/>
          </a:prstGeom>
          <a:solidFill>
            <a:srgbClr val="B5304B"/>
          </a:solidFill>
          <a:ln w="12700">
            <a:solidFill>
              <a:srgbClr val="B5304B"/>
            </a:solidFill>
            <a:prstDash val="solid"/>
          </a:ln>
        </p:spPr>
      </p:sp>
      <p:sp>
        <p:nvSpPr>
          <p:cNvPr id="10" name="Text 8"/>
          <p:cNvSpPr/>
          <p:nvPr/>
        </p:nvSpPr>
        <p:spPr>
          <a:xfrm>
            <a:off x="301752" y="713232"/>
            <a:ext cx="2724912" cy="47548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HER2+ Increases Mortality Risk</a:t>
            </a:r>
            <a:endParaRPr lang="en-US" sz="1100" dirty="0"/>
          </a:p>
        </p:txBody>
      </p:sp>
      <p:sp>
        <p:nvSpPr>
          <p:cNvPr id="11" name="Text 9"/>
          <p:cNvSpPr/>
          <p:nvPr/>
        </p:nvSpPr>
        <p:spPr>
          <a:xfrm>
            <a:off x="320040" y="1234440"/>
            <a:ext cx="2633472" cy="1417320"/>
          </a:xfrm>
          <a:prstGeom prst="rect">
            <a:avLst/>
          </a:prstGeom>
          <a:noFill/>
          <a:ln/>
        </p:spPr>
        <p:txBody>
          <a:bodyPr wrap="square" rtlCol="0" anchor="t"/>
          <a:lstStyle/>
          <a:p>
            <a:pPr marL="0" indent="0">
              <a:buNone/>
            </a:pPr>
            <a:r>
              <a:rPr lang="en-US" sz="1000" dirty="0">
                <a:solidFill>
                  <a:srgbClr val="1A2E4A"/>
                </a:solidFill>
                <a:latin typeface="Calibri" pitchFamily="34" charset="0"/>
                <a:ea typeface="Calibri" pitchFamily="34" charset="-122"/>
                <a:cs typeface="Calibri" pitchFamily="34" charset="-120"/>
              </a:rPr>
              <a:t>HR = 1.47 — HER2 positive patients have 47% higher risk of death. </a:t>
            </a:r>
            <a:r>
              <a:rPr lang="en-US" sz="1000" dirty="0" smtClean="0">
                <a:solidFill>
                  <a:srgbClr val="1A2E4A"/>
                </a:solidFill>
                <a:latin typeface="Calibri" pitchFamily="34" charset="0"/>
                <a:ea typeface="Calibri" pitchFamily="34" charset="-122"/>
                <a:cs typeface="Calibri" pitchFamily="34" charset="-120"/>
              </a:rPr>
              <a:t>HER2 </a:t>
            </a:r>
            <a:r>
              <a:rPr lang="en-US" sz="1000" dirty="0">
                <a:solidFill>
                  <a:srgbClr val="1A2E4A"/>
                </a:solidFill>
                <a:latin typeface="Calibri" pitchFamily="34" charset="0"/>
                <a:ea typeface="Calibri" pitchFamily="34" charset="-122"/>
                <a:cs typeface="Calibri" pitchFamily="34" charset="-120"/>
              </a:rPr>
              <a:t>is an independent prognostic factor.</a:t>
            </a:r>
            <a:endParaRPr lang="en-US" sz="1000" dirty="0"/>
          </a:p>
        </p:txBody>
      </p:sp>
      <p:sp>
        <p:nvSpPr>
          <p:cNvPr id="12" name="Shape 10"/>
          <p:cNvSpPr/>
          <p:nvPr/>
        </p:nvSpPr>
        <p:spPr>
          <a:xfrm>
            <a:off x="3200400" y="713232"/>
            <a:ext cx="2816352" cy="1993392"/>
          </a:xfrm>
          <a:prstGeom prst="rect">
            <a:avLst/>
          </a:prstGeom>
          <a:solidFill>
            <a:srgbClr val="FFFFFF"/>
          </a:solidFill>
          <a:ln w="12700">
            <a:solidFill>
              <a:srgbClr val="C5D5DE"/>
            </a:solidFill>
            <a:prstDash val="solid"/>
          </a:ln>
          <a:effectLst>
            <a:outerShdw blurRad="50800" dist="25400" dir="8100000" algn="bl" rotWithShape="0">
              <a:srgbClr val="000000">
                <a:alpha val="8000"/>
              </a:srgbClr>
            </a:outerShdw>
          </a:effectLst>
        </p:spPr>
      </p:sp>
      <p:sp>
        <p:nvSpPr>
          <p:cNvPr id="13" name="Shape 11"/>
          <p:cNvSpPr/>
          <p:nvPr/>
        </p:nvSpPr>
        <p:spPr>
          <a:xfrm>
            <a:off x="3200400" y="713232"/>
            <a:ext cx="54864" cy="1993392"/>
          </a:xfrm>
          <a:prstGeom prst="rect">
            <a:avLst/>
          </a:prstGeom>
          <a:solidFill>
            <a:srgbClr val="1A2E4A"/>
          </a:solidFill>
          <a:ln w="12700">
            <a:solidFill>
              <a:srgbClr val="1A2E4A"/>
            </a:solidFill>
            <a:prstDash val="solid"/>
          </a:ln>
        </p:spPr>
      </p:sp>
      <p:sp>
        <p:nvSpPr>
          <p:cNvPr id="14" name="Shape 12"/>
          <p:cNvSpPr/>
          <p:nvPr/>
        </p:nvSpPr>
        <p:spPr>
          <a:xfrm>
            <a:off x="3200400" y="713232"/>
            <a:ext cx="2816352" cy="475488"/>
          </a:xfrm>
          <a:prstGeom prst="rect">
            <a:avLst/>
          </a:prstGeom>
          <a:solidFill>
            <a:srgbClr val="1A2E4A"/>
          </a:solidFill>
          <a:ln w="12700">
            <a:solidFill>
              <a:srgbClr val="1A2E4A"/>
            </a:solidFill>
            <a:prstDash val="solid"/>
          </a:ln>
        </p:spPr>
      </p:sp>
      <p:sp>
        <p:nvSpPr>
          <p:cNvPr id="15" name="Text 13"/>
          <p:cNvSpPr/>
          <p:nvPr/>
        </p:nvSpPr>
        <p:spPr>
          <a:xfrm>
            <a:off x="3273552" y="713232"/>
            <a:ext cx="2724912" cy="47548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Tumor Stage — Strongest Predictor</a:t>
            </a:r>
            <a:endParaRPr lang="en-US" sz="1100" dirty="0"/>
          </a:p>
        </p:txBody>
      </p:sp>
      <p:sp>
        <p:nvSpPr>
          <p:cNvPr id="16" name="Text 14"/>
          <p:cNvSpPr/>
          <p:nvPr/>
        </p:nvSpPr>
        <p:spPr>
          <a:xfrm>
            <a:off x="3291840" y="1234440"/>
            <a:ext cx="2633472" cy="1417320"/>
          </a:xfrm>
          <a:prstGeom prst="rect">
            <a:avLst/>
          </a:prstGeom>
          <a:noFill/>
          <a:ln/>
        </p:spPr>
        <p:txBody>
          <a:bodyPr wrap="square" rtlCol="0" anchor="t"/>
          <a:lstStyle/>
          <a:p>
            <a:pPr marL="0" indent="0">
              <a:buNone/>
            </a:pPr>
            <a:r>
              <a:rPr lang="en-US" sz="1000" dirty="0">
                <a:solidFill>
                  <a:srgbClr val="1A2E4A"/>
                </a:solidFill>
                <a:latin typeface="Calibri" pitchFamily="34" charset="0"/>
                <a:ea typeface="Calibri" pitchFamily="34" charset="-122"/>
                <a:cs typeface="Calibri" pitchFamily="34" charset="-120"/>
              </a:rPr>
              <a:t>Stage 4 HR = 10.7 (univariable). Log-rank χ²=128, p&lt;2×10⁻¹⁶. However, 26% missing data limited multivariate interpretation. Strongest categorical signal in the data.</a:t>
            </a:r>
            <a:endParaRPr lang="en-US" sz="1000" dirty="0"/>
          </a:p>
        </p:txBody>
      </p:sp>
      <p:sp>
        <p:nvSpPr>
          <p:cNvPr id="17" name="Shape 15"/>
          <p:cNvSpPr/>
          <p:nvPr/>
        </p:nvSpPr>
        <p:spPr>
          <a:xfrm>
            <a:off x="6172200" y="713232"/>
            <a:ext cx="2816352" cy="1993392"/>
          </a:xfrm>
          <a:prstGeom prst="rect">
            <a:avLst/>
          </a:prstGeom>
          <a:solidFill>
            <a:srgbClr val="FFFFFF"/>
          </a:solidFill>
          <a:ln w="12700">
            <a:solidFill>
              <a:srgbClr val="C5D5DE"/>
            </a:solidFill>
            <a:prstDash val="solid"/>
          </a:ln>
          <a:effectLst>
            <a:outerShdw blurRad="50800" dist="25400" dir="8100000" algn="bl" rotWithShape="0">
              <a:srgbClr val="000000">
                <a:alpha val="8000"/>
              </a:srgbClr>
            </a:outerShdw>
          </a:effectLst>
        </p:spPr>
      </p:sp>
      <p:sp>
        <p:nvSpPr>
          <p:cNvPr id="18" name="Shape 16"/>
          <p:cNvSpPr/>
          <p:nvPr/>
        </p:nvSpPr>
        <p:spPr>
          <a:xfrm>
            <a:off x="6172200" y="713232"/>
            <a:ext cx="54864" cy="1993392"/>
          </a:xfrm>
          <a:prstGeom prst="rect">
            <a:avLst/>
          </a:prstGeom>
          <a:solidFill>
            <a:srgbClr val="1B7A8A"/>
          </a:solidFill>
          <a:ln w="12700">
            <a:solidFill>
              <a:srgbClr val="1B7A8A"/>
            </a:solidFill>
            <a:prstDash val="solid"/>
          </a:ln>
        </p:spPr>
      </p:sp>
      <p:sp>
        <p:nvSpPr>
          <p:cNvPr id="19" name="Shape 17"/>
          <p:cNvSpPr/>
          <p:nvPr/>
        </p:nvSpPr>
        <p:spPr>
          <a:xfrm>
            <a:off x="6172200" y="713232"/>
            <a:ext cx="2816352" cy="475488"/>
          </a:xfrm>
          <a:prstGeom prst="rect">
            <a:avLst/>
          </a:prstGeom>
          <a:solidFill>
            <a:srgbClr val="1B7A8A"/>
          </a:solidFill>
          <a:ln w="12700">
            <a:solidFill>
              <a:srgbClr val="1B7A8A"/>
            </a:solidFill>
            <a:prstDash val="solid"/>
          </a:ln>
        </p:spPr>
      </p:sp>
      <p:sp>
        <p:nvSpPr>
          <p:cNvPr id="20" name="Text 18"/>
          <p:cNvSpPr/>
          <p:nvPr/>
        </p:nvSpPr>
        <p:spPr>
          <a:xfrm>
            <a:off x="6245352" y="713232"/>
            <a:ext cx="2724912" cy="47548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Lymph Nodes — Strong Continuous Predictor</a:t>
            </a:r>
            <a:endParaRPr lang="en-US" sz="1100" dirty="0"/>
          </a:p>
        </p:txBody>
      </p:sp>
      <p:sp>
        <p:nvSpPr>
          <p:cNvPr id="21" name="Text 19"/>
          <p:cNvSpPr/>
          <p:nvPr/>
        </p:nvSpPr>
        <p:spPr>
          <a:xfrm>
            <a:off x="6263640" y="1234440"/>
            <a:ext cx="2633472" cy="1417320"/>
          </a:xfrm>
          <a:prstGeom prst="rect">
            <a:avLst/>
          </a:prstGeom>
          <a:noFill/>
          <a:ln/>
        </p:spPr>
        <p:txBody>
          <a:bodyPr wrap="square" rtlCol="0" anchor="t"/>
          <a:lstStyle/>
          <a:p>
            <a:pPr marL="0" indent="0">
              <a:buNone/>
            </a:pPr>
            <a:r>
              <a:rPr lang="en-US" sz="1000" dirty="0">
                <a:solidFill>
                  <a:srgbClr val="1A2E4A"/>
                </a:solidFill>
                <a:latin typeface="Calibri" pitchFamily="34" charset="0"/>
                <a:ea typeface="Calibri" pitchFamily="34" charset="-122"/>
                <a:cs typeface="Calibri" pitchFamily="34" charset="-120"/>
              </a:rPr>
              <a:t>HR = 1.067 per node. Log-rank χ²=205, p&lt;2×10⁻¹⁶. &gt;10 positive nodes associated with dramatically worse survival. Remained significant in multivariate (HR=1.064).</a:t>
            </a:r>
            <a:endParaRPr lang="en-US" sz="1000" dirty="0"/>
          </a:p>
        </p:txBody>
      </p:sp>
      <p:sp>
        <p:nvSpPr>
          <p:cNvPr id="22" name="Shape 20"/>
          <p:cNvSpPr/>
          <p:nvPr/>
        </p:nvSpPr>
        <p:spPr>
          <a:xfrm>
            <a:off x="228600" y="2798064"/>
            <a:ext cx="2816352" cy="1993392"/>
          </a:xfrm>
          <a:prstGeom prst="rect">
            <a:avLst/>
          </a:prstGeom>
          <a:solidFill>
            <a:srgbClr val="FFFFFF"/>
          </a:solidFill>
          <a:ln w="12700">
            <a:solidFill>
              <a:srgbClr val="C5D5DE"/>
            </a:solidFill>
            <a:prstDash val="solid"/>
          </a:ln>
          <a:effectLst>
            <a:outerShdw blurRad="50800" dist="25400" dir="8100000" algn="bl" rotWithShape="0">
              <a:srgbClr val="000000">
                <a:alpha val="8000"/>
              </a:srgbClr>
            </a:outerShdw>
          </a:effectLst>
        </p:spPr>
      </p:sp>
      <p:sp>
        <p:nvSpPr>
          <p:cNvPr id="23" name="Shape 21"/>
          <p:cNvSpPr/>
          <p:nvPr/>
        </p:nvSpPr>
        <p:spPr>
          <a:xfrm>
            <a:off x="228600" y="2798064"/>
            <a:ext cx="54864" cy="1993392"/>
          </a:xfrm>
          <a:prstGeom prst="rect">
            <a:avLst/>
          </a:prstGeom>
          <a:solidFill>
            <a:srgbClr val="D4870A"/>
          </a:solidFill>
          <a:ln w="12700">
            <a:solidFill>
              <a:srgbClr val="D4870A"/>
            </a:solidFill>
            <a:prstDash val="solid"/>
          </a:ln>
        </p:spPr>
      </p:sp>
      <p:sp>
        <p:nvSpPr>
          <p:cNvPr id="24" name="Shape 22"/>
          <p:cNvSpPr/>
          <p:nvPr/>
        </p:nvSpPr>
        <p:spPr>
          <a:xfrm>
            <a:off x="228600" y="2798064"/>
            <a:ext cx="2816352" cy="475488"/>
          </a:xfrm>
          <a:prstGeom prst="rect">
            <a:avLst/>
          </a:prstGeom>
          <a:solidFill>
            <a:srgbClr val="D4870A"/>
          </a:solidFill>
          <a:ln w="12700">
            <a:solidFill>
              <a:srgbClr val="D4870A"/>
            </a:solidFill>
            <a:prstDash val="solid"/>
          </a:ln>
        </p:spPr>
      </p:sp>
      <p:sp>
        <p:nvSpPr>
          <p:cNvPr id="25" name="Text 23"/>
          <p:cNvSpPr/>
          <p:nvPr/>
        </p:nvSpPr>
        <p:spPr>
          <a:xfrm>
            <a:off x="301752" y="2798064"/>
            <a:ext cx="2724912" cy="47548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Tumor Size Increases Risk</a:t>
            </a:r>
            <a:endParaRPr lang="en-US" sz="1100" dirty="0"/>
          </a:p>
        </p:txBody>
      </p:sp>
      <p:sp>
        <p:nvSpPr>
          <p:cNvPr id="26" name="Text 24"/>
          <p:cNvSpPr/>
          <p:nvPr/>
        </p:nvSpPr>
        <p:spPr>
          <a:xfrm>
            <a:off x="320040" y="3319272"/>
            <a:ext cx="2633472" cy="1417320"/>
          </a:xfrm>
          <a:prstGeom prst="rect">
            <a:avLst/>
          </a:prstGeom>
          <a:noFill/>
          <a:ln/>
        </p:spPr>
        <p:txBody>
          <a:bodyPr wrap="square" rtlCol="0" anchor="t"/>
          <a:lstStyle/>
          <a:p>
            <a:pPr marL="0" indent="0">
              <a:buNone/>
            </a:pPr>
            <a:r>
              <a:rPr lang="en-US" sz="1000" dirty="0">
                <a:solidFill>
                  <a:srgbClr val="1A2E4A"/>
                </a:solidFill>
                <a:latin typeface="Calibri" pitchFamily="34" charset="0"/>
                <a:ea typeface="Calibri" pitchFamily="34" charset="-122"/>
                <a:cs typeface="Calibri" pitchFamily="34" charset="-120"/>
              </a:rPr>
              <a:t>HR = 1.015 per mm (univariable), HR = 1.008 (multivariate). Concordance=0.614. PH assumption was met for tumor size. Larger tumors mean significantly worse prognosis.</a:t>
            </a:r>
            <a:endParaRPr lang="en-US" sz="1000" dirty="0"/>
          </a:p>
        </p:txBody>
      </p:sp>
      <p:sp>
        <p:nvSpPr>
          <p:cNvPr id="27" name="Shape 25"/>
          <p:cNvSpPr/>
          <p:nvPr/>
        </p:nvSpPr>
        <p:spPr>
          <a:xfrm>
            <a:off x="3200400" y="2798064"/>
            <a:ext cx="2816352" cy="1993392"/>
          </a:xfrm>
          <a:prstGeom prst="rect">
            <a:avLst/>
          </a:prstGeom>
          <a:solidFill>
            <a:srgbClr val="FFFFFF"/>
          </a:solidFill>
          <a:ln w="12700">
            <a:solidFill>
              <a:srgbClr val="C5D5DE"/>
            </a:solidFill>
            <a:prstDash val="solid"/>
          </a:ln>
          <a:effectLst>
            <a:outerShdw blurRad="50800" dist="25400" dir="8100000" algn="bl" rotWithShape="0">
              <a:srgbClr val="000000">
                <a:alpha val="8000"/>
              </a:srgbClr>
            </a:outerShdw>
          </a:effectLst>
        </p:spPr>
      </p:sp>
      <p:sp>
        <p:nvSpPr>
          <p:cNvPr id="28" name="Shape 26"/>
          <p:cNvSpPr/>
          <p:nvPr/>
        </p:nvSpPr>
        <p:spPr>
          <a:xfrm>
            <a:off x="3200400" y="2798064"/>
            <a:ext cx="54864" cy="1993392"/>
          </a:xfrm>
          <a:prstGeom prst="rect">
            <a:avLst/>
          </a:prstGeom>
          <a:solidFill>
            <a:srgbClr val="1E6B3C"/>
          </a:solidFill>
          <a:ln w="12700">
            <a:solidFill>
              <a:srgbClr val="1E6B3C"/>
            </a:solidFill>
            <a:prstDash val="solid"/>
          </a:ln>
        </p:spPr>
      </p:sp>
      <p:sp>
        <p:nvSpPr>
          <p:cNvPr id="29" name="Shape 27"/>
          <p:cNvSpPr/>
          <p:nvPr/>
        </p:nvSpPr>
        <p:spPr>
          <a:xfrm>
            <a:off x="3200400" y="2798064"/>
            <a:ext cx="2816352" cy="475488"/>
          </a:xfrm>
          <a:prstGeom prst="rect">
            <a:avLst/>
          </a:prstGeom>
          <a:solidFill>
            <a:srgbClr val="1E6B3C"/>
          </a:solidFill>
          <a:ln w="12700">
            <a:solidFill>
              <a:srgbClr val="1E6B3C"/>
            </a:solidFill>
            <a:prstDash val="solid"/>
          </a:ln>
        </p:spPr>
      </p:sp>
      <p:sp>
        <p:nvSpPr>
          <p:cNvPr id="30" name="Text 28"/>
          <p:cNvSpPr/>
          <p:nvPr/>
        </p:nvSpPr>
        <p:spPr>
          <a:xfrm>
            <a:off x="3273552" y="2798064"/>
            <a:ext cx="2724912" cy="47548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ER &amp; PR Positive are Protective</a:t>
            </a:r>
            <a:endParaRPr lang="en-US" sz="1100" dirty="0"/>
          </a:p>
        </p:txBody>
      </p:sp>
      <p:sp>
        <p:nvSpPr>
          <p:cNvPr id="31" name="Text 29"/>
          <p:cNvSpPr/>
          <p:nvPr/>
        </p:nvSpPr>
        <p:spPr>
          <a:xfrm>
            <a:off x="3291840" y="3319272"/>
            <a:ext cx="2633472" cy="1417320"/>
          </a:xfrm>
          <a:prstGeom prst="rect">
            <a:avLst/>
          </a:prstGeom>
          <a:noFill/>
          <a:ln/>
        </p:spPr>
        <p:txBody>
          <a:bodyPr wrap="square" rtlCol="0" anchor="t"/>
          <a:lstStyle/>
          <a:p>
            <a:pPr marL="0" indent="0">
              <a:buNone/>
            </a:pPr>
            <a:r>
              <a:rPr lang="en-US" sz="1000" dirty="0">
                <a:solidFill>
                  <a:srgbClr val="1A2E4A"/>
                </a:solidFill>
                <a:latin typeface="Calibri" pitchFamily="34" charset="0"/>
                <a:ea typeface="Calibri" pitchFamily="34" charset="-122"/>
                <a:cs typeface="Calibri" pitchFamily="34" charset="-120"/>
              </a:rPr>
              <a:t>ER+ HR=0.862 (p=0.035). PR+ HR=0.792 (p=8.6×10⁻⁵). Both lost significance in multivariate due to mutual confounding. Individually, both are significant protective factors.</a:t>
            </a:r>
            <a:endParaRPr lang="en-US" sz="1000" dirty="0"/>
          </a:p>
        </p:txBody>
      </p:sp>
      <p:sp>
        <p:nvSpPr>
          <p:cNvPr id="32" name="Shape 30"/>
          <p:cNvSpPr/>
          <p:nvPr/>
        </p:nvSpPr>
        <p:spPr>
          <a:xfrm>
            <a:off x="6172200" y="2798064"/>
            <a:ext cx="2816352" cy="1993392"/>
          </a:xfrm>
          <a:prstGeom prst="rect">
            <a:avLst/>
          </a:prstGeom>
          <a:solidFill>
            <a:srgbClr val="FFFFFF"/>
          </a:solidFill>
          <a:ln w="12700">
            <a:solidFill>
              <a:srgbClr val="C5D5DE"/>
            </a:solidFill>
            <a:prstDash val="solid"/>
          </a:ln>
          <a:effectLst>
            <a:outerShdw blurRad="50800" dist="25400" dir="8100000" algn="bl" rotWithShape="0">
              <a:srgbClr val="000000">
                <a:alpha val="8000"/>
              </a:srgbClr>
            </a:outerShdw>
          </a:effectLst>
        </p:spPr>
      </p:sp>
      <p:sp>
        <p:nvSpPr>
          <p:cNvPr id="33" name="Shape 31"/>
          <p:cNvSpPr/>
          <p:nvPr/>
        </p:nvSpPr>
        <p:spPr>
          <a:xfrm>
            <a:off x="6172200" y="2798064"/>
            <a:ext cx="54864" cy="1993392"/>
          </a:xfrm>
          <a:prstGeom prst="rect">
            <a:avLst/>
          </a:prstGeom>
          <a:solidFill>
            <a:srgbClr val="4A7FA5"/>
          </a:solidFill>
          <a:ln w="12700">
            <a:solidFill>
              <a:srgbClr val="4A7FA5"/>
            </a:solidFill>
            <a:prstDash val="solid"/>
          </a:ln>
        </p:spPr>
      </p:sp>
      <p:sp>
        <p:nvSpPr>
          <p:cNvPr id="34" name="Shape 32"/>
          <p:cNvSpPr/>
          <p:nvPr/>
        </p:nvSpPr>
        <p:spPr>
          <a:xfrm>
            <a:off x="6172200" y="2798064"/>
            <a:ext cx="2816352" cy="475488"/>
          </a:xfrm>
          <a:prstGeom prst="rect">
            <a:avLst/>
          </a:prstGeom>
          <a:solidFill>
            <a:srgbClr val="4A7FA5"/>
          </a:solidFill>
          <a:ln w="12700">
            <a:solidFill>
              <a:srgbClr val="4A7FA5"/>
            </a:solidFill>
            <a:prstDash val="solid"/>
          </a:ln>
        </p:spPr>
      </p:sp>
      <p:sp>
        <p:nvSpPr>
          <p:cNvPr id="35" name="Text 33"/>
          <p:cNvSpPr/>
          <p:nvPr/>
        </p:nvSpPr>
        <p:spPr>
          <a:xfrm>
            <a:off x="6245352" y="2798064"/>
            <a:ext cx="2724912" cy="475488"/>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Radiotherapy — Independent Protective Effect</a:t>
            </a:r>
            <a:endParaRPr lang="en-US" sz="1100" dirty="0"/>
          </a:p>
        </p:txBody>
      </p:sp>
      <p:sp>
        <p:nvSpPr>
          <p:cNvPr id="36" name="Text 34"/>
          <p:cNvSpPr/>
          <p:nvPr/>
        </p:nvSpPr>
        <p:spPr>
          <a:xfrm>
            <a:off x="6263640" y="3319272"/>
            <a:ext cx="2633472" cy="1417320"/>
          </a:xfrm>
          <a:prstGeom prst="rect">
            <a:avLst/>
          </a:prstGeom>
          <a:noFill/>
          <a:ln/>
        </p:spPr>
        <p:txBody>
          <a:bodyPr wrap="square" rtlCol="0" anchor="t"/>
          <a:lstStyle/>
          <a:p>
            <a:r>
              <a:rPr lang="en-US" sz="1000" dirty="0">
                <a:solidFill>
                  <a:srgbClr val="1A2E4A"/>
                </a:solidFill>
                <a:latin typeface="Calibri" pitchFamily="34" charset="0"/>
                <a:ea typeface="Calibri" pitchFamily="34" charset="-122"/>
                <a:cs typeface="Calibri" pitchFamily="34" charset="-120"/>
              </a:rPr>
              <a:t>HR=0.851 (</a:t>
            </a:r>
            <a:r>
              <a:rPr lang="en-US" sz="1000" dirty="0" err="1">
                <a:solidFill>
                  <a:srgbClr val="1A2E4A"/>
                </a:solidFill>
                <a:latin typeface="Calibri" pitchFamily="34" charset="0"/>
                <a:ea typeface="Calibri" pitchFamily="34" charset="-122"/>
                <a:cs typeface="Calibri" pitchFamily="34" charset="-120"/>
              </a:rPr>
              <a:t>univariable</a:t>
            </a:r>
            <a:r>
              <a:rPr lang="en-US" sz="1000" dirty="0" smtClean="0">
                <a:solidFill>
                  <a:srgbClr val="1A2E4A"/>
                </a:solidFill>
                <a:latin typeface="Calibri" pitchFamily="34" charset="0"/>
                <a:ea typeface="Calibri" pitchFamily="34" charset="-122"/>
                <a:cs typeface="Calibri" pitchFamily="34" charset="-120"/>
              </a:rPr>
              <a:t>), </a:t>
            </a:r>
            <a:r>
              <a:rPr lang="en-US" sz="1000" dirty="0" err="1"/>
              <a:t>adiotherapy</a:t>
            </a:r>
            <a:r>
              <a:rPr lang="en-US" sz="1000" dirty="0"/>
              <a:t> was significantly associated with reduced mortality</a:t>
            </a:r>
            <a:r>
              <a:rPr lang="en-US" sz="1000" dirty="0" smtClean="0"/>
              <a:t>.</a:t>
            </a:r>
            <a:endParaRPr lang="en-US" sz="10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A2E4A"/>
          </a:solidFill>
          <a:ln w="12700">
            <a:solidFill>
              <a:srgbClr val="1A2E4A"/>
            </a:solidFill>
            <a:prstDash val="solid"/>
          </a:ln>
        </p:spPr>
      </p:sp>
      <p:sp>
        <p:nvSpPr>
          <p:cNvPr id="3" name="Text 1"/>
          <p:cNvSpPr/>
          <p:nvPr/>
        </p:nvSpPr>
        <p:spPr>
          <a:xfrm>
            <a:off x="320040" y="0"/>
            <a:ext cx="8503920" cy="5029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Clinical Importance &amp; Practical Implications</a:t>
            </a:r>
            <a:endParaRPr lang="en-US" sz="1600" dirty="0"/>
          </a:p>
        </p:txBody>
      </p:sp>
      <p:sp>
        <p:nvSpPr>
          <p:cNvPr id="4" name="Shape 2"/>
          <p:cNvSpPr/>
          <p:nvPr/>
        </p:nvSpPr>
        <p:spPr>
          <a:xfrm>
            <a:off x="0" y="502920"/>
            <a:ext cx="9144000" cy="36576"/>
          </a:xfrm>
          <a:prstGeom prst="rect">
            <a:avLst/>
          </a:prstGeom>
          <a:solidFill>
            <a:srgbClr val="1B7A8A"/>
          </a:solidFill>
          <a:ln w="12700">
            <a:solidFill>
              <a:srgbClr val="1B7A8A"/>
            </a:solidFill>
            <a:prstDash val="solid"/>
          </a:ln>
        </p:spPr>
      </p:sp>
      <p:sp>
        <p:nvSpPr>
          <p:cNvPr id="5" name="Shape 3"/>
          <p:cNvSpPr/>
          <p:nvPr/>
        </p:nvSpPr>
        <p:spPr>
          <a:xfrm>
            <a:off x="0" y="5093208"/>
            <a:ext cx="9144000" cy="50292"/>
          </a:xfrm>
          <a:prstGeom prst="rect">
            <a:avLst/>
          </a:prstGeom>
          <a:solidFill>
            <a:srgbClr val="1B7A8A"/>
          </a:solidFill>
          <a:ln w="12700">
            <a:solidFill>
              <a:srgbClr val="1B7A8A"/>
            </a:solidFill>
            <a:prstDash val="solid"/>
          </a:ln>
        </p:spPr>
      </p:sp>
      <p:sp>
        <p:nvSpPr>
          <p:cNvPr id="6" name="Text 4"/>
          <p:cNvSpPr/>
          <p:nvPr/>
        </p:nvSpPr>
        <p:spPr>
          <a:xfrm>
            <a:off x="320040" y="576072"/>
            <a:ext cx="8229600" cy="320040"/>
          </a:xfrm>
          <a:prstGeom prst="rect">
            <a:avLst/>
          </a:prstGeom>
          <a:noFill/>
          <a:ln/>
        </p:spPr>
        <p:txBody>
          <a:bodyPr wrap="square" rtlCol="0" anchor="ctr"/>
          <a:lstStyle/>
          <a:p>
            <a:pPr marL="0" indent="0">
              <a:buNone/>
            </a:pPr>
            <a:r>
              <a:rPr lang="en-US" sz="1200" i="1" dirty="0">
                <a:solidFill>
                  <a:srgbClr val="5A6A7A"/>
                </a:solidFill>
                <a:latin typeface="Calibri" pitchFamily="34" charset="0"/>
                <a:ea typeface="Calibri" pitchFamily="34" charset="-122"/>
                <a:cs typeface="Calibri" pitchFamily="34" charset="-120"/>
              </a:rPr>
              <a:t>How Survival Analysis Helps in Clinical Practice</a:t>
            </a:r>
            <a:endParaRPr lang="en-US" sz="1200" dirty="0"/>
          </a:p>
        </p:txBody>
      </p:sp>
      <p:sp>
        <p:nvSpPr>
          <p:cNvPr id="7" name="Shape 5"/>
          <p:cNvSpPr/>
          <p:nvPr/>
        </p:nvSpPr>
        <p:spPr>
          <a:xfrm>
            <a:off x="228600" y="658368"/>
            <a:ext cx="4206240" cy="4297680"/>
          </a:xfrm>
          <a:prstGeom prst="rect">
            <a:avLst/>
          </a:prstGeom>
          <a:solidFill>
            <a:srgbClr val="FFFFFF"/>
          </a:solidFill>
          <a:ln w="12700">
            <a:solidFill>
              <a:srgbClr val="C5D5DE"/>
            </a:solidFill>
            <a:prstDash val="solid"/>
          </a:ln>
          <a:effectLst>
            <a:outerShdw blurRad="50800" dist="25400" dir="8100000" algn="bl" rotWithShape="0">
              <a:srgbClr val="000000">
                <a:alpha val="8000"/>
              </a:srgbClr>
            </a:outerShdw>
          </a:effectLst>
        </p:spPr>
      </p:sp>
      <p:sp>
        <p:nvSpPr>
          <p:cNvPr id="8" name="Shape 6"/>
          <p:cNvSpPr/>
          <p:nvPr/>
        </p:nvSpPr>
        <p:spPr>
          <a:xfrm>
            <a:off x="228600" y="658368"/>
            <a:ext cx="54864" cy="4297680"/>
          </a:xfrm>
          <a:prstGeom prst="rect">
            <a:avLst/>
          </a:prstGeom>
          <a:solidFill>
            <a:srgbClr val="1B7A8A"/>
          </a:solidFill>
          <a:ln w="12700">
            <a:solidFill>
              <a:srgbClr val="1B7A8A"/>
            </a:solidFill>
            <a:prstDash val="solid"/>
          </a:ln>
        </p:spPr>
      </p:sp>
      <p:sp>
        <p:nvSpPr>
          <p:cNvPr id="9" name="Shape 7"/>
          <p:cNvSpPr/>
          <p:nvPr/>
        </p:nvSpPr>
        <p:spPr>
          <a:xfrm>
            <a:off x="228600" y="658368"/>
            <a:ext cx="4206240" cy="457200"/>
          </a:xfrm>
          <a:prstGeom prst="rect">
            <a:avLst/>
          </a:prstGeom>
          <a:solidFill>
            <a:srgbClr val="1B7A8A"/>
          </a:solidFill>
          <a:ln w="12700">
            <a:solidFill>
              <a:srgbClr val="1B7A8A"/>
            </a:solidFill>
            <a:prstDash val="solid"/>
          </a:ln>
        </p:spPr>
      </p:sp>
      <p:sp>
        <p:nvSpPr>
          <p:cNvPr id="10" name="Text 8"/>
          <p:cNvSpPr/>
          <p:nvPr/>
        </p:nvSpPr>
        <p:spPr>
          <a:xfrm>
            <a:off x="320040" y="658368"/>
            <a:ext cx="402336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How This Helps Doctors</a:t>
            </a:r>
            <a:endParaRPr lang="en-US" sz="1300" dirty="0"/>
          </a:p>
        </p:txBody>
      </p:sp>
      <p:sp>
        <p:nvSpPr>
          <p:cNvPr id="11" name="Text 9"/>
          <p:cNvSpPr/>
          <p:nvPr/>
        </p:nvSpPr>
        <p:spPr>
          <a:xfrm>
            <a:off x="347472" y="1216152"/>
            <a:ext cx="3931920" cy="347472"/>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  Survival curves help doctors give patients realistic prognosis estimates — e.g., 50% of patients with your profile survived beyond 13 years</a:t>
            </a:r>
            <a:endParaRPr lang="en-US" sz="1100" dirty="0"/>
          </a:p>
        </p:txBody>
      </p:sp>
      <p:sp>
        <p:nvSpPr>
          <p:cNvPr id="12" name="Text 10"/>
          <p:cNvSpPr/>
          <p:nvPr/>
        </p:nvSpPr>
        <p:spPr>
          <a:xfrm>
            <a:off x="347472" y="1874520"/>
            <a:ext cx="3931920" cy="347472"/>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  Hazard Ratios tell clinicians which factors matter most for prognosis — HER2, tumor size, and lymph nodes are actionable</a:t>
            </a:r>
            <a:endParaRPr lang="en-US" sz="1100" dirty="0"/>
          </a:p>
        </p:txBody>
      </p:sp>
      <p:sp>
        <p:nvSpPr>
          <p:cNvPr id="13" name="Text 11"/>
          <p:cNvSpPr/>
          <p:nvPr/>
        </p:nvSpPr>
        <p:spPr>
          <a:xfrm>
            <a:off x="347472" y="2532888"/>
            <a:ext cx="3931920" cy="347472"/>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  Comparing groups (ER+/ER−) guides treatment selection — ER+ patients are good candidates for hormone therapy</a:t>
            </a:r>
            <a:endParaRPr lang="en-US" sz="1100" dirty="0"/>
          </a:p>
        </p:txBody>
      </p:sp>
      <p:sp>
        <p:nvSpPr>
          <p:cNvPr id="14" name="Text 12"/>
          <p:cNvSpPr/>
          <p:nvPr/>
        </p:nvSpPr>
        <p:spPr>
          <a:xfrm>
            <a:off x="347472" y="3191256"/>
            <a:ext cx="3931920" cy="347472"/>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  Radiotherapy's independent survival benefit supports its use in treatment planning</a:t>
            </a:r>
            <a:endParaRPr lang="en-US" sz="1100" dirty="0"/>
          </a:p>
        </p:txBody>
      </p:sp>
      <p:sp>
        <p:nvSpPr>
          <p:cNvPr id="15" name="Text 13"/>
          <p:cNvSpPr/>
          <p:nvPr/>
        </p:nvSpPr>
        <p:spPr>
          <a:xfrm>
            <a:off x="347472" y="3849624"/>
            <a:ext cx="3931920" cy="347472"/>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  Stage and grade at diagnosis give immediate prognostic information at point of care</a:t>
            </a:r>
            <a:endParaRPr lang="en-US" sz="1100" dirty="0"/>
          </a:p>
        </p:txBody>
      </p:sp>
      <p:sp>
        <p:nvSpPr>
          <p:cNvPr id="16" name="Shape 14"/>
          <p:cNvSpPr/>
          <p:nvPr/>
        </p:nvSpPr>
        <p:spPr>
          <a:xfrm>
            <a:off x="4663440" y="658368"/>
            <a:ext cx="4251960" cy="4297680"/>
          </a:xfrm>
          <a:prstGeom prst="rect">
            <a:avLst/>
          </a:prstGeom>
          <a:solidFill>
            <a:srgbClr val="FFFFFF"/>
          </a:solidFill>
          <a:ln w="12700">
            <a:solidFill>
              <a:srgbClr val="C5D5DE"/>
            </a:solidFill>
            <a:prstDash val="solid"/>
          </a:ln>
          <a:effectLst>
            <a:outerShdw blurRad="50800" dist="25400" dir="8100000" algn="bl" rotWithShape="0">
              <a:srgbClr val="000000">
                <a:alpha val="8000"/>
              </a:srgbClr>
            </a:outerShdw>
          </a:effectLst>
        </p:spPr>
      </p:sp>
      <p:sp>
        <p:nvSpPr>
          <p:cNvPr id="17" name="Shape 15"/>
          <p:cNvSpPr/>
          <p:nvPr/>
        </p:nvSpPr>
        <p:spPr>
          <a:xfrm>
            <a:off x="4663440" y="658368"/>
            <a:ext cx="54864" cy="4297680"/>
          </a:xfrm>
          <a:prstGeom prst="rect">
            <a:avLst/>
          </a:prstGeom>
          <a:solidFill>
            <a:srgbClr val="B5304B"/>
          </a:solidFill>
          <a:ln w="12700">
            <a:solidFill>
              <a:srgbClr val="B5304B"/>
            </a:solidFill>
            <a:prstDash val="solid"/>
          </a:ln>
        </p:spPr>
      </p:sp>
      <p:sp>
        <p:nvSpPr>
          <p:cNvPr id="18" name="Shape 16"/>
          <p:cNvSpPr/>
          <p:nvPr/>
        </p:nvSpPr>
        <p:spPr>
          <a:xfrm>
            <a:off x="4663440" y="658368"/>
            <a:ext cx="4251960" cy="457200"/>
          </a:xfrm>
          <a:prstGeom prst="rect">
            <a:avLst/>
          </a:prstGeom>
          <a:solidFill>
            <a:srgbClr val="B5304B"/>
          </a:solidFill>
          <a:ln w="12700">
            <a:solidFill>
              <a:srgbClr val="B5304B"/>
            </a:solidFill>
            <a:prstDash val="solid"/>
          </a:ln>
        </p:spPr>
      </p:sp>
      <p:sp>
        <p:nvSpPr>
          <p:cNvPr id="19" name="Text 17"/>
          <p:cNvSpPr/>
          <p:nvPr/>
        </p:nvSpPr>
        <p:spPr>
          <a:xfrm>
            <a:off x="4754880" y="658368"/>
            <a:ext cx="406908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Risk Prediction &amp; Research Value</a:t>
            </a:r>
            <a:endParaRPr lang="en-US" sz="1300" dirty="0"/>
          </a:p>
        </p:txBody>
      </p:sp>
      <p:sp>
        <p:nvSpPr>
          <p:cNvPr id="20" name="Text 18"/>
          <p:cNvSpPr/>
          <p:nvPr/>
        </p:nvSpPr>
        <p:spPr>
          <a:xfrm>
            <a:off x="4773168" y="1216152"/>
            <a:ext cx="3931920" cy="347472"/>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  Multivariable models can be used to build prognostic scores — ranking patients by predicted risk</a:t>
            </a:r>
            <a:endParaRPr lang="en-US" sz="1100" dirty="0"/>
          </a:p>
        </p:txBody>
      </p:sp>
      <p:sp>
        <p:nvSpPr>
          <p:cNvPr id="21" name="Text 19"/>
          <p:cNvSpPr/>
          <p:nvPr/>
        </p:nvSpPr>
        <p:spPr>
          <a:xfrm>
            <a:off x="4773168" y="1874520"/>
            <a:ext cx="3931920" cy="347472"/>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  Concordance of 0.681 in the full model means good discrimination between high and low risk patients</a:t>
            </a:r>
            <a:endParaRPr lang="en-US" sz="1100" dirty="0"/>
          </a:p>
        </p:txBody>
      </p:sp>
      <p:sp>
        <p:nvSpPr>
          <p:cNvPr id="22" name="Text 20"/>
          <p:cNvSpPr/>
          <p:nvPr/>
        </p:nvSpPr>
        <p:spPr>
          <a:xfrm>
            <a:off x="4773168" y="2532888"/>
            <a:ext cx="3931920" cy="347472"/>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  Missing data in tumor stage (26%) highlights need for complete data collection in clinical registries</a:t>
            </a:r>
            <a:endParaRPr lang="en-US" sz="1100" dirty="0"/>
          </a:p>
        </p:txBody>
      </p:sp>
      <p:sp>
        <p:nvSpPr>
          <p:cNvPr id="23" name="Text 21"/>
          <p:cNvSpPr/>
          <p:nvPr/>
        </p:nvSpPr>
        <p:spPr>
          <a:xfrm>
            <a:off x="4773168" y="3191256"/>
            <a:ext cx="3931920" cy="347472"/>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  PH assumption violations suggest some risk factors have time-varying effects — motivating extended Cox or stratified models</a:t>
            </a:r>
            <a:endParaRPr lang="en-US" sz="1100" dirty="0"/>
          </a:p>
        </p:txBody>
      </p:sp>
      <p:sp>
        <p:nvSpPr>
          <p:cNvPr id="24" name="Text 22"/>
          <p:cNvSpPr/>
          <p:nvPr/>
        </p:nvSpPr>
        <p:spPr>
          <a:xfrm>
            <a:off x="4773168" y="3849624"/>
            <a:ext cx="3931920" cy="347472"/>
          </a:xfrm>
          <a:prstGeom prst="rect">
            <a:avLst/>
          </a:prstGeom>
          <a:noFill/>
          <a:ln/>
        </p:spPr>
        <p:txBody>
          <a:bodyPr wrap="square" rtlCol="0" anchor="ctr"/>
          <a:lstStyle/>
          <a:p>
            <a:pPr marL="0" indent="0">
              <a:buNone/>
            </a:pPr>
            <a:r>
              <a:rPr lang="en-US" sz="1100" dirty="0">
                <a:solidFill>
                  <a:srgbClr val="1A2E4A"/>
                </a:solidFill>
                <a:latin typeface="Calibri" pitchFamily="34" charset="0"/>
                <a:ea typeface="Calibri" pitchFamily="34" charset="-122"/>
                <a:cs typeface="Calibri" pitchFamily="34" charset="-120"/>
              </a:rPr>
              <a:t>▸  METABRIC results are validated across multiple countries and institutions — findings are generalisable</a:t>
            </a:r>
            <a:endParaRPr lang="en-US" sz="11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A2E4A"/>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B5304B"/>
          </a:solidFill>
          <a:ln w="12700">
            <a:solidFill>
              <a:srgbClr val="B5304B"/>
            </a:solidFill>
            <a:prstDash val="solid"/>
          </a:ln>
        </p:spPr>
      </p:sp>
      <p:sp>
        <p:nvSpPr>
          <p:cNvPr id="3" name="Shape 1"/>
          <p:cNvSpPr/>
          <p:nvPr/>
        </p:nvSpPr>
        <p:spPr>
          <a:xfrm>
            <a:off x="0" y="5079492"/>
            <a:ext cx="9144000" cy="64008"/>
          </a:xfrm>
          <a:prstGeom prst="rect">
            <a:avLst/>
          </a:prstGeom>
          <a:solidFill>
            <a:srgbClr val="1B7A8A"/>
          </a:solidFill>
          <a:ln w="12700">
            <a:solidFill>
              <a:srgbClr val="1B7A8A"/>
            </a:solidFill>
            <a:prstDash val="solid"/>
          </a:ln>
        </p:spPr>
      </p:sp>
      <p:sp>
        <p:nvSpPr>
          <p:cNvPr id="4" name="Shape 2"/>
          <p:cNvSpPr/>
          <p:nvPr/>
        </p:nvSpPr>
        <p:spPr>
          <a:xfrm>
            <a:off x="960120" y="464058"/>
            <a:ext cx="7315200" cy="3200400"/>
          </a:xfrm>
          <a:prstGeom prst="rect">
            <a:avLst/>
          </a:prstGeom>
          <a:solidFill>
            <a:srgbClr val="FFFFFF"/>
          </a:solidFill>
          <a:ln w="12700">
            <a:solidFill>
              <a:srgbClr val="FFFFFF"/>
            </a:solidFill>
            <a:prstDash val="solid"/>
          </a:ln>
          <a:effectLst>
            <a:outerShdw blurRad="50800" dist="25400" dir="8100000" algn="bl" rotWithShape="0">
              <a:srgbClr val="000000">
                <a:alpha val="8000"/>
              </a:srgbClr>
            </a:outerShdw>
          </a:effectLst>
        </p:spPr>
      </p:sp>
      <p:sp>
        <p:nvSpPr>
          <p:cNvPr id="5" name="Shape 3"/>
          <p:cNvSpPr/>
          <p:nvPr/>
        </p:nvSpPr>
        <p:spPr>
          <a:xfrm>
            <a:off x="914400" y="457200"/>
            <a:ext cx="91440" cy="3200400"/>
          </a:xfrm>
          <a:prstGeom prst="rect">
            <a:avLst/>
          </a:prstGeom>
          <a:solidFill>
            <a:srgbClr val="B5304B"/>
          </a:solidFill>
          <a:ln w="12700">
            <a:solidFill>
              <a:srgbClr val="B5304B"/>
            </a:solidFill>
            <a:prstDash val="solid"/>
          </a:ln>
        </p:spPr>
      </p:sp>
      <p:sp>
        <p:nvSpPr>
          <p:cNvPr id="6" name="Text 4"/>
          <p:cNvSpPr/>
          <p:nvPr/>
        </p:nvSpPr>
        <p:spPr>
          <a:xfrm>
            <a:off x="1005840" y="594360"/>
            <a:ext cx="7132320" cy="914400"/>
          </a:xfrm>
          <a:prstGeom prst="rect">
            <a:avLst/>
          </a:prstGeom>
          <a:noFill/>
          <a:ln/>
        </p:spPr>
        <p:txBody>
          <a:bodyPr wrap="square" rtlCol="0" anchor="ctr"/>
          <a:lstStyle/>
          <a:p>
            <a:pPr marL="0" indent="0" algn="ctr">
              <a:buNone/>
            </a:pPr>
            <a:r>
              <a:rPr lang="en-US" sz="4400" b="1" dirty="0">
                <a:solidFill>
                  <a:srgbClr val="1A2E4A"/>
                </a:solidFill>
                <a:latin typeface="Calibri" pitchFamily="34" charset="0"/>
                <a:ea typeface="Calibri" pitchFamily="34" charset="-122"/>
                <a:cs typeface="Calibri" pitchFamily="34" charset="-120"/>
              </a:rPr>
              <a:t>Thank You</a:t>
            </a:r>
            <a:endParaRPr lang="en-US" sz="4400" dirty="0"/>
          </a:p>
        </p:txBody>
      </p:sp>
      <p:sp>
        <p:nvSpPr>
          <p:cNvPr id="7" name="Shape 5"/>
          <p:cNvSpPr/>
          <p:nvPr/>
        </p:nvSpPr>
        <p:spPr>
          <a:xfrm>
            <a:off x="3200400" y="1554480"/>
            <a:ext cx="2743200" cy="45720"/>
          </a:xfrm>
          <a:prstGeom prst="rect">
            <a:avLst/>
          </a:prstGeom>
          <a:solidFill>
            <a:srgbClr val="1B7A8A"/>
          </a:solidFill>
          <a:ln w="12700">
            <a:solidFill>
              <a:srgbClr val="1B7A8A"/>
            </a:solidFill>
            <a:prstDash val="solid"/>
          </a:ln>
        </p:spPr>
      </p:sp>
      <p:sp>
        <p:nvSpPr>
          <p:cNvPr id="9" name="Text 7"/>
          <p:cNvSpPr/>
          <p:nvPr/>
        </p:nvSpPr>
        <p:spPr>
          <a:xfrm>
            <a:off x="1005840" y="1866138"/>
            <a:ext cx="7132320" cy="347472"/>
          </a:xfrm>
          <a:prstGeom prst="rect">
            <a:avLst/>
          </a:prstGeom>
          <a:noFill/>
          <a:ln/>
        </p:spPr>
        <p:txBody>
          <a:bodyPr wrap="square" rtlCol="0" anchor="ctr"/>
          <a:lstStyle/>
          <a:p>
            <a:pPr marL="0" indent="0" algn="ctr">
              <a:buNone/>
            </a:pPr>
            <a:r>
              <a:rPr lang="en-US" sz="1400" dirty="0">
                <a:solidFill>
                  <a:srgbClr val="5A6A7A"/>
                </a:solidFill>
                <a:latin typeface="Calibri" pitchFamily="34" charset="0"/>
                <a:ea typeface="Calibri" pitchFamily="34" charset="-122"/>
                <a:cs typeface="Calibri" pitchFamily="34" charset="-120"/>
              </a:rPr>
              <a:t>Monu Prajapati  |  MSc Applied Statistics</a:t>
            </a:r>
            <a:endParaRPr lang="en-US" sz="1400" dirty="0"/>
          </a:p>
        </p:txBody>
      </p:sp>
      <p:sp>
        <p:nvSpPr>
          <p:cNvPr id="10" name="Text 8"/>
          <p:cNvSpPr/>
          <p:nvPr/>
        </p:nvSpPr>
        <p:spPr>
          <a:xfrm>
            <a:off x="914400" y="2295906"/>
            <a:ext cx="7132320" cy="292608"/>
          </a:xfrm>
          <a:prstGeom prst="rect">
            <a:avLst/>
          </a:prstGeom>
          <a:noFill/>
          <a:ln/>
        </p:spPr>
        <p:txBody>
          <a:bodyPr wrap="square" rtlCol="0" anchor="ctr"/>
          <a:lstStyle/>
          <a:p>
            <a:pPr marL="0" indent="0" algn="ctr">
              <a:buNone/>
            </a:pPr>
            <a:r>
              <a:rPr lang="en-US" sz="1200" i="1" dirty="0">
                <a:solidFill>
                  <a:srgbClr val="5A6A7A"/>
                </a:solidFill>
                <a:latin typeface="Calibri" pitchFamily="34" charset="0"/>
                <a:ea typeface="Calibri" pitchFamily="34" charset="-122"/>
                <a:cs typeface="Calibri" pitchFamily="34" charset="-120"/>
              </a:rPr>
              <a:t>Survival Analysis of Breast Cancer  |  METABRIC Dataset</a:t>
            </a:r>
            <a:endParaRPr lang="en-US" sz="1200" dirty="0"/>
          </a:p>
        </p:txBody>
      </p:sp>
      <p:sp>
        <p:nvSpPr>
          <p:cNvPr id="11" name="Shape 9"/>
          <p:cNvSpPr/>
          <p:nvPr/>
        </p:nvSpPr>
        <p:spPr>
          <a:xfrm>
            <a:off x="228600" y="3762756"/>
            <a:ext cx="8595360" cy="1143000"/>
          </a:xfrm>
          <a:prstGeom prst="rect">
            <a:avLst/>
          </a:prstGeom>
          <a:solidFill>
            <a:srgbClr val="1A2E4A"/>
          </a:solidFill>
          <a:ln w="12700">
            <a:solidFill>
              <a:srgbClr val="1A2E4A"/>
            </a:solidFill>
            <a:prstDash val="solid"/>
          </a:ln>
        </p:spPr>
      </p:sp>
      <p:sp>
        <p:nvSpPr>
          <p:cNvPr id="12" name="Text 10"/>
          <p:cNvSpPr/>
          <p:nvPr/>
        </p:nvSpPr>
        <p:spPr>
          <a:xfrm>
            <a:off x="411480" y="3840480"/>
            <a:ext cx="8412480" cy="274320"/>
          </a:xfrm>
          <a:prstGeom prst="rect">
            <a:avLst/>
          </a:prstGeom>
          <a:noFill/>
          <a:ln/>
        </p:spPr>
        <p:txBody>
          <a:bodyPr wrap="square" rtlCol="0" anchor="ctr"/>
          <a:lstStyle/>
          <a:p>
            <a:pPr marL="0" indent="0">
              <a:buNone/>
            </a:pPr>
            <a:r>
              <a:rPr lang="en-US" sz="1000" b="1" dirty="0">
                <a:solidFill>
                  <a:srgbClr val="D4870A"/>
                </a:solidFill>
                <a:latin typeface="Calibri" pitchFamily="34" charset="0"/>
                <a:ea typeface="Calibri" pitchFamily="34" charset="-122"/>
                <a:cs typeface="Calibri" pitchFamily="34" charset="-120"/>
              </a:rPr>
              <a:t>Quick Reference for Examiners</a:t>
            </a:r>
            <a:endParaRPr lang="en-US" sz="1000" dirty="0"/>
          </a:p>
        </p:txBody>
      </p:sp>
      <p:sp>
        <p:nvSpPr>
          <p:cNvPr id="13" name="Text 11"/>
          <p:cNvSpPr/>
          <p:nvPr/>
        </p:nvSpPr>
        <p:spPr>
          <a:xfrm>
            <a:off x="411480" y="4133088"/>
            <a:ext cx="8321040" cy="201168"/>
          </a:xfrm>
          <a:prstGeom prst="rect">
            <a:avLst/>
          </a:prstGeom>
          <a:noFill/>
          <a:ln/>
        </p:spPr>
        <p:txBody>
          <a:bodyPr wrap="square" rtlCol="0" anchor="ctr"/>
          <a:lstStyle/>
          <a:p>
            <a:pPr marL="0" indent="0">
              <a:buNone/>
            </a:pPr>
            <a:r>
              <a:rPr lang="en-US" sz="900" dirty="0">
                <a:solidFill>
                  <a:srgbClr val="9BBFD4"/>
                </a:solidFill>
                <a:latin typeface="Calibri" pitchFamily="34" charset="0"/>
                <a:ea typeface="Calibri" pitchFamily="34" charset="-122"/>
                <a:cs typeface="Calibri" pitchFamily="34" charset="-120"/>
              </a:rPr>
              <a:t>▸ Hazard Ratio (HR): Ratio of the instantaneous rate of death in one group vs another. HR&gt;1 = higher risk; HR&lt;1 = protective</a:t>
            </a:r>
            <a:endParaRPr lang="en-US" sz="900" dirty="0"/>
          </a:p>
        </p:txBody>
      </p:sp>
      <p:sp>
        <p:nvSpPr>
          <p:cNvPr id="14" name="Text 12"/>
          <p:cNvSpPr/>
          <p:nvPr/>
        </p:nvSpPr>
        <p:spPr>
          <a:xfrm>
            <a:off x="411480" y="4334256"/>
            <a:ext cx="8321040" cy="201168"/>
          </a:xfrm>
          <a:prstGeom prst="rect">
            <a:avLst/>
          </a:prstGeom>
          <a:noFill/>
          <a:ln/>
        </p:spPr>
        <p:txBody>
          <a:bodyPr wrap="square" rtlCol="0" anchor="ctr"/>
          <a:lstStyle/>
          <a:p>
            <a:pPr marL="0" indent="0">
              <a:buNone/>
            </a:pPr>
            <a:r>
              <a:rPr lang="en-US" sz="900" dirty="0">
                <a:solidFill>
                  <a:srgbClr val="9BBFD4"/>
                </a:solidFill>
                <a:latin typeface="Calibri" pitchFamily="34" charset="0"/>
                <a:ea typeface="Calibri" pitchFamily="34" charset="-122"/>
                <a:cs typeface="Calibri" pitchFamily="34" charset="-120"/>
              </a:rPr>
              <a:t>▸ Kaplan–Meier: Non-parametric method to estimate survival probability at each time point, accounting for censored observations</a:t>
            </a:r>
            <a:endParaRPr lang="en-US" sz="900" dirty="0"/>
          </a:p>
        </p:txBody>
      </p:sp>
      <p:sp>
        <p:nvSpPr>
          <p:cNvPr id="15" name="Text 13"/>
          <p:cNvSpPr/>
          <p:nvPr/>
        </p:nvSpPr>
        <p:spPr>
          <a:xfrm>
            <a:off x="411480" y="4535424"/>
            <a:ext cx="8321040" cy="201168"/>
          </a:xfrm>
          <a:prstGeom prst="rect">
            <a:avLst/>
          </a:prstGeom>
          <a:noFill/>
          <a:ln/>
        </p:spPr>
        <p:txBody>
          <a:bodyPr wrap="square" rtlCol="0" anchor="ctr"/>
          <a:lstStyle/>
          <a:p>
            <a:pPr marL="0" indent="0">
              <a:buNone/>
            </a:pPr>
            <a:r>
              <a:rPr lang="en-US" sz="900" dirty="0">
                <a:solidFill>
                  <a:srgbClr val="9BBFD4"/>
                </a:solidFill>
                <a:latin typeface="Calibri" pitchFamily="34" charset="0"/>
                <a:ea typeface="Calibri" pitchFamily="34" charset="-122"/>
                <a:cs typeface="Calibri" pitchFamily="34" charset="-120"/>
              </a:rPr>
              <a:t>▸ Log-Rank Test: Non-parametric test comparing survival curves between groups. P&lt;0.05 = significant difference</a:t>
            </a:r>
            <a:endParaRPr lang="en-US" sz="900" dirty="0"/>
          </a:p>
        </p:txBody>
      </p:sp>
      <p:sp>
        <p:nvSpPr>
          <p:cNvPr id="16" name="Text 14"/>
          <p:cNvSpPr/>
          <p:nvPr/>
        </p:nvSpPr>
        <p:spPr>
          <a:xfrm>
            <a:off x="411480" y="4736592"/>
            <a:ext cx="8321040" cy="201168"/>
          </a:xfrm>
          <a:prstGeom prst="rect">
            <a:avLst/>
          </a:prstGeom>
          <a:noFill/>
          <a:ln/>
        </p:spPr>
        <p:txBody>
          <a:bodyPr wrap="square" rtlCol="0" anchor="ctr"/>
          <a:lstStyle/>
          <a:p>
            <a:pPr marL="0" indent="0">
              <a:buNone/>
            </a:pPr>
            <a:r>
              <a:rPr lang="en-US" sz="900" dirty="0">
                <a:solidFill>
                  <a:srgbClr val="9BBFD4"/>
                </a:solidFill>
                <a:latin typeface="Calibri" pitchFamily="34" charset="0"/>
                <a:ea typeface="Calibri" pitchFamily="34" charset="-122"/>
                <a:cs typeface="Calibri" pitchFamily="34" charset="-120"/>
              </a:rPr>
              <a:t>▸ Concordance (C-statistic): Proportion of patient pairs correctly ranked by predicted risk. 0.5=random; 1.0=perfect</a:t>
            </a:r>
            <a:endParaRPr lang="en-US" sz="9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3900</Words>
  <Application>Microsoft Office PowerPoint</Application>
  <PresentationFormat>On-screen Show (16:9)</PresentationFormat>
  <Paragraphs>419</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Survival Analysis of Breast Cancer - MSc Project</dc:title>
  <dc:subject>PptxGenJS Presentation</dc:subject>
  <dc:creator>PptxGenJS</dc:creator>
  <cp:lastModifiedBy>user</cp:lastModifiedBy>
  <cp:revision>10</cp:revision>
  <dcterms:created xsi:type="dcterms:W3CDTF">2026-02-21T05:22:42Z</dcterms:created>
  <dcterms:modified xsi:type="dcterms:W3CDTF">2026-02-23T06:14:58Z</dcterms:modified>
</cp:coreProperties>
</file>